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56" r:id="rId2"/>
    <p:sldId id="257" r:id="rId3"/>
    <p:sldId id="258" r:id="rId4"/>
    <p:sldId id="259" r:id="rId5"/>
    <p:sldId id="276"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7136" autoAdjust="0"/>
    <p:restoredTop sz="77226" autoAdjust="0"/>
  </p:normalViewPr>
  <p:slideViewPr>
    <p:cSldViewPr snapToGrid="0" snapToObjects="1">
      <p:cViewPr varScale="1">
        <p:scale>
          <a:sx n="87" d="100"/>
          <a:sy n="87" d="100"/>
        </p:scale>
        <p:origin x="76" y="3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English speaker script</a:t>
            </a:r>
          </a:p>
          <a:p>
            <a:r>
              <a:t>Today I present BetterLViT for text-guided infection segmentation in chest X-rays. The two proposed modules are FSDR, which refines semantic and detail features, and RACE, which uses agreement between report information and visual evidence to route corrections. I will explain their positions in LViT, then separate the measured gains from the limits of the ablation evidence.</a:t>
            </a:r>
          </a:p>
          <a:p>
            <a:endParaRPr/>
          </a:p>
          <a:p>
            <a:r>
              <a:t>中文讲稿</a:t>
            </a:r>
          </a:p>
          <a:p>
            <a:r>
              <a:t>本次答辩介绍基于 LViT 的胸片感染分割方法。两项设计分别是负责语义与细节精炼的 FSDR，以及利用报告和视觉一致性进行特征路由的 RACE。接下来先说明结构，再介绍已完成的实验成绩及消融结论。</a:t>
            </a:r>
          </a:p>
          <a:p>
            <a:endParaRPr/>
          </a:p>
          <a:p>
            <a:r>
              <a:t>Sources · 15 September 2026</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English speaker script</a:t>
            </a:r>
          </a:p>
          <a:p>
            <a:r>
              <a:rPr dirty="0"/>
              <a:t>The first contribution is FSDR. It keeps semantic guidance and high-frequency detail separate instead of collapsing CNN and </a:t>
            </a:r>
            <a:r>
              <a:rPr dirty="0" err="1"/>
              <a:t>ViT</a:t>
            </a:r>
            <a:r>
              <a:rPr dirty="0"/>
              <a:t> features before pixel weighting. Three matched fusion settings show positive Test </a:t>
            </a:r>
            <a:r>
              <a:rPr dirty="0" err="1"/>
              <a:t>IoU</a:t>
            </a:r>
            <a:r>
              <a:rPr dirty="0"/>
              <a:t> differences. The second contribution is RACE. It learns report location cues and combines them with anatomy and local image evidence before applying a bounded correction. The complete FSDR plus RACE configuration achieves 76.2485 percent Test </a:t>
            </a:r>
            <a:r>
              <a:rPr dirty="0" err="1"/>
              <a:t>IoU</a:t>
            </a:r>
            <a:r>
              <a:rPr dirty="0"/>
              <a:t>. Its 0.4387 percentage-point gain is measured against the matched FSDR control, not against the original paper score. These two sets of gains use different protocols and must not be added.</a:t>
            </a:r>
          </a:p>
          <a:p>
            <a:endParaRPr dirty="0"/>
          </a:p>
          <a:p>
            <a:r>
              <a:rPr dirty="0" err="1"/>
              <a:t>中文讲稿</a:t>
            </a:r>
            <a:endParaRPr dirty="0"/>
          </a:p>
          <a:p>
            <a:r>
              <a:rPr dirty="0" err="1"/>
              <a:t>第一创新点</a:t>
            </a:r>
            <a:r>
              <a:rPr dirty="0"/>
              <a:t> FSDR </a:t>
            </a:r>
            <a:r>
              <a:rPr dirty="0" err="1"/>
              <a:t>改变跳连融合，让低频语义和高频细节分别处理。三种匹配融合设置都得到正向</a:t>
            </a:r>
            <a:r>
              <a:rPr dirty="0"/>
              <a:t> Test </a:t>
            </a:r>
            <a:r>
              <a:rPr dirty="0" err="1"/>
              <a:t>IoU</a:t>
            </a:r>
            <a:r>
              <a:rPr dirty="0"/>
              <a:t> </a:t>
            </a:r>
            <a:r>
              <a:rPr dirty="0" err="1"/>
              <a:t>差值。第二创新点</a:t>
            </a:r>
            <a:r>
              <a:rPr dirty="0"/>
              <a:t> RACE </a:t>
            </a:r>
            <a:r>
              <a:rPr dirty="0" err="1"/>
              <a:t>将学习到的报告位置提示、解剖区域和局部图像证据结合，再进行有界残差修正。完整</a:t>
            </a:r>
            <a:r>
              <a:rPr dirty="0"/>
              <a:t> FSDR＋RACE </a:t>
            </a:r>
            <a:r>
              <a:rPr dirty="0" err="1"/>
              <a:t>配置的</a:t>
            </a:r>
            <a:r>
              <a:rPr dirty="0"/>
              <a:t> Test </a:t>
            </a:r>
            <a:r>
              <a:rPr dirty="0" err="1"/>
              <a:t>IoU</a:t>
            </a:r>
            <a:r>
              <a:rPr dirty="0"/>
              <a:t> 为 76.2485%，</a:t>
            </a:r>
            <a:r>
              <a:rPr dirty="0" err="1"/>
              <a:t>比同配方</a:t>
            </a:r>
            <a:r>
              <a:rPr dirty="0"/>
              <a:t> FSDR </a:t>
            </a:r>
            <a:r>
              <a:rPr dirty="0" err="1"/>
              <a:t>对照高</a:t>
            </a:r>
            <a:r>
              <a:rPr dirty="0"/>
              <a:t> 0.4387 </a:t>
            </a:r>
            <a:r>
              <a:rPr dirty="0" err="1"/>
              <a:t>个百分点。FSDR</a:t>
            </a:r>
            <a:r>
              <a:rPr dirty="0"/>
              <a:t> </a:t>
            </a:r>
            <a:r>
              <a:rPr dirty="0" err="1"/>
              <a:t>消融与</a:t>
            </a:r>
            <a:r>
              <a:rPr dirty="0"/>
              <a:t> RACE </a:t>
            </a:r>
            <a:r>
              <a:rPr dirty="0" err="1"/>
              <a:t>对照采用不同协议，不能将两类增益直接相加</a:t>
            </a:r>
            <a:r>
              <a:rPr dirty="0"/>
              <a:t>。</a:t>
            </a:r>
          </a:p>
          <a:p>
            <a:endParaRPr dirty="0"/>
          </a:p>
          <a:p>
            <a:r>
              <a:rPr dirty="0"/>
              <a:t>Sources · 15 September 2026</a:t>
            </a:r>
          </a:p>
          <a:p>
            <a:r>
              <a:rPr dirty="0"/>
              <a:t>D:/BetterLViT/experiment_docs_work/docs/EXPERIMENT_TRACKER.md</a:t>
            </a:r>
          </a:p>
          <a:p>
            <a:r>
              <a:rPr dirty="0"/>
              <a:t>D:/BetterLViT/experiment_docs_work/nets/eppa.py</a:t>
            </a:r>
          </a:p>
          <a:p>
            <a:r>
              <a:rPr dirty="0"/>
              <a:t>D:/BetterLViT/outputs/p8_binding_aux_20260915/FINAL_RESULTS.json</a:t>
            </a:r>
          </a:p>
          <a:p>
            <a:r>
              <a:rPr dirty="0"/>
              <a:t>D:/BetterLViT/outputs/p8_research_20260914/test_20260915/TEST_RESULTS.json</a:t>
            </a:r>
          </a:p>
          <a:p>
            <a:r>
              <a:rPr dirty="0"/>
              <a:t>D:/BetterLViT/outputs/p8_research_20260914/FINAL_PAIR_REPORT.md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English speaker script</a:t>
            </a:r>
          </a:p>
          <a:p>
            <a:r>
              <a:t>The backbone retains the CNN encoder and the text-aware down and up Transformer branch of LViT. ViT features are reconstructed as spatial guides. RACE acts on the four raw CNN skips after the encoder has produced them; it does not replace the ViT path or the CNN bottleneck. FSDR then receives the routed CNN feature, the reconstructed guide, the upsampled decoder feature and text. The diagram summarizes repeated decoder stages: after concatenation and convolutions, a decoder feature supplies the next finer stage, and the final head produces the segmentation.</a:t>
            </a:r>
          </a:p>
          <a:p>
            <a:endParaRPr/>
          </a:p>
          <a:p>
            <a:r>
              <a:t>中文讲稿</a:t>
            </a:r>
          </a:p>
          <a:p>
            <a:r>
              <a:t>骨架保留 LViT 的 CNN 编码器和文本感知的下行、上行 Transformer 分支。RACE 在四层原始 CNN skip 上进行路由，ViT 引导路径和 CNN 瓶颈保持原有计算。随后 FSDR 接收路由后的 CNN 特征、ViT 重建引导、已上采样 decoder 和文本。图中合并展示重复的解码阶段，最终由输出头产生分割结果。</a:t>
            </a:r>
          </a:p>
          <a:p>
            <a:endParaRPr/>
          </a:p>
          <a:p>
            <a:r>
              <a:t>Sources · 15 September 2026</a:t>
            </a:r>
          </a:p>
          <a:p>
            <a:r>
              <a:t>D:/BetterLViT/p8_r2_binding_work/nets/race_fuse.py</a:t>
            </a:r>
          </a:p>
          <a:p>
            <a:r>
              <a:t>D:/BetterLViT/p8_r2_binding_work/nets/LViT.py</a:t>
            </a:r>
          </a:p>
          <a:p>
            <a:r>
              <a:t>D:/BetterLViT/p8_r2_binding_work/race_semantics.py</a:t>
            </a:r>
          </a:p>
          <a:p>
            <a:r>
              <a:t>D:/BetterLViT/experiment_docs_work/docs/EXPERIMENT_TRACKER.md</a:t>
            </a:r>
          </a:p>
          <a:p>
            <a:r>
              <a:t>D:/BetterLViT/experiment_docs_work/nets/eppa.py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English speaker script</a:t>
            </a:r>
          </a:p>
          <a:p>
            <a:r>
              <a:t>Original LViT first adds the CNN skip and reconstructed ViT guide, then applies PLAM pixel weighting. The decoder feature is concatenated afterwards. FSDR instead receives CNN, ViT, decoder and text separately. The decoder therefore participates in refinement, while the CNN feature retains an identity residual path. This is an architectural comparison with the original design. The numerical comparisons use local controls with matched settings and do not reproduce every setting of the original LViT publication.</a:t>
            </a:r>
          </a:p>
          <a:p>
            <a:endParaRPr/>
          </a:p>
          <a:p>
            <a:r>
              <a:t>中文讲稿</a:t>
            </a:r>
          </a:p>
          <a:p>
            <a:r>
              <a:t>原版 LViT 将 CNN skip 与 ViT 重建引导先相加，再由 PLAM 进行像素权重调制，decoder 此后才参与拼接。FSDR 分别接收四类输入，让 decoder 参与精炼，同时保留 CNN 直通残差。本页比较原始结构；成绩采用本项目匹配设置，不能当作完整复现原论文协议。</a:t>
            </a:r>
          </a:p>
          <a:p>
            <a:endParaRPr/>
          </a:p>
          <a:p>
            <a:r>
              <a:t>Sources · 15 September 2026</a:t>
            </a:r>
          </a:p>
          <a:p>
            <a:r>
              <a:t>D:/BetterLViT/experiment_docs_work/docs/EXPERIMENT_TRACKER.md</a:t>
            </a:r>
          </a:p>
          <a:p>
            <a:r>
              <a:t>D:/BetterLViT/experiment_docs_work/nets/eppa.py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English speaker script</a:t>
            </a:r>
          </a:p>
          <a:p>
            <a:r>
              <a:t>Haar reconstruction separates low-frequency content from high-frequency detail at the original skip resolution. Low-frequency CNN, ViT and decoder features combine with text to generate channel and region corrections. High-frequency CNN detail is preserved and refined using the semantic support map. At the 28 and 56 pixel scales, adaptive low-pass and high-pass residual operations also refine the decoder and skip. The output adds these corrections to the direct CNN feature. The ablation results measure the whole FSDR module, rather than attributing a measured IoU gain to each branch.</a:t>
            </a:r>
          </a:p>
          <a:p>
            <a:endParaRPr/>
          </a:p>
          <a:p>
            <a:r>
              <a:t>中文讲稿</a:t>
            </a:r>
          </a:p>
          <a:p>
            <a:r>
              <a:t>Haar 分解重建在 skip 分辨率上分离低频内容和高频细节。低频 CNN、ViT、decoder 与文本共同产生通道及区域修正；高频 CNN 细节结合语义支持图进行精炼。在 28 和 56 两个尺度，还启用自适应滤波修正。输出保留 CNN 直通路径并加入各残差。后续实验测量完整 FSDR 模块，不将总增益分配给未经独立消融的分支。</a:t>
            </a:r>
          </a:p>
          <a:p>
            <a:endParaRPr/>
          </a:p>
          <a:p>
            <a:r>
              <a:t>Sources · 15 September 2026</a:t>
            </a:r>
          </a:p>
          <a:p>
            <a:r>
              <a:t>D:/BetterLViT/experiment_docs_work/docs/EXPERIMENT_TRACKER.md</a:t>
            </a:r>
          </a:p>
          <a:p>
            <a:r>
              <a:t>D:/BetterLViT/experiment_docs_work/nets/eppa.py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English speaker script</a:t>
            </a:r>
          </a:p>
          <a:p>
            <a:r>
              <a:t>Each row compares PLAM and FSDR while keeping the listed text setting, loss, training budget and seed fixed. The Test IoU gains are 1.462, 1.278 and 0.981 percentage points. The frozen-text pair retains the same cross-scale router in both arms, so it is evidence without LoRA but not a comparison with every extra component removed. These are three settings at one seed each, not a three-seed replication. A separate three-seed training-schedule study is in the backup slides and is not counted as another architectural contribution.</a:t>
            </a:r>
          </a:p>
          <a:p>
            <a:endParaRPr/>
          </a:p>
          <a:p>
            <a:r>
              <a:t>中文讲稿</a:t>
            </a:r>
          </a:p>
          <a:p>
            <a:r>
              <a:t>每行仅改变 PLAM 与 FSDR 融合，固定相应文本设置、损失、训练预算和种子。三项 Test IoU 增益分别为 1.462、1.278、0.981 个百分点。冻结文本对照保留相同跨尺度路由，属于无 LoRA 的融合证据。这是三种单种子设置，不是三种子复验。独立的三种子学习率配方研究放在备用页，不能算第二项结构创新。</a:t>
            </a:r>
          </a:p>
          <a:p>
            <a:endParaRPr/>
          </a:p>
          <a:p>
            <a:r>
              <a:t>Sources · 15 September 2026</a:t>
            </a:r>
          </a:p>
          <a:p>
            <a:r>
              <a:t>D:/BetterLViT/experiment_docs_work/docs/EXPERIMENT_TRACKER.md</a:t>
            </a:r>
          </a:p>
          <a:p>
            <a:r>
              <a:t>D:/BetterLViT/experiment_docs_work/nets/eppa.py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English speaker script</a:t>
            </a:r>
          </a:p>
          <a:p>
            <a:r>
              <a:rPr dirty="0"/>
              <a:t>RACE learns six location slots and three count slots from frozen CXR-BERT features. Location probabilities are projected through a six-zone anatomical basis to form the spatial prior. Each CNN skip independently predicts visual evidence. Agreement compares report location probabilities with region-averaged visual evidence; the gate multiplies the report prior, local evidence and agreement. A bounded, signed residual correction produces the skip supplied to FSDR. Strength starts at zero and is bounded by 0.15. The auxiliary objective includes location and count learning, visual region supervision and positive report consistency. Unmentioned regions are unknown. The deterministic parser only supplies training targets; inference uses learned slots.</a:t>
            </a:r>
          </a:p>
          <a:p>
            <a:endParaRPr dirty="0"/>
          </a:p>
          <a:p>
            <a:r>
              <a:rPr dirty="0" err="1"/>
              <a:t>中文讲稿</a:t>
            </a:r>
            <a:endParaRPr dirty="0"/>
          </a:p>
          <a:p>
            <a:r>
              <a:rPr dirty="0"/>
              <a:t>RACE </a:t>
            </a:r>
            <a:r>
              <a:rPr dirty="0" err="1"/>
              <a:t>从冻结文本特征中学习六个位置槽和三个数量槽，将位置概率映射到随图像增强对齐的六区解剖基底。每层</a:t>
            </a:r>
            <a:r>
              <a:rPr dirty="0"/>
              <a:t> CNN skip </a:t>
            </a:r>
            <a:r>
              <a:rPr dirty="0" err="1"/>
              <a:t>独立预测视觉证据，再计算报告位置与区域视觉证据的一致性。三者相乘形成门控，以幅度不超过</a:t>
            </a:r>
            <a:r>
              <a:rPr dirty="0"/>
              <a:t> 0.15 </a:t>
            </a:r>
            <a:r>
              <a:rPr dirty="0" err="1"/>
              <a:t>的有符号残差修正输入</a:t>
            </a:r>
            <a:r>
              <a:rPr dirty="0"/>
              <a:t> FSDR </a:t>
            </a:r>
            <a:r>
              <a:rPr dirty="0" err="1"/>
              <a:t>的特征，初始修正为零。训练辅助目标包括位置数量、视觉区域及正向报告一致性，权重为</a:t>
            </a:r>
            <a:r>
              <a:rPr dirty="0"/>
              <a:t> 0.05；未提及区域视为未知。规则解析器只提供训练目标，推理使用学习得到的槽。</a:t>
            </a:r>
          </a:p>
          <a:p>
            <a:endParaRPr dirty="0"/>
          </a:p>
          <a:p>
            <a:r>
              <a:rPr dirty="0"/>
              <a:t>Evidence details</a:t>
            </a:r>
          </a:p>
          <a:p>
            <a:r>
              <a:rPr dirty="0"/>
              <a:t>Source c6e52a9b13576cab9e2451c550d03ad274bc09e2. The sign of the learned residual strength can be negative; positive-only refers to report-consistency supervision, not the residual sign. Count slots are auxiliary and do not directly form the spatial prior.</a:t>
            </a:r>
          </a:p>
          <a:p>
            <a:endParaRPr dirty="0"/>
          </a:p>
          <a:p>
            <a:r>
              <a:rPr dirty="0"/>
              <a:t>Sources · 15 September 2026</a:t>
            </a:r>
          </a:p>
          <a:p>
            <a:r>
              <a:rPr dirty="0"/>
              <a:t>D:/BetterLViT/p8_r2_binding_work/nets/race_fuse.py</a:t>
            </a:r>
          </a:p>
          <a:p>
            <a:r>
              <a:rPr dirty="0"/>
              <a:t>D:/BetterLViT/p8_r2_binding_work/nets/LViT.py</a:t>
            </a:r>
          </a:p>
          <a:p>
            <a:r>
              <a:rPr dirty="0"/>
              <a:t>D:/BetterLViT/p8_r2_binding_work/race_semantics.py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English speaker script</a:t>
            </a:r>
          </a:p>
          <a:p>
            <a:r>
              <a:t>This table includes the historical frozen-text PLAM reference and all six configurations requested. The PLAM reference achieves 74.8076 percent Test IoU with Dice/BCE and 150 epochs using cosine warm restarts. The three FSDR runs use Dice/Focal, 80 epochs and a single cosine schedule, reaching 75.8098, 76.0859 and 76.0544 percent for seeds 1219, 2027 and 3407. At seed 1219, auxiliary supervision with routing off gives 76.0013 percent, and the complete RACE configuration gives 76.2485 percent. All configurations freeze CXR-BERT and use no LoRA. The rightmost column is the supplied historical-reference difference in percentage points. These differences mix architecture, loss, training budget, learning-rate schedule and, for two rows, seed. They are not matched module ablations. For the incremental RACE effect, compare the complete configuration against its same-recipe, same-seed FSDR control: plus 0.4387 percentage points. The next slide separates auxiliary and routing effects.</a:t>
            </a:r>
          </a:p>
          <a:p>
            <a:endParaRPr/>
          </a:p>
          <a:p>
            <a:r>
              <a:t>中文讲稿</a:t>
            </a:r>
          </a:p>
          <a:p>
            <a:r>
              <a:t>本表保留用户提供的全部六组配置。历史冻结文本 PLAM 对照采用 Dice/BCE、150 轮和余弦热重启，Test IoU 为 74.8076%。三组无 RACE 的 FSDR 采用 Dice/Focal、80 轮和单周期余弦，三个种子分别为 75.8098%、76.0859%、76.0544%。种子 1219 下，关闭路由而启用绑定修复辅助监督为 76.0013%，开启路由与辅助监督的完整配置为 76.2485%。所有行均冻结 CXR-BERT、不使用 LoRA。右栏按用户提供表格记录相对历史 PLAM 的百分点差值，反映多项配置共同变化，不代表匹配的单模块增益。RACE 增量应与同配方同种子的 FSDR 对照相比，即 +0.4387 个百分点；下一页进一步区分辅助监督和路由。</a:t>
            </a:r>
          </a:p>
          <a:p>
            <a:endParaRPr/>
          </a:p>
          <a:p>
            <a:r>
              <a:t>Sources</a:t>
            </a:r>
          </a:p>
          <a:p>
            <a:r>
              <a:t>User-supplied table image: C:/Users/dtftn/AppData/Local/Temp/codex-clipboard-e879e9aa-560c-4252-9893-44d483c49f32.png</a:t>
            </a:r>
          </a:p>
          <a:p>
            <a:r>
              <a:t>D:/BetterLViT/experiment_docs_work/docs/EXPERIMENT_TRACKER.md</a:t>
            </a:r>
          </a:p>
          <a:p>
            <a:r>
              <a:t>D:/BetterLViT/experiment_docs_work/repro_archive/20260910/recipe_test/results/README.md</a:t>
            </a:r>
          </a:p>
          <a:p>
            <a:r>
              <a:t>D:/BetterLViT/outputs/p8_binding_aux_20260915/FINAL_RESULTS.json</a:t>
            </a:r>
          </a:p>
          <a:p>
            <a:r>
              <a:t>All six values and supplied differences are transcribed from the user table. The displayed IoUs and supplied differences can differ by 0.0001 pp when subtracting rounded displayed values; no additional precision is asserted for the historical reference.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English speaker script</a:t>
            </a:r>
          </a:p>
          <a:p>
            <a:r>
              <a:rPr dirty="0"/>
              <a:t>The completed auxiliary-only control helps separate the two changes. Adding auxiliary objectives produces a Test </a:t>
            </a:r>
            <a:r>
              <a:rPr dirty="0" err="1"/>
              <a:t>IoU</a:t>
            </a:r>
            <a:r>
              <a:rPr dirty="0"/>
              <a:t> point estimate of plus 0.1915 percentage points. Enabling routing with those objectives held fixed adds 0.2472 points. Both image-paired confidence intervals cross zero. The complete configuration improves by 0.4387 points, with an interval from 0.1405 to 0.7276 points. This supports improvement of the full configuration on this split and seed. It does not establish that the route alone has a reliable positive effect, and the additive arithmetic is not a proof of independent causal contributions.</a:t>
            </a:r>
          </a:p>
          <a:p>
            <a:endParaRPr dirty="0"/>
          </a:p>
          <a:p>
            <a:r>
              <a:rPr dirty="0" err="1"/>
              <a:t>中文讲稿</a:t>
            </a:r>
            <a:endParaRPr dirty="0"/>
          </a:p>
          <a:p>
            <a:r>
              <a:rPr dirty="0" err="1"/>
              <a:t>已经完成的仅辅助监督对照将两项变化分开：辅助目标的</a:t>
            </a:r>
            <a:r>
              <a:rPr dirty="0"/>
              <a:t> Test </a:t>
            </a:r>
            <a:r>
              <a:rPr dirty="0" err="1"/>
              <a:t>IoU</a:t>
            </a:r>
            <a:r>
              <a:rPr dirty="0"/>
              <a:t> </a:t>
            </a:r>
            <a:r>
              <a:rPr dirty="0" err="1"/>
              <a:t>点估计为</a:t>
            </a:r>
            <a:r>
              <a:rPr dirty="0"/>
              <a:t> +0.1915 </a:t>
            </a:r>
            <a:r>
              <a:rPr dirty="0" err="1"/>
              <a:t>个百分点，固定辅助目标再开启路由为</a:t>
            </a:r>
            <a:r>
              <a:rPr dirty="0"/>
              <a:t> +0.2472 </a:t>
            </a:r>
            <a:r>
              <a:rPr dirty="0" err="1"/>
              <a:t>个百分点。两者图像配对区间均跨零。完整配置的增益为</a:t>
            </a:r>
            <a:r>
              <a:rPr dirty="0"/>
              <a:t> +0.4387 </a:t>
            </a:r>
            <a:r>
              <a:rPr dirty="0" err="1"/>
              <a:t>个百分点，区间为</a:t>
            </a:r>
            <a:r>
              <a:rPr dirty="0"/>
              <a:t> [+0.1405,+0.7276]。</a:t>
            </a:r>
            <a:r>
              <a:rPr dirty="0" err="1"/>
              <a:t>因此支持该划分和种子上的完整配置改善，但路由独立贡献的证据还不充分，不能把全部提升归因于路由</a:t>
            </a:r>
            <a:r>
              <a:rPr dirty="0"/>
              <a:t>。</a:t>
            </a:r>
          </a:p>
          <a:p>
            <a:endParaRPr dirty="0"/>
          </a:p>
          <a:p>
            <a:r>
              <a:rPr dirty="0"/>
              <a:t>Evidence details</a:t>
            </a:r>
          </a:p>
          <a:p>
            <a:r>
              <a:rPr dirty="0"/>
              <a:t>10,000 paired-image bootstrap resamples; RNG seed 20260914. These are not patient-cluster or across-training-seed intervals.</a:t>
            </a:r>
          </a:p>
          <a:p>
            <a:endParaRPr dirty="0"/>
          </a:p>
          <a:p>
            <a:r>
              <a:rPr dirty="0"/>
              <a:t>Sources · 15 September 2026</a:t>
            </a:r>
          </a:p>
          <a:p>
            <a:r>
              <a:rPr dirty="0"/>
              <a:t>D:/BetterLViT/outputs/p8_binding_aux_20260915/FINAL_RESULTS.json</a:t>
            </a:r>
          </a:p>
          <a:p>
            <a:r>
              <a:rPr dirty="0"/>
              <a:t>D:/BetterLViT/outputs/p8_research_20260914/test_20260915/TEST_RESULTS.json</a:t>
            </a:r>
          </a:p>
          <a:p>
            <a:r>
              <a:rPr dirty="0"/>
              <a:t>D:/BetterLViT/outputs/p8_research_20260914/FINAL_PAIR_REPORT.md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English speaker script</a:t>
            </a:r>
          </a:p>
          <a:p>
            <a:r>
              <a:t>Validation and Test support different strengths of conclusion. The full RACE model improves validation IoU by 0.1462 percentage points, with an interval crossing zero, and does not meet the predeclared discovery criterion of at least 0.30 points plus a positive interval lower bound. Test shows a larger positive difference. We retain both observations. All results here use one training seed. The bootstrap resamples images rather than patients and cannot measure training-seed stability. The Test split has historical access. The reported checkpoints were selected on validation and the threshold remained 0.5, without choosing a new checkpoint or threshold from these Test outcomes.</a:t>
            </a:r>
          </a:p>
          <a:p>
            <a:endParaRPr/>
          </a:p>
          <a:p>
            <a:r>
              <a:t>中文讲稿</a:t>
            </a:r>
          </a:p>
          <a:p>
            <a:r>
              <a:t>验证集和测试集支持的结论强度不同。完整 RACE 的 Val IoU 提高 0.1462 个百分点，区间跨零，未达到事前规定的至少 +0.30 个百分点且区间下界为正的筛选条件；Test 差值更大且为正，两项结果同时保留。这里只含一个训练种子，图像级 bootstrap 不能代表患者级或训练种子稳定性。Test 有历史访问，本次未据此回改阈值或选模。</a:t>
            </a:r>
          </a:p>
          <a:p>
            <a:endParaRPr/>
          </a:p>
          <a:p>
            <a:r>
              <a:t>Sources · 15 September 2026</a:t>
            </a:r>
          </a:p>
          <a:p>
            <a:r>
              <a:t>D:/BetterLViT/outputs/p8_binding_aux_20260915/FINAL_RESULTS.json</a:t>
            </a:r>
          </a:p>
          <a:p>
            <a:r>
              <a:t>D:/BetterLViT/outputs/p8_research_20260914/test_20260915/TEST_RESULTS.json</a:t>
            </a:r>
          </a:p>
          <a:p>
            <a:r>
              <a:t>D:/BetterLViT/outputs/p8_research_20260914/FINAL_PAIR_REPORT.md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English speaker script</a:t>
            </a:r>
          </a:p>
          <a:p>
            <a:r>
              <a:t>The two contributions address complementary parts of LViT feature fusion. FSDR separates semantic content and detail while preserving a direct CNN path. RACE uses report and anatomical consistency with visual evidence to route skip corrections before FSDR. The completed combined configuration achieves 76.2485 percent Test IoU and 84.7097 percent Dice. The full-configuration gain is supported on the evaluated split and seed; route-specific and broader generalization claims require stronger controls, paired seeds and independent data.</a:t>
            </a:r>
          </a:p>
          <a:p>
            <a:endParaRPr/>
          </a:p>
          <a:p>
            <a:r>
              <a:t>中文讲稿</a:t>
            </a:r>
          </a:p>
          <a:p>
            <a:r>
              <a:t>FSDR 通过分离语义与细节并保留 CNN 直通路径改进融合；RACE 利用报告、解剖和视觉证据的一致性，在 FSDR 前进行跳连路由。完整组合取得 76.2485% Test IoU 和 84.7097% Dice。现有证据支持所评估划分及种子上的完整配置增益；进一步的路由独立归因与泛化需要配对种子、专门对照和独立数据。</a:t>
            </a:r>
          </a:p>
          <a:p>
            <a:endParaRPr/>
          </a:p>
          <a:p>
            <a:r>
              <a:t>Sources · 15 September 2026</a:t>
            </a:r>
          </a:p>
          <a:p>
            <a:r>
              <a:t>D:/BetterLViT/experiment_docs_work/docs/EXPERIMENT_TRACKER.md</a:t>
            </a:r>
          </a:p>
          <a:p>
            <a:r>
              <a:t>D:/BetterLViT/experiment_docs_work/nets/eppa.py</a:t>
            </a:r>
          </a:p>
          <a:p>
            <a:r>
              <a:t>D:/BetterLViT/outputs/p8_binding_aux_20260915/FINAL_RESULTS.json</a:t>
            </a:r>
          </a:p>
          <a:p>
            <a:r>
              <a:t>D:/BetterLViT/outputs/p8_research_20260914/test_20260915/TEST_RESULTS.json</a:t>
            </a:r>
          </a:p>
          <a:p>
            <a:r>
              <a:t>D:/BetterLViT/outputs/p8_research_20260914/FINAL_PAIR_REPORT.md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English speaker script</a:t>
            </a:r>
          </a:p>
          <a:p>
            <a:r>
              <a:t>Thank you. I welcome questions about the two modules, the matched ablations and the interpretation of the completed results.</a:t>
            </a:r>
          </a:p>
          <a:p>
            <a:endParaRPr/>
          </a:p>
          <a:p>
            <a:r>
              <a:t>中文讲稿</a:t>
            </a:r>
          </a:p>
          <a:p>
            <a:r>
              <a:t>谢谢。欢迎就两个模块、匹配消融及最终结果的解释提问。</a:t>
            </a:r>
          </a:p>
          <a:p>
            <a:endParaRPr/>
          </a:p>
          <a:p>
            <a:r>
              <a:t>Sources · 15 September 2026</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English speaker script</a:t>
            </a:r>
          </a:p>
          <a:p>
            <a:r>
              <a:t>The backup slides contain detailed fusion results, the FSDR formulation, the separate learning-rate study, fixed-model RACE diagnostics, evaluation protocol and report-target binding comparisons.</a:t>
            </a:r>
          </a:p>
          <a:p>
            <a:endParaRPr/>
          </a:p>
          <a:p>
            <a:r>
              <a:t>中文讲稿</a:t>
            </a:r>
          </a:p>
          <a:p>
            <a:r>
              <a:t>备用页提供详细融合成绩、FSDR 公式、独立学习率实验、RACE 固定模型诊断、评估协议及报告目标绑定对照。</a:t>
            </a:r>
          </a:p>
          <a:p>
            <a:endParaRPr/>
          </a:p>
          <a:p>
            <a:r>
              <a:t>Sources · 15 September 2026</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English speaker script</a:t>
            </a:r>
          </a:p>
          <a:p>
            <a:r>
              <a:t>These selected formal fusion experiments use 150 epochs and seed 1219. To attribute FSDR, compare rows with the same text setting, loss and other components. Differences across losses or training recipes do not isolate the module effect.</a:t>
            </a:r>
          </a:p>
          <a:p>
            <a:endParaRPr/>
          </a:p>
          <a:p>
            <a:r>
              <a:t>中文讲稿</a:t>
            </a:r>
          </a:p>
          <a:p>
            <a:r>
              <a:t>本表为 150 轮、种子 1219 的正式融合实验。归因 FSDR 时仅比较文本、损失和其他组件相同的行；跨损失或配方的差值不能单独归因模块。</a:t>
            </a:r>
          </a:p>
          <a:p>
            <a:endParaRPr/>
          </a:p>
          <a:p>
            <a:r>
              <a:t>Sources · 15 September 2026</a:t>
            </a:r>
          </a:p>
          <a:p>
            <a:r>
              <a:t>D:/BetterLViT/experiment_docs_work/docs/EXPERIMENT_TRACKER.md</a:t>
            </a:r>
          </a:p>
          <a:p>
            <a:r>
              <a:t>D:/BetterLViT/experiment_docs_work/nets/eppa.py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English speaker script</a:t>
            </a:r>
          </a:p>
          <a:p>
            <a:r>
              <a:t>The equation describes the implemented FSDR residual computation. The direct CNN term is retained. Low-frequency ViT guidance, channel, region and detail residuals are added with controlled strengths. Adaptive filtering is enabled at the two coarse scales. The equation does not assign separate measured performance gains to its terms.</a:t>
            </a:r>
          </a:p>
          <a:p>
            <a:endParaRPr/>
          </a:p>
          <a:p>
            <a:r>
              <a:t>中文讲稿</a:t>
            </a:r>
          </a:p>
          <a:p>
            <a:r>
              <a:t>公式对应实际 FSDR 运算，保留 CNN 直通项，并加入受控强度的 ViT 低频、通道、区域及细节残差。自适应滤波只在两个粗尺度启用。公式项不代表分别测得的性能贡献。</a:t>
            </a:r>
          </a:p>
          <a:p>
            <a:endParaRPr/>
          </a:p>
          <a:p>
            <a:r>
              <a:t>Sources · 15 September 2026</a:t>
            </a:r>
          </a:p>
          <a:p>
            <a:r>
              <a:t>D:/BetterLViT/experiment_docs_work/docs/EXPERIMENT_TRACKER.md</a:t>
            </a:r>
          </a:p>
          <a:p>
            <a:r>
              <a:t>D:/BetterLViT/experiment_docs_work/nets/eppa.py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English speaker script</a:t>
            </a:r>
          </a:p>
          <a:p>
            <a:r>
              <a:t>The separate learning-rate recipe comparison keeps FSDR fixed. Across the three registered seeds, the mean Test IoU gain is 0.5762 percentage points, and each point estimate is positive. The resulting mean IoU is 75.9833 percent. This complete schedule change is a training improvement, not the second architectural contribution. The RACE comparison uses its seed-1219 control at 75.8098 percent, not the three-seed mean.</a:t>
            </a:r>
          </a:p>
          <a:p>
            <a:endParaRPr/>
          </a:p>
          <a:p>
            <a:r>
              <a:t>中文讲稿</a:t>
            </a:r>
          </a:p>
          <a:p>
            <a:r>
              <a:t>独立学习率配方对照固定 FSDR，三个预先规定种子的 Test IoU 差值均为正，平均 +0.5762 个百分点，最终均值 75.9833%。这是训练配方改进，不算第二结构创新。RACE 使用种子 1219 的 75.8098% 作对照，不能拿三种子均值当基线。</a:t>
            </a:r>
          </a:p>
          <a:p>
            <a:endParaRPr/>
          </a:p>
          <a:p>
            <a:r>
              <a:t>Sources · 15 September 2026</a:t>
            </a:r>
          </a:p>
          <a:p>
            <a:r>
              <a:t>D:/BetterLViT/experiment_docs_work/repro_archive/20260910/recipe_test/results/README.md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English speaker script</a:t>
            </a:r>
          </a:p>
          <a:p>
            <a:r>
              <a:t>These interventions use an earlier fixed RACE checkpoint, not the current model used in the main Test table. Disabling routes or replacing the report slots reduces its validation IoU. This indicates that this trained checkpoint depends on the additional RACE path and its report slots. It does not show how a model trained from scratch without that path would perform. The main LViT text input remains correct in all conditions, so slot shuffling is not equivalent to shuffling every text input.</a:t>
            </a:r>
          </a:p>
          <a:p>
            <a:endParaRPr/>
          </a:p>
          <a:p>
            <a:r>
              <a:t>中文讲稿</a:t>
            </a:r>
          </a:p>
          <a:p>
            <a:r>
              <a:t>这组干预针对较早的固定 RACE 检查点，不是正文 Test 表中的当前模型。关闭路由或替换报告槽后 Val IoU 降低，说明该已训练模型依赖 RACE 路径和报告槽；它不能回答从头训练一个无路由模型会如何。所有条件都保持主 LViT 文本路径正确，不是将整个模型文本一起打乱。</a:t>
            </a:r>
          </a:p>
          <a:p>
            <a:endParaRPr/>
          </a:p>
          <a:p>
            <a:r>
              <a:t>Sources · 15 September 2026</a:t>
            </a:r>
          </a:p>
          <a:p>
            <a:r>
              <a:t>D:/BetterLViT/outputs/p8_research_20260914/RESULTS.json</a:t>
            </a:r>
          </a:p>
          <a:p>
            <a:r>
              <a:t>D:/BetterLViT/outputs/p8_research_20260914/diagnostic_summary.json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English speaker script</a:t>
            </a:r>
          </a:p>
          <a:p>
            <a:r>
              <a:t>The fixed split has 5716 training images, 1429 validation images and 2113 Test images. Headline results use per-image macro IoU and Dice at threshold 0.5. Current 80-epoch experiments select the checkpoint on validation macro IoU. Historical Test access is disclosed.</a:t>
            </a:r>
          </a:p>
          <a:p>
            <a:endParaRPr/>
          </a:p>
          <a:p>
            <a:r>
              <a:t>中文讲稿</a:t>
            </a:r>
          </a:p>
          <a:p>
            <a:r>
              <a:t>固定划分为训练 5716 张、验证 1429 张、Test 2113 张。正文使用阈值 0.5 的逐图 macro IoU 和 Dice，当前 80 轮实验按 Val macro IoU 选模，并披露 Test 的历史访问。</a:t>
            </a:r>
          </a:p>
          <a:p>
            <a:endParaRPr/>
          </a:p>
          <a:p>
            <a:r>
              <a:t>Sources · 15 September 2026</a:t>
            </a:r>
          </a:p>
          <a:p>
            <a:r>
              <a:t>D:/BetterLViT/outputs/p8_binding_aux_20260915/FINAL_RESULTS.json</a:t>
            </a:r>
          </a:p>
          <a:p>
            <a:r>
              <a:t>D:/BetterLViT/outputs/p8_research_20260914/test_20260915/TEST_RESULTS.json</a:t>
            </a:r>
          </a:p>
          <a:p>
            <a:r>
              <a:t>D:/BetterLViT/outputs/p8_research_20260914/FINAL_PAIR_REPORT.md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English speaker script</a:t>
            </a:r>
          </a:p>
          <a:p>
            <a:r>
              <a:t>Each table maps to frozen training sources, selected checkpoints and result files. Internal experiment identifiers remain in these records, while the visible presentation uses descriptive model names. The RACE auxiliary-only control has completed training, validation and Test. It is no longer described as an ongoing experiment.</a:t>
            </a:r>
          </a:p>
          <a:p>
            <a:endParaRPr/>
          </a:p>
          <a:p>
            <a:r>
              <a:t>中文讲稿</a:t>
            </a:r>
          </a:p>
          <a:p>
            <a:r>
              <a:t>每张成绩表均对应冻结训练源码、选定检查点及结果文件。精确实验标识保留在记录中，页面使用描述性模型名称。RACE 仅辅助监督控制已完成训练、Val 和 Test，不再标为进行中。</a:t>
            </a:r>
          </a:p>
          <a:p>
            <a:endParaRPr/>
          </a:p>
          <a:p>
            <a:r>
              <a:t>Evidence details</a:t>
            </a:r>
          </a:p>
          <a:p>
            <a:r>
              <a:t>{</a:t>
            </a:r>
          </a:p>
          <a:p>
            <a:r>
              <a:t>  "sources": {</a:t>
            </a:r>
          </a:p>
          <a:p>
            <a:r>
              <a:t>    "R2": {</a:t>
            </a:r>
          </a:p>
          <a:p>
            <a:r>
              <a:t>      "macro_iou": 0.7580983080794957,</a:t>
            </a:r>
          </a:p>
          <a:p>
            <a:r>
              <a:t>      "macro_dice": 0.8442357558557602,</a:t>
            </a:r>
          </a:p>
          <a:p>
            <a:r>
              <a:t>      "macro_precision": 0.826084159202458,</a:t>
            </a:r>
          </a:p>
          <a:p>
            <a:r>
              <a:t>      "macro_recall": 0.8916214076819452,</a:t>
            </a:r>
          </a:p>
          <a:p>
            <a:r>
              <a:t>      "macro_brier": 0.016699489254147614,</a:t>
            </a:r>
          </a:p>
          <a:p>
            <a:r>
              <a:t>      "checkpoint_best_epoch": 67,</a:t>
            </a:r>
          </a:p>
          <a:p>
            <a:r>
              <a:t>      "checkpoint_git_commit": "9eca26de5b301099805530edbf5a1a8718bea662"</a:t>
            </a:r>
          </a:p>
          <a:p>
            <a:r>
              <a:t>    },</a:t>
            </a:r>
          </a:p>
          <a:p>
            <a:r>
              <a:t>    "P8BA": {</a:t>
            </a:r>
          </a:p>
          <a:p>
            <a:r>
              <a:t>      "macro_iou": 0.7600133207633171,</a:t>
            </a:r>
          </a:p>
          <a:p>
            <a:r>
              <a:t>      "macro_dice": 0.8454525320404367,</a:t>
            </a:r>
          </a:p>
          <a:p>
            <a:r>
              <a:t>      "macro_precision": 0.8318225954358759,</a:t>
            </a:r>
          </a:p>
          <a:p>
            <a:r>
              <a:t>      "macro_recall": 0.8879530929360865,</a:t>
            </a:r>
          </a:p>
          <a:p>
            <a:r>
              <a:t>      "macro_brier": 0.01650946412565453,</a:t>
            </a:r>
          </a:p>
          <a:p>
            <a:r>
              <a:t>      "checkpoint_best_epoch": 75,</a:t>
            </a:r>
          </a:p>
          <a:p>
            <a:r>
              <a:t>      "checkpoint_git_commit": "ec9f3590d535ee29c02484e3c4babc6fb0c099d0"</a:t>
            </a:r>
          </a:p>
          <a:p>
            <a:r>
              <a:t>    },</a:t>
            </a:r>
          </a:p>
          <a:p>
            <a:r>
              <a:t>    "P8B2": {</a:t>
            </a:r>
          </a:p>
          <a:p>
            <a:r>
              <a:t>      "macro_iou": 0.7624854356683717,</a:t>
            </a:r>
          </a:p>
          <a:p>
            <a:r>
              <a:t>      "macro_dice": 0.8470967185691495,</a:t>
            </a:r>
          </a:p>
          <a:p>
            <a:r>
              <a:t>      "macro_precision": 0.8307099690397217,</a:t>
            </a:r>
          </a:p>
          <a:p>
            <a:r>
              <a:t>      "macro_recall": 0.8932420571189263,</a:t>
            </a:r>
          </a:p>
          <a:p>
            <a:r>
              <a:t>      "macro_brier": 0.01631096561069532,</a:t>
            </a:r>
          </a:p>
          <a:p>
            <a:r>
              <a:t>      "checkpoint_best_epoch": 75,</a:t>
            </a:r>
          </a:p>
          <a:p>
            <a:r>
              <a:t>      "checkpoint_git_commit": "c6e52a9b13576cab9e2451c550d03ad274bc09e2"</a:t>
            </a:r>
          </a:p>
          <a:p>
            <a:r>
              <a:t>    }</a:t>
            </a:r>
          </a:p>
          <a:p>
            <a:r>
              <a:t>  },</a:t>
            </a:r>
          </a:p>
          <a:p>
            <a:r>
              <a:t>  "auxTag": "experiment-p8-binding-aux-only-80e-seed1219-20260915"</a:t>
            </a:r>
          </a:p>
          <a:p>
            <a:r>
              <a:t>}</a:t>
            </a:r>
          </a:p>
          <a:p>
            <a:endParaRPr/>
          </a:p>
          <a:p>
            <a:r>
              <a:t>Sources · 15 September 2026</a:t>
            </a:r>
          </a:p>
          <a:p>
            <a:r>
              <a:t>D:/BetterLViT/experiment_docs_work/docs/EXPERIMENT_TRACKER.md</a:t>
            </a:r>
          </a:p>
          <a:p>
            <a:r>
              <a:t>D:/BetterLViT/experiment_docs_work/nets/eppa.py</a:t>
            </a:r>
          </a:p>
          <a:p>
            <a:r>
              <a:t>D:/BetterLViT/outputs/p8_binding_aux_20260915/FINAL_RESULTS.json</a:t>
            </a:r>
          </a:p>
          <a:p>
            <a:r>
              <a:t>D:/BetterLViT/outputs/p8_research_20260914/test_20260915/TEST_RESULTS.json</a:t>
            </a:r>
          </a:p>
          <a:p>
            <a:r>
              <a:t>D:/BetterLViT/outputs/p8_research_20260914/FINAL_PAIR_REPORT.md</a:t>
            </a:r>
          </a:p>
          <a:p>
            <a:r>
              <a:t>D:/BetterLViT/experiment_docs_work/repro_archive/20260910/recipe_test/results/README.md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English speaker script</a:t>
            </a:r>
          </a:p>
          <a:p>
            <a:r>
              <a:t>Both RACE variants completed 80 epochs and used validation-selected checkpoints at epoch 75. Corrected binding improves Test IoU relative to original binding by 0.2981 percentage points, while the validation point estimate is lower by 0.1107 points and its interval crosses zero. We retain this split difference without retuning. The main contribution is the RACE mechanism. Repairing report-target assignment is implementation correctness and must not be presented as an additional architectural innovation. Both variants are reported so the correction is not hidden.</a:t>
            </a:r>
          </a:p>
          <a:p>
            <a:endParaRPr/>
          </a:p>
          <a:p>
            <a:r>
              <a:t>中文讲稿</a:t>
            </a:r>
          </a:p>
          <a:p>
            <a:r>
              <a:t>两种 RACE 均完成 80 轮并使用 Val 选定的第 75 轮检查点。修正绑定相对原绑定的 Test IoU 增益为 0.2981 个百分点，而 Val 点估计低 0.1107 个百分点且区间跨零，两项结果同时保留，不据此回调参数。报告目标绑定修复属于实现正确性，不作为额外结构创新。</a:t>
            </a:r>
          </a:p>
          <a:p>
            <a:endParaRPr/>
          </a:p>
          <a:p>
            <a:r>
              <a:t>Sources · 15 September 2026</a:t>
            </a:r>
          </a:p>
          <a:p>
            <a:r>
              <a:t>D:/BetterLViT/outputs/p8_binding_aux_20260915/FINAL_RESULTS.json</a:t>
            </a:r>
          </a:p>
          <a:p>
            <a:r>
              <a:t>D:/BetterLViT/outputs/p8_research_20260914/test_20260915/TEST_RESULTS.json</a:t>
            </a:r>
          </a:p>
          <a:p>
            <a:r>
              <a:t>D:/BetterLViT/outputs/p8_research_20260914/FINAL_PAIR_REPORT.md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D044A77C-85FF-48A8-AAA2-27825604C1A3}"/>
              </a:ext>
            </a:extLst>
          </p:cNvPr>
          <p:cNvSpPr>
            <a:spLocks noGrp="1"/>
          </p:cNvSpPr>
          <p:nvPr/>
        </p:nvSpPr>
        <p:spPr>
          <a:xfrm>
            <a:off x="640080" y="1737360"/>
            <a:ext cx="10058400" cy="1737360"/>
          </a:xfrm>
          <a:prstGeom prst="rect">
            <a:avLst/>
          </a:prstGeom>
          <a:noFill/>
        </p:spPr>
        <p:txBody>
          <a:bodyPr wrap="square" lIns="0" tIns="0" rIns="0" bIns="0" anchor="ctr">
            <a:noAutofit/>
          </a:bodyPr>
          <a:lstStyle/>
          <a:p>
            <a:pPr marL="0" indent="0">
              <a:lnSpc>
                <a:spcPts val="4600"/>
              </a:lnSpc>
              <a:buNone/>
              <a:defRPr sz="3450" b="1">
                <a:solidFill>
                  <a:srgbClr val="FFFFFF"/>
                </a:solidFill>
                <a:latin typeface="Cambria"/>
                <a:ea typeface="Cambria"/>
                <a:cs typeface="Cambria"/>
              </a:defRPr>
            </a:pPr>
            <a:r>
              <a:rPr sz="3450" b="1" dirty="0">
                <a:solidFill>
                  <a:srgbClr val="FF0000"/>
                </a:solidFill>
                <a:latin typeface="Cambria"/>
                <a:ea typeface="Cambria"/>
                <a:cs typeface="Cambria"/>
              </a:rPr>
              <a:t>BetterLViT</a:t>
            </a:r>
            <a:r>
              <a:rPr sz="3450" b="1" dirty="0">
                <a:solidFill>
                  <a:srgbClr val="FFFFFF"/>
                </a:solidFill>
                <a:latin typeface="Cambria"/>
                <a:ea typeface="Cambria"/>
                <a:cs typeface="Cambria"/>
              </a:rPr>
              <a:t>: Text-Guided Segmentation</a:t>
            </a:r>
            <a:endParaRPr sz="3600" dirty="0"/>
          </a:p>
          <a:p>
            <a:pPr marL="0" indent="0">
              <a:lnSpc>
                <a:spcPts val="4600"/>
              </a:lnSpc>
              <a:buNone/>
              <a:defRPr sz="3450" b="1">
                <a:solidFill>
                  <a:srgbClr val="FFFFFF"/>
                </a:solidFill>
                <a:latin typeface="Cambria"/>
                <a:ea typeface="Cambria"/>
                <a:cs typeface="Cambria"/>
              </a:defRPr>
            </a:pPr>
            <a:r>
              <a:rPr sz="3450" b="1" dirty="0">
                <a:solidFill>
                  <a:srgbClr val="FFFFFF"/>
                </a:solidFill>
                <a:latin typeface="Cambria"/>
                <a:ea typeface="Cambria"/>
                <a:cs typeface="Cambria"/>
              </a:rPr>
              <a:t>of COVID-19 Infections in Chest X-rays</a:t>
            </a:r>
            <a:endParaRPr sz="3600" dirty="0"/>
          </a:p>
        </p:txBody>
      </p:sp>
      <p:sp>
        <p:nvSpPr>
          <p:cNvPr id="3" name="Text 1">
            <a:extLst>
              <a:ext uri="{FF2B5EF4-FFF2-40B4-BE49-F238E27FC236}">
                <a16:creationId xmlns:a16="http://schemas.microsoft.com/office/drawing/2014/main" id="{7C63F583-713A-442F-B7A9-949E82235146}"/>
              </a:ext>
            </a:extLst>
          </p:cNvPr>
          <p:cNvSpPr>
            <a:spLocks noGrp="1"/>
          </p:cNvSpPr>
          <p:nvPr/>
        </p:nvSpPr>
        <p:spPr>
          <a:xfrm>
            <a:off x="640080" y="3794760"/>
            <a:ext cx="10058400" cy="365760"/>
          </a:xfrm>
          <a:prstGeom prst="rect">
            <a:avLst/>
          </a:prstGeom>
          <a:noFill/>
        </p:spPr>
        <p:txBody>
          <a:bodyPr wrap="square" lIns="0" tIns="0" rIns="0" bIns="0" anchor="ctr"/>
          <a:lstStyle/>
          <a:p>
            <a:pPr marL="0" indent="0">
              <a:buNone/>
            </a:pPr>
            <a:r>
              <a:rPr sz="1700">
                <a:solidFill>
                  <a:srgbClr val="FFFFFF"/>
                </a:solidFill>
                <a:latin typeface="Calibri"/>
                <a:ea typeface="Calibri"/>
                <a:cs typeface="Calibri"/>
              </a:rPr>
              <a:t>Ramos Wang   ·   SID 550378666</a:t>
            </a:r>
            <a:endParaRPr sz="1700"/>
          </a:p>
        </p:txBody>
      </p:sp>
      <p:sp>
        <p:nvSpPr>
          <p:cNvPr id="4" name="Text 2">
            <a:extLst>
              <a:ext uri="{FF2B5EF4-FFF2-40B4-BE49-F238E27FC236}">
                <a16:creationId xmlns:a16="http://schemas.microsoft.com/office/drawing/2014/main" id="{0A45F3AC-156B-42B7-BBC4-D239DF443609}"/>
              </a:ext>
            </a:extLst>
          </p:cNvPr>
          <p:cNvSpPr>
            <a:spLocks noGrp="1"/>
          </p:cNvSpPr>
          <p:nvPr/>
        </p:nvSpPr>
        <p:spPr>
          <a:xfrm>
            <a:off x="640080" y="4251960"/>
            <a:ext cx="10058400" cy="1005840"/>
          </a:xfrm>
          <a:prstGeom prst="rect">
            <a:avLst/>
          </a:prstGeom>
          <a:noFill/>
        </p:spPr>
        <p:txBody>
          <a:bodyPr wrap="square" lIns="0" tIns="0" rIns="0" bIns="0" anchor="ctr"/>
          <a:lstStyle/>
          <a:p>
            <a:pPr marL="0" indent="0">
              <a:lnSpc>
                <a:spcPts val="1900"/>
              </a:lnSpc>
              <a:buNone/>
            </a:pPr>
            <a:r>
              <a:rPr sz="1300">
                <a:solidFill>
                  <a:srgbClr val="B8B8B8"/>
                </a:solidFill>
                <a:latin typeface="Calibri"/>
                <a:ea typeface="Calibri"/>
                <a:cs typeface="Calibri"/>
              </a:rPr>
              <a:t>Supervisor: Prof. Yonghui Li</a:t>
            </a:r>
            <a:endParaRPr sz="1300"/>
          </a:p>
          <a:p>
            <a:pPr marL="0" indent="0">
              <a:lnSpc>
                <a:spcPts val="1900"/>
              </a:lnSpc>
              <a:buNone/>
            </a:pPr>
            <a:r>
              <a:rPr sz="1300">
                <a:solidFill>
                  <a:srgbClr val="B8B8B8"/>
                </a:solidFill>
                <a:latin typeface="Calibri"/>
                <a:ea typeface="Calibri"/>
                <a:cs typeface="Calibri"/>
              </a:rPr>
              <a:t>ELEC5223 Dissertation B  ·  School of Electrical and Computer Engineering</a:t>
            </a:r>
            <a:endParaRPr sz="1300"/>
          </a:p>
          <a:p>
            <a:pPr marL="0" indent="0">
              <a:lnSpc>
                <a:spcPts val="1900"/>
              </a:lnSpc>
              <a:buNone/>
            </a:pPr>
            <a:r>
              <a:rPr sz="1300">
                <a:solidFill>
                  <a:srgbClr val="B8B8B8"/>
                </a:solidFill>
                <a:latin typeface="Calibri"/>
                <a:ea typeface="Calibri"/>
                <a:cs typeface="Calibri"/>
              </a:rPr>
              <a:t>The University of Sydney</a:t>
            </a:r>
            <a:endParaRPr sz="1300"/>
          </a:p>
        </p:txBody>
      </p:sp>
      <p:sp>
        <p:nvSpPr>
          <p:cNvPr id="5" name="Project update: 7 September 2026">
            <a:extLst>
              <a:ext uri="{FF2B5EF4-FFF2-40B4-BE49-F238E27FC236}">
                <a16:creationId xmlns:a16="http://schemas.microsoft.com/office/drawing/2014/main" id="{8560DC34-A698-4B9E-B8B4-A6E14295BC5E}"/>
              </a:ext>
            </a:extLst>
          </p:cNvPr>
          <p:cNvSpPr>
            <a:spLocks noGrp="1"/>
          </p:cNvSpPr>
          <p:nvPr/>
        </p:nvSpPr>
        <p:spPr>
          <a:xfrm>
            <a:off x="640080" y="5610225"/>
            <a:ext cx="10477500" cy="304800"/>
          </a:xfrm>
          <a:prstGeom prst="rect">
            <a:avLst/>
          </a:prstGeom>
          <a:noFill/>
          <a:ln w="0">
            <a:noFill/>
          </a:ln>
        </p:spPr>
        <p:txBody>
          <a:bodyPr wrap="square" lIns="0" tIns="0" rIns="0" bIns="0" anchor="t">
            <a:noAutofit/>
          </a:bodyPr>
          <a:lstStyle/>
          <a:p>
            <a:pPr algn="l">
              <a:buNone/>
              <a:defRPr sz="1650" b="0">
                <a:solidFill>
                  <a:srgbClr val="BEBEBE"/>
                </a:solidFill>
                <a:latin typeface="Calibri"/>
                <a:ea typeface="Calibri"/>
                <a:cs typeface="Calibri"/>
              </a:defRPr>
            </a:pPr>
            <a:r>
              <a:rPr sz="1650" b="0">
                <a:solidFill>
                  <a:srgbClr val="BEBEBE"/>
                </a:solidFill>
                <a:latin typeface="Calibri"/>
                <a:ea typeface="Calibri"/>
                <a:cs typeface="Calibri"/>
              </a:rPr>
              <a:t>Final defence · 15 September 2026</a:t>
            </a:r>
          </a:p>
        </p:txBody>
      </p:sp>
    </p:spTree>
    <p:extLst>
      <p:ext uri="{BB962C8B-B14F-4D97-AF65-F5344CB8AC3E}">
        <p14:creationId xmlns:p14="http://schemas.microsoft.com/office/powerpoint/2010/main" val="7896331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EF12045-597E-4B5F-8B11-069B62602951}"/>
              </a:ext>
            </a:extLst>
          </p:cNvPr>
          <p:cNvSpPr>
            <a:spLocks noGrp="1"/>
          </p:cNvSpPr>
          <p:nvPr/>
        </p:nvSpPr>
        <p:spPr>
          <a:xfrm>
            <a:off x="640080" y="361950"/>
            <a:ext cx="10915650" cy="952500"/>
          </a:xfrm>
          <a:prstGeom prst="rect">
            <a:avLst/>
          </a:prstGeom>
          <a:noFill/>
        </p:spPr>
        <p:txBody>
          <a:bodyPr wrap="square" lIns="0" tIns="0" rIns="0" bIns="0" anchor="ctr">
            <a:noAutofit/>
          </a:bodyPr>
          <a:lstStyle/>
          <a:p>
            <a:pPr marL="0" indent="0">
              <a:buNone/>
              <a:defRPr sz="3000" b="1">
                <a:solidFill>
                  <a:srgbClr val="111111"/>
                </a:solidFill>
                <a:latin typeface="Cambria"/>
                <a:ea typeface="Cambria"/>
                <a:cs typeface="Cambria"/>
              </a:defRPr>
            </a:pPr>
            <a:r>
              <a:rPr sz="3000" b="1" dirty="0">
                <a:solidFill>
                  <a:srgbClr val="111111"/>
                </a:solidFill>
                <a:latin typeface="Cambria"/>
                <a:ea typeface="Cambria"/>
                <a:cs typeface="Cambria"/>
              </a:rPr>
              <a:t>Project contributions</a:t>
            </a:r>
            <a:endParaRPr sz="2800" dirty="0"/>
          </a:p>
        </p:txBody>
      </p:sp>
      <p:sp>
        <p:nvSpPr>
          <p:cNvPr id="3" name="Task: chest X-ray + report → infection segmentatio">
            <a:extLst>
              <a:ext uri="{FF2B5EF4-FFF2-40B4-BE49-F238E27FC236}">
                <a16:creationId xmlns:a16="http://schemas.microsoft.com/office/drawing/2014/main" id="{4FCAB10B-C2B1-4CDB-B7F0-EE1E09F4E7D7}"/>
              </a:ext>
            </a:extLst>
          </p:cNvPr>
          <p:cNvSpPr>
            <a:spLocks noGrp="1"/>
          </p:cNvSpPr>
          <p:nvPr/>
        </p:nvSpPr>
        <p:spPr>
          <a:xfrm>
            <a:off x="638175" y="1495425"/>
            <a:ext cx="10915650" cy="409575"/>
          </a:xfrm>
          <a:prstGeom prst="rect">
            <a:avLst/>
          </a:prstGeom>
          <a:noFill/>
          <a:ln w="0">
            <a:noFill/>
          </a:ln>
        </p:spPr>
        <p:txBody>
          <a:bodyPr wrap="square" lIns="0" tIns="0" rIns="0" bIns="0" anchor="t">
            <a:noAutofit/>
          </a:bodyPr>
          <a:lstStyle/>
          <a:p>
            <a:pPr algn="l">
              <a:buNone/>
              <a:defRPr sz="2100" b="0">
                <a:solidFill>
                  <a:srgbClr val="606060"/>
                </a:solidFill>
                <a:latin typeface="Calibri"/>
                <a:ea typeface="Calibri"/>
                <a:cs typeface="Calibri"/>
              </a:defRPr>
            </a:pPr>
            <a:r>
              <a:rPr sz="2100" b="0">
                <a:solidFill>
                  <a:srgbClr val="606060"/>
                </a:solidFill>
                <a:latin typeface="Calibri"/>
                <a:ea typeface="Calibri"/>
                <a:cs typeface="Calibri"/>
              </a:rPr>
              <a:t>Task: chest X-ray + report → infection segmentation</a:t>
            </a:r>
          </a:p>
        </p:txBody>
      </p:sp>
      <p:sp>
        <p:nvSpPr>
          <p:cNvPr id="4" name="FSDR">
            <a:extLst>
              <a:ext uri="{FF2B5EF4-FFF2-40B4-BE49-F238E27FC236}">
                <a16:creationId xmlns:a16="http://schemas.microsoft.com/office/drawing/2014/main" id="{70DE6E54-BFA9-4D6B-AA15-5DE5FF981DBE}"/>
              </a:ext>
            </a:extLst>
          </p:cNvPr>
          <p:cNvSpPr>
            <a:spLocks noGrp="1"/>
          </p:cNvSpPr>
          <p:nvPr/>
        </p:nvSpPr>
        <p:spPr>
          <a:xfrm>
            <a:off x="638175" y="2190750"/>
            <a:ext cx="1809750" cy="457200"/>
          </a:xfrm>
          <a:prstGeom prst="rect">
            <a:avLst/>
          </a:prstGeom>
          <a:noFill/>
          <a:ln w="0">
            <a:noFill/>
          </a:ln>
        </p:spPr>
        <p:txBody>
          <a:bodyPr wrap="square" lIns="0" tIns="0" rIns="0" bIns="0" anchor="t">
            <a:noAutofit/>
          </a:bodyPr>
          <a:lstStyle/>
          <a:p>
            <a:pPr algn="l">
              <a:buNone/>
              <a:defRPr sz="2400" b="1">
                <a:solidFill>
                  <a:srgbClr val="111111"/>
                </a:solidFill>
                <a:latin typeface="Calibri"/>
                <a:ea typeface="Calibri"/>
                <a:cs typeface="Calibri"/>
              </a:defRPr>
            </a:pPr>
            <a:r>
              <a:rPr sz="2400" b="1" dirty="0">
                <a:solidFill>
                  <a:srgbClr val="111111"/>
                </a:solidFill>
                <a:latin typeface="Calibri"/>
                <a:ea typeface="Calibri"/>
                <a:cs typeface="Calibri"/>
              </a:rPr>
              <a:t>FSDR</a:t>
            </a:r>
          </a:p>
        </p:txBody>
      </p:sp>
      <p:sp>
        <p:nvSpPr>
          <p:cNvPr id="5" name="Frequency-aware Semantic–Detail Refinement">
            <a:extLst>
              <a:ext uri="{FF2B5EF4-FFF2-40B4-BE49-F238E27FC236}">
                <a16:creationId xmlns:a16="http://schemas.microsoft.com/office/drawing/2014/main" id="{C3B2EB3F-D03C-40CB-BC64-32A6EA541B92}"/>
              </a:ext>
            </a:extLst>
          </p:cNvPr>
          <p:cNvSpPr>
            <a:spLocks noGrp="1"/>
          </p:cNvSpPr>
          <p:nvPr/>
        </p:nvSpPr>
        <p:spPr>
          <a:xfrm>
            <a:off x="2667000" y="2190750"/>
            <a:ext cx="8886825" cy="428625"/>
          </a:xfrm>
          <a:prstGeom prst="rect">
            <a:avLst/>
          </a:prstGeom>
          <a:noFill/>
          <a:ln w="0">
            <a:noFill/>
          </a:ln>
        </p:spPr>
        <p:txBody>
          <a:bodyPr wrap="square" lIns="0" tIns="0" rIns="0" bIns="0" anchor="t">
            <a:noAutofit/>
          </a:bodyPr>
          <a:lstStyle/>
          <a:p>
            <a:pPr algn="l">
              <a:buNone/>
              <a:defRPr sz="2250" b="1">
                <a:solidFill>
                  <a:srgbClr val="111111"/>
                </a:solidFill>
                <a:latin typeface="Calibri"/>
                <a:ea typeface="Calibri"/>
                <a:cs typeface="Calibri"/>
              </a:defRPr>
            </a:pPr>
            <a:r>
              <a:rPr sz="2250" b="1" dirty="0">
                <a:solidFill>
                  <a:srgbClr val="111111"/>
                </a:solidFill>
                <a:latin typeface="Calibri"/>
                <a:ea typeface="Calibri"/>
                <a:cs typeface="Calibri"/>
              </a:rPr>
              <a:t>Frequency-aware Semantic–Detail Refinement</a:t>
            </a:r>
          </a:p>
        </p:txBody>
      </p:sp>
      <p:sp>
        <p:nvSpPr>
          <p:cNvPr id="6" name="Separates semantic guidance and spatial detail in ">
            <a:extLst>
              <a:ext uri="{FF2B5EF4-FFF2-40B4-BE49-F238E27FC236}">
                <a16:creationId xmlns:a16="http://schemas.microsoft.com/office/drawing/2014/main" id="{B0971180-4E39-494C-836C-55E6B6B90615}"/>
              </a:ext>
            </a:extLst>
          </p:cNvPr>
          <p:cNvSpPr>
            <a:spLocks noGrp="1"/>
          </p:cNvSpPr>
          <p:nvPr/>
        </p:nvSpPr>
        <p:spPr>
          <a:xfrm>
            <a:off x="2667000" y="2733675"/>
            <a:ext cx="8858250" cy="857250"/>
          </a:xfrm>
          <a:prstGeom prst="rect">
            <a:avLst/>
          </a:prstGeom>
          <a:noFill/>
          <a:ln w="0">
            <a:noFill/>
          </a:ln>
        </p:spPr>
        <p:txBody>
          <a:bodyPr wrap="square" lIns="0" tIns="0" rIns="0" bIns="0" anchor="t">
            <a:noAutofit/>
          </a:bodyPr>
          <a:lstStyle/>
          <a:p>
            <a:pPr algn="l">
              <a:buNone/>
              <a:defRPr sz="2025" b="0">
                <a:solidFill>
                  <a:srgbClr val="111111"/>
                </a:solidFill>
                <a:latin typeface="Calibri"/>
                <a:ea typeface="Calibri"/>
                <a:cs typeface="Calibri"/>
              </a:defRPr>
            </a:pPr>
            <a:r>
              <a:rPr sz="2025" b="0">
                <a:solidFill>
                  <a:srgbClr val="111111"/>
                </a:solidFill>
                <a:latin typeface="Calibri"/>
                <a:ea typeface="Calibri"/>
                <a:cs typeface="Calibri"/>
              </a:rPr>
              <a:t>Separates semantic guidance and spatial detail in LViT skip fusion.</a:t>
            </a:r>
          </a:p>
          <a:p>
            <a:pPr algn="l">
              <a:buNone/>
              <a:defRPr sz="2025" b="0">
                <a:solidFill>
                  <a:srgbClr val="111111"/>
                </a:solidFill>
                <a:latin typeface="Calibri"/>
                <a:ea typeface="Calibri"/>
                <a:cs typeface="Calibri"/>
              </a:defRPr>
            </a:pPr>
            <a:r>
              <a:rPr sz="2025" b="0">
                <a:solidFill>
                  <a:srgbClr val="111111"/>
                </a:solidFill>
                <a:latin typeface="Calibri"/>
                <a:ea typeface="Calibri"/>
                <a:cs typeface="Calibri"/>
              </a:rPr>
              <a:t>Matched fusion comparisons: Test IoU gains of +0.981 to +1.462 pp.</a:t>
            </a:r>
          </a:p>
        </p:txBody>
      </p:sp>
      <p:sp>
        <p:nvSpPr>
          <p:cNvPr id="7" name="RACE">
            <a:extLst>
              <a:ext uri="{FF2B5EF4-FFF2-40B4-BE49-F238E27FC236}">
                <a16:creationId xmlns:a16="http://schemas.microsoft.com/office/drawing/2014/main" id="{95EBF312-2E72-4B08-9335-4AEF8751D2EE}"/>
              </a:ext>
            </a:extLst>
          </p:cNvPr>
          <p:cNvSpPr>
            <a:spLocks noGrp="1"/>
          </p:cNvSpPr>
          <p:nvPr/>
        </p:nvSpPr>
        <p:spPr>
          <a:xfrm>
            <a:off x="638175" y="3867150"/>
            <a:ext cx="1809750" cy="457200"/>
          </a:xfrm>
          <a:prstGeom prst="rect">
            <a:avLst/>
          </a:prstGeom>
          <a:noFill/>
          <a:ln w="0">
            <a:noFill/>
          </a:ln>
        </p:spPr>
        <p:txBody>
          <a:bodyPr wrap="square" lIns="0" tIns="0" rIns="0" bIns="0" anchor="t">
            <a:noAutofit/>
          </a:bodyPr>
          <a:lstStyle/>
          <a:p>
            <a:pPr algn="l">
              <a:buNone/>
              <a:defRPr sz="2400" b="1">
                <a:solidFill>
                  <a:srgbClr val="111111"/>
                </a:solidFill>
                <a:latin typeface="Calibri"/>
                <a:ea typeface="Calibri"/>
                <a:cs typeface="Calibri"/>
              </a:defRPr>
            </a:pPr>
            <a:r>
              <a:rPr sz="2400" b="1" dirty="0">
                <a:solidFill>
                  <a:srgbClr val="111111"/>
                </a:solidFill>
                <a:latin typeface="Calibri"/>
                <a:ea typeface="Calibri"/>
                <a:cs typeface="Calibri"/>
              </a:rPr>
              <a:t>RACE</a:t>
            </a:r>
          </a:p>
        </p:txBody>
      </p:sp>
      <p:sp>
        <p:nvSpPr>
          <p:cNvPr id="8" name="Report–Anatomy Consistency and Evidence Fusion">
            <a:extLst>
              <a:ext uri="{FF2B5EF4-FFF2-40B4-BE49-F238E27FC236}">
                <a16:creationId xmlns:a16="http://schemas.microsoft.com/office/drawing/2014/main" id="{262B5C1C-F288-42B3-891E-31E96F51793E}"/>
              </a:ext>
            </a:extLst>
          </p:cNvPr>
          <p:cNvSpPr>
            <a:spLocks noGrp="1"/>
          </p:cNvSpPr>
          <p:nvPr/>
        </p:nvSpPr>
        <p:spPr>
          <a:xfrm>
            <a:off x="2667000" y="3867150"/>
            <a:ext cx="8886825" cy="409575"/>
          </a:xfrm>
          <a:prstGeom prst="rect">
            <a:avLst/>
          </a:prstGeom>
          <a:noFill/>
          <a:ln w="0">
            <a:noFill/>
          </a:ln>
        </p:spPr>
        <p:txBody>
          <a:bodyPr wrap="square" lIns="0" tIns="0" rIns="0" bIns="0" anchor="t">
            <a:noAutofit/>
          </a:bodyPr>
          <a:lstStyle/>
          <a:p>
            <a:pPr algn="l">
              <a:buNone/>
              <a:defRPr sz="2175" b="1">
                <a:solidFill>
                  <a:srgbClr val="111111"/>
                </a:solidFill>
                <a:latin typeface="Calibri"/>
                <a:ea typeface="Calibri"/>
                <a:cs typeface="Calibri"/>
              </a:defRPr>
            </a:pPr>
            <a:r>
              <a:rPr sz="2175" b="1">
                <a:solidFill>
                  <a:srgbClr val="111111"/>
                </a:solidFill>
                <a:latin typeface="Calibri"/>
                <a:ea typeface="Calibri"/>
                <a:cs typeface="Calibri"/>
              </a:rPr>
              <a:t>Report–Anatomy Consistency and Evidence Fusion</a:t>
            </a:r>
          </a:p>
        </p:txBody>
      </p:sp>
      <p:sp>
        <p:nvSpPr>
          <p:cNvPr id="9" name="Combines learned report cues, anatomical regions a">
            <a:extLst>
              <a:ext uri="{FF2B5EF4-FFF2-40B4-BE49-F238E27FC236}">
                <a16:creationId xmlns:a16="http://schemas.microsoft.com/office/drawing/2014/main" id="{1A0DB4AD-C2FD-4466-95DE-D23C67E8D789}"/>
              </a:ext>
            </a:extLst>
          </p:cNvPr>
          <p:cNvSpPr>
            <a:spLocks noGrp="1"/>
          </p:cNvSpPr>
          <p:nvPr/>
        </p:nvSpPr>
        <p:spPr>
          <a:xfrm>
            <a:off x="2667000" y="4419600"/>
            <a:ext cx="8886825" cy="857250"/>
          </a:xfrm>
          <a:prstGeom prst="rect">
            <a:avLst/>
          </a:prstGeom>
          <a:noFill/>
          <a:ln w="0">
            <a:noFill/>
          </a:ln>
        </p:spPr>
        <p:txBody>
          <a:bodyPr wrap="square" lIns="0" tIns="0" rIns="0" bIns="0" anchor="t">
            <a:noAutofit/>
          </a:bodyPr>
          <a:lstStyle/>
          <a:p>
            <a:pPr algn="l">
              <a:buNone/>
              <a:defRPr sz="2025" b="0">
                <a:solidFill>
                  <a:srgbClr val="111111"/>
                </a:solidFill>
                <a:latin typeface="Calibri"/>
                <a:ea typeface="Calibri"/>
                <a:cs typeface="Calibri"/>
              </a:defRPr>
            </a:pPr>
            <a:r>
              <a:rPr sz="2025" b="0" dirty="0">
                <a:solidFill>
                  <a:srgbClr val="111111"/>
                </a:solidFill>
                <a:latin typeface="Calibri"/>
                <a:ea typeface="Calibri"/>
                <a:cs typeface="Calibri"/>
              </a:rPr>
              <a:t>Combines learned report cues, anatomical regions and visual evidence.</a:t>
            </a:r>
          </a:p>
          <a:p>
            <a:pPr algn="l">
              <a:buNone/>
              <a:defRPr sz="2025" b="0">
                <a:solidFill>
                  <a:srgbClr val="111111"/>
                </a:solidFill>
                <a:latin typeface="Calibri"/>
                <a:ea typeface="Calibri"/>
                <a:cs typeface="Calibri"/>
              </a:defRPr>
            </a:pPr>
            <a:r>
              <a:rPr sz="2025" b="0" dirty="0">
                <a:solidFill>
                  <a:srgbClr val="111111"/>
                </a:solidFill>
                <a:latin typeface="Calibri"/>
                <a:ea typeface="Calibri"/>
                <a:cs typeface="Calibri"/>
              </a:rPr>
              <a:t>FSDR + RACE: Test </a:t>
            </a:r>
            <a:r>
              <a:rPr sz="2025" b="0" dirty="0" err="1">
                <a:solidFill>
                  <a:srgbClr val="111111"/>
                </a:solidFill>
                <a:latin typeface="Calibri"/>
                <a:ea typeface="Calibri"/>
                <a:cs typeface="Calibri"/>
              </a:rPr>
              <a:t>IoU</a:t>
            </a:r>
            <a:r>
              <a:rPr sz="2025" b="0" dirty="0">
                <a:solidFill>
                  <a:srgbClr val="111111"/>
                </a:solidFill>
                <a:latin typeface="Calibri"/>
                <a:ea typeface="Calibri"/>
                <a:cs typeface="Calibri"/>
              </a:rPr>
              <a:t> 76.2485%; +0.4387 pp over its FSDR control.</a:t>
            </a:r>
          </a:p>
        </p:txBody>
      </p:sp>
      <p:sp>
        <p:nvSpPr>
          <p:cNvPr id="10" name="Two complementary designs: frequency refinement an">
            <a:extLst>
              <a:ext uri="{FF2B5EF4-FFF2-40B4-BE49-F238E27FC236}">
                <a16:creationId xmlns:a16="http://schemas.microsoft.com/office/drawing/2014/main" id="{56A679C8-CE63-4E6B-BA81-B59FE2F39F55}"/>
              </a:ext>
            </a:extLst>
          </p:cNvPr>
          <p:cNvSpPr>
            <a:spLocks noGrp="1"/>
          </p:cNvSpPr>
          <p:nvPr/>
        </p:nvSpPr>
        <p:spPr>
          <a:xfrm>
            <a:off x="638175" y="5638800"/>
            <a:ext cx="10915650" cy="542925"/>
          </a:xfrm>
          <a:prstGeom prst="rect">
            <a:avLst/>
          </a:prstGeom>
          <a:solidFill>
            <a:srgbClr val="111111"/>
          </a:solidFill>
          <a:ln w="0">
            <a:noFill/>
          </a:ln>
        </p:spPr>
        <p:txBody>
          <a:bodyPr wrap="square" lIns="133350" tIns="95250" rIns="133350" bIns="66675" anchor="t">
            <a:noAutofit/>
          </a:bodyPr>
          <a:lstStyle/>
          <a:p>
            <a:pPr algn="l">
              <a:buNone/>
              <a:defRPr sz="1950" b="1">
                <a:solidFill>
                  <a:srgbClr val="FFFFFF"/>
                </a:solidFill>
                <a:latin typeface="Calibri"/>
                <a:ea typeface="Calibri"/>
                <a:cs typeface="Calibri"/>
              </a:defRPr>
            </a:pPr>
            <a:r>
              <a:rPr sz="1950" b="1">
                <a:solidFill>
                  <a:srgbClr val="FFFFFF"/>
                </a:solidFill>
                <a:latin typeface="Calibri"/>
                <a:ea typeface="Calibri"/>
                <a:cs typeface="Calibri"/>
              </a:rPr>
              <a:t>Two complementary designs: frequency refinement and report-guided routing</a:t>
            </a:r>
          </a:p>
        </p:txBody>
      </p:sp>
      <p:sp>
        <p:nvSpPr>
          <p:cNvPr id="11" name="Research contributions">
            <a:extLst>
              <a:ext uri="{FF2B5EF4-FFF2-40B4-BE49-F238E27FC236}">
                <a16:creationId xmlns:a16="http://schemas.microsoft.com/office/drawing/2014/main" id="{351D38B3-6298-4BC6-8231-F6AA84F0079C}"/>
              </a:ext>
            </a:extLst>
          </p:cNvPr>
          <p:cNvSpPr>
            <a:spLocks noGrp="1"/>
          </p:cNvSpPr>
          <p:nvPr/>
        </p:nvSpPr>
        <p:spPr>
          <a:xfrm>
            <a:off x="638175" y="6467475"/>
            <a:ext cx="9906000" cy="190500"/>
          </a:xfrm>
          <a:prstGeom prst="rect">
            <a:avLst/>
          </a:prstGeom>
          <a:noFill/>
          <a:ln w="0">
            <a:noFill/>
          </a:ln>
        </p:spPr>
        <p:txBody>
          <a:bodyPr wrap="square" lIns="0" tIns="0" rIns="0" bIns="0" anchor="t">
            <a:noAutofit/>
          </a:bodyPr>
          <a:lstStyle/>
          <a:p>
            <a:pPr algn="l">
              <a:buNone/>
              <a:defRPr sz="900" b="0">
                <a:solidFill>
                  <a:srgbClr val="999999"/>
                </a:solidFill>
                <a:latin typeface="Calibri"/>
                <a:ea typeface="Calibri"/>
                <a:cs typeface="Calibri"/>
              </a:defRPr>
            </a:pPr>
            <a:r>
              <a:rPr sz="900" b="0">
                <a:solidFill>
                  <a:srgbClr val="999999"/>
                </a:solidFill>
                <a:latin typeface="Calibri"/>
                <a:ea typeface="Calibri"/>
                <a:cs typeface="Calibri"/>
              </a:rPr>
              <a:t>Research contributions</a:t>
            </a:r>
          </a:p>
        </p:txBody>
      </p:sp>
      <p:sp>
        <p:nvSpPr>
          <p:cNvPr id="12" name="2">
            <a:extLst>
              <a:ext uri="{FF2B5EF4-FFF2-40B4-BE49-F238E27FC236}">
                <a16:creationId xmlns:a16="http://schemas.microsoft.com/office/drawing/2014/main" id="{B08464F2-CEFC-4337-91A0-869BA589E4C0}"/>
              </a:ext>
            </a:extLst>
          </p:cNvPr>
          <p:cNvSpPr>
            <a:spLocks noGrp="1"/>
          </p:cNvSpPr>
          <p:nvPr/>
        </p:nvSpPr>
        <p:spPr>
          <a:xfrm>
            <a:off x="11144250" y="6467475"/>
            <a:ext cx="409575" cy="190500"/>
          </a:xfrm>
          <a:prstGeom prst="rect">
            <a:avLst/>
          </a:prstGeom>
          <a:noFill/>
          <a:ln w="0">
            <a:noFill/>
          </a:ln>
        </p:spPr>
        <p:txBody>
          <a:bodyPr wrap="square" lIns="0" tIns="0" rIns="0" bIns="0" anchor="t">
            <a:noAutofit/>
          </a:bodyPr>
          <a:lstStyle/>
          <a:p>
            <a:pPr algn="r">
              <a:buNone/>
              <a:defRPr sz="900" b="0">
                <a:solidFill>
                  <a:srgbClr val="999999"/>
                </a:solidFill>
                <a:latin typeface="Calibri"/>
                <a:ea typeface="Calibri"/>
                <a:cs typeface="Calibri"/>
              </a:defRPr>
            </a:pPr>
            <a:r>
              <a:rPr sz="900" b="0">
                <a:solidFill>
                  <a:srgbClr val="999999"/>
                </a:solidFill>
                <a:latin typeface="Calibri"/>
                <a:ea typeface="Calibri"/>
                <a:cs typeface="Calibri"/>
              </a:rPr>
              <a:t>2</a:t>
            </a:r>
          </a:p>
        </p:txBody>
      </p:sp>
    </p:spTree>
    <p:extLst>
      <p:ext uri="{BB962C8B-B14F-4D97-AF65-F5344CB8AC3E}">
        <p14:creationId xmlns:p14="http://schemas.microsoft.com/office/powerpoint/2010/main" val="14981267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2EF6856-8318-4F07-8A32-940631A5E3E9}"/>
              </a:ext>
            </a:extLst>
          </p:cNvPr>
          <p:cNvSpPr>
            <a:spLocks noGrp="1"/>
          </p:cNvSpPr>
          <p:nvPr/>
        </p:nvSpPr>
        <p:spPr>
          <a:xfrm>
            <a:off x="640080" y="361950"/>
            <a:ext cx="10915650" cy="952500"/>
          </a:xfrm>
          <a:prstGeom prst="rect">
            <a:avLst/>
          </a:prstGeom>
          <a:noFill/>
        </p:spPr>
        <p:txBody>
          <a:bodyPr wrap="square" lIns="0" tIns="0" rIns="0" bIns="0" anchor="ctr">
            <a:noAutofit/>
          </a:bodyPr>
          <a:lstStyle/>
          <a:p>
            <a:pPr marL="0" indent="0">
              <a:buNone/>
              <a:defRPr sz="3000" b="1">
                <a:solidFill>
                  <a:srgbClr val="111111"/>
                </a:solidFill>
                <a:latin typeface="Cambria"/>
                <a:ea typeface="Cambria"/>
                <a:cs typeface="Cambria"/>
              </a:defRPr>
            </a:pPr>
            <a:r>
              <a:rPr sz="3000" b="1" dirty="0">
                <a:solidFill>
                  <a:srgbClr val="111111"/>
                </a:solidFill>
                <a:latin typeface="Cambria"/>
                <a:ea typeface="Cambria"/>
                <a:cs typeface="Cambria"/>
              </a:rPr>
              <a:t>FSDR and RACE in the LViT architecture</a:t>
            </a:r>
            <a:endParaRPr sz="2800" dirty="0"/>
          </a:p>
        </p:txBody>
      </p:sp>
      <p:sp>
        <p:nvSpPr>
          <p:cNvPr id="3" name="Mermaid network T">
            <a:extLst>
              <a:ext uri="{FF2B5EF4-FFF2-40B4-BE49-F238E27FC236}">
                <a16:creationId xmlns:a16="http://schemas.microsoft.com/office/drawing/2014/main" id="{CC727B65-24EB-48DF-B166-C6DD61D69251}"/>
              </a:ext>
            </a:extLst>
          </p:cNvPr>
          <p:cNvSpPr>
            <a:spLocks noGrp="1"/>
          </p:cNvSpPr>
          <p:nvPr/>
        </p:nvSpPr>
        <p:spPr>
          <a:xfrm>
            <a:off x="1402038" y="1610304"/>
            <a:ext cx="2933334" cy="1016489"/>
          </a:xfrm>
          <a:prstGeom prst="rect">
            <a:avLst/>
          </a:prstGeom>
          <a:solidFill>
            <a:srgbClr val="F3F3F3"/>
          </a:solidFill>
          <a:ln w="12383">
            <a:solidFill>
              <a:srgbClr val="B8B8B8"/>
            </a:solidFill>
          </a:ln>
        </p:spPr>
        <p:txBody>
          <a:bodyPr lIns="66675" tIns="38100" rIns="66675" bIns="38100" anchor="ctr">
            <a:noAutofit/>
          </a:bodyPr>
          <a:lstStyle/>
          <a:p>
            <a:pPr algn="ctr">
              <a:buNone/>
              <a:defRPr sz="1800" b="1">
                <a:solidFill>
                  <a:srgbClr val="111111"/>
                </a:solidFill>
                <a:latin typeface="Calibri"/>
                <a:ea typeface="Calibri"/>
                <a:cs typeface="Calibri"/>
              </a:defRPr>
            </a:pPr>
            <a:r>
              <a:rPr sz="1800" b="1" dirty="0">
                <a:solidFill>
                  <a:srgbClr val="FF0000"/>
                </a:solidFill>
                <a:latin typeface="Calibri"/>
                <a:ea typeface="Calibri"/>
                <a:cs typeface="Calibri"/>
              </a:rPr>
              <a:t>Report text</a:t>
            </a:r>
          </a:p>
          <a:p>
            <a:pPr algn="ctr">
              <a:buNone/>
              <a:defRPr sz="1800" b="1">
                <a:solidFill>
                  <a:srgbClr val="111111"/>
                </a:solidFill>
                <a:latin typeface="Calibri"/>
                <a:ea typeface="Calibri"/>
                <a:cs typeface="Calibri"/>
              </a:defRPr>
            </a:pPr>
            <a:r>
              <a:rPr sz="1800" b="1" dirty="0">
                <a:solidFill>
                  <a:srgbClr val="FF0000"/>
                </a:solidFill>
                <a:latin typeface="Calibri"/>
                <a:ea typeface="Calibri"/>
                <a:cs typeface="Calibri"/>
              </a:rPr>
              <a:t>Frozen CXR-BERT</a:t>
            </a:r>
          </a:p>
        </p:txBody>
      </p:sp>
      <p:sp>
        <p:nvSpPr>
          <p:cNvPr id="4" name="Mermaid network VIT">
            <a:extLst>
              <a:ext uri="{FF2B5EF4-FFF2-40B4-BE49-F238E27FC236}">
                <a16:creationId xmlns:a16="http://schemas.microsoft.com/office/drawing/2014/main" id="{68F2F7B6-3959-4F5D-80B4-8AC3889ED732}"/>
              </a:ext>
            </a:extLst>
          </p:cNvPr>
          <p:cNvSpPr>
            <a:spLocks noGrp="1"/>
          </p:cNvSpPr>
          <p:nvPr/>
        </p:nvSpPr>
        <p:spPr>
          <a:xfrm>
            <a:off x="4629333" y="1610304"/>
            <a:ext cx="2933334" cy="1016489"/>
          </a:xfrm>
          <a:prstGeom prst="rect">
            <a:avLst/>
          </a:prstGeom>
          <a:solidFill>
            <a:srgbClr val="F3F3F3"/>
          </a:solidFill>
          <a:ln w="12383">
            <a:solidFill>
              <a:srgbClr val="B8B8B8"/>
            </a:solidFill>
          </a:ln>
        </p:spPr>
        <p:txBody>
          <a:bodyPr lIns="66675" tIns="38100" rIns="66675" bIns="38100" anchor="ctr">
            <a:noAutofit/>
          </a:bodyPr>
          <a:lstStyle/>
          <a:p>
            <a:pPr algn="ctr">
              <a:buNone/>
              <a:defRPr sz="1800" b="1">
                <a:solidFill>
                  <a:srgbClr val="111111"/>
                </a:solidFill>
                <a:latin typeface="Calibri"/>
                <a:ea typeface="Calibri"/>
                <a:cs typeface="Calibri"/>
              </a:defRPr>
            </a:pPr>
            <a:r>
              <a:rPr sz="1800" b="1">
                <a:solidFill>
                  <a:srgbClr val="FF0000"/>
                </a:solidFill>
                <a:latin typeface="Calibri"/>
                <a:ea typeface="Calibri"/>
                <a:cs typeface="Calibri"/>
              </a:rPr>
              <a:t>Text-aware ViT</a:t>
            </a:r>
          </a:p>
          <a:p>
            <a:pPr algn="ctr">
              <a:buNone/>
              <a:defRPr sz="1800" b="1">
                <a:solidFill>
                  <a:srgbClr val="111111"/>
                </a:solidFill>
                <a:latin typeface="Calibri"/>
                <a:ea typeface="Calibri"/>
                <a:cs typeface="Calibri"/>
              </a:defRPr>
            </a:pPr>
            <a:r>
              <a:rPr sz="1800" b="1">
                <a:solidFill>
                  <a:srgbClr val="FF0000"/>
                </a:solidFill>
                <a:latin typeface="Calibri"/>
                <a:ea typeface="Calibri"/>
                <a:cs typeface="Calibri"/>
              </a:rPr>
              <a:t>Down / up Transformer</a:t>
            </a:r>
          </a:p>
        </p:txBody>
      </p:sp>
      <p:sp>
        <p:nvSpPr>
          <p:cNvPr id="5" name="Mermaid network V">
            <a:extLst>
              <a:ext uri="{FF2B5EF4-FFF2-40B4-BE49-F238E27FC236}">
                <a16:creationId xmlns:a16="http://schemas.microsoft.com/office/drawing/2014/main" id="{8A7E62B4-AAEF-4378-9921-6334E40ACA55}"/>
              </a:ext>
            </a:extLst>
          </p:cNvPr>
          <p:cNvSpPr>
            <a:spLocks noGrp="1"/>
          </p:cNvSpPr>
          <p:nvPr/>
        </p:nvSpPr>
        <p:spPr>
          <a:xfrm>
            <a:off x="7856629" y="1610304"/>
            <a:ext cx="2933334" cy="1016489"/>
          </a:xfrm>
          <a:prstGeom prst="rect">
            <a:avLst/>
          </a:prstGeom>
          <a:solidFill>
            <a:srgbClr val="F3F3F3"/>
          </a:solidFill>
          <a:ln w="12383">
            <a:solidFill>
              <a:srgbClr val="B8B8B8"/>
            </a:solidFill>
          </a:ln>
        </p:spPr>
        <p:txBody>
          <a:bodyPr lIns="66675" tIns="38100" rIns="66675" bIns="38100" anchor="ctr">
            <a:noAutofit/>
          </a:bodyPr>
          <a:lstStyle/>
          <a:p>
            <a:pPr algn="ctr">
              <a:buNone/>
              <a:defRPr sz="1800" b="1">
                <a:solidFill>
                  <a:srgbClr val="111111"/>
                </a:solidFill>
                <a:latin typeface="Calibri"/>
                <a:ea typeface="Calibri"/>
                <a:cs typeface="Calibri"/>
              </a:defRPr>
            </a:pPr>
            <a:r>
              <a:rPr sz="1800" b="1">
                <a:solidFill>
                  <a:srgbClr val="FF0000"/>
                </a:solidFill>
                <a:latin typeface="Calibri"/>
                <a:ea typeface="Calibri"/>
                <a:cs typeface="Calibri"/>
              </a:rPr>
              <a:t>Reconstructed</a:t>
            </a:r>
          </a:p>
          <a:p>
            <a:pPr algn="ctr">
              <a:buNone/>
              <a:defRPr sz="1800" b="1">
                <a:solidFill>
                  <a:srgbClr val="111111"/>
                </a:solidFill>
                <a:latin typeface="Calibri"/>
                <a:ea typeface="Calibri"/>
                <a:cs typeface="Calibri"/>
              </a:defRPr>
            </a:pPr>
            <a:r>
              <a:rPr sz="1800" b="1">
                <a:solidFill>
                  <a:srgbClr val="FF0000"/>
                </a:solidFill>
                <a:latin typeface="Calibri"/>
                <a:ea typeface="Calibri"/>
                <a:cs typeface="Calibri"/>
              </a:rPr>
              <a:t>ViT guides V</a:t>
            </a:r>
          </a:p>
        </p:txBody>
      </p:sp>
      <p:sp>
        <p:nvSpPr>
          <p:cNvPr id="6" name="Mermaid network C">
            <a:extLst>
              <a:ext uri="{FF2B5EF4-FFF2-40B4-BE49-F238E27FC236}">
                <a16:creationId xmlns:a16="http://schemas.microsoft.com/office/drawing/2014/main" id="{1748F5D5-E638-4D24-BD13-919CE13FEEC7}"/>
              </a:ext>
            </a:extLst>
          </p:cNvPr>
          <p:cNvSpPr>
            <a:spLocks noGrp="1"/>
          </p:cNvSpPr>
          <p:nvPr/>
        </p:nvSpPr>
        <p:spPr>
          <a:xfrm>
            <a:off x="1402038" y="2920755"/>
            <a:ext cx="2933334" cy="1016489"/>
          </a:xfrm>
          <a:prstGeom prst="rect">
            <a:avLst/>
          </a:prstGeom>
          <a:solidFill>
            <a:srgbClr val="F3F3F3"/>
          </a:solidFill>
          <a:ln w="12383">
            <a:solidFill>
              <a:srgbClr val="B8B8B8"/>
            </a:solidFill>
          </a:ln>
        </p:spPr>
        <p:txBody>
          <a:bodyPr lIns="66675" tIns="38100" rIns="66675" bIns="38100" anchor="ctr">
            <a:noAutofit/>
          </a:bodyPr>
          <a:lstStyle/>
          <a:p>
            <a:pPr algn="ctr">
              <a:buNone/>
              <a:defRPr sz="1800" b="1">
                <a:solidFill>
                  <a:srgbClr val="111111"/>
                </a:solidFill>
                <a:latin typeface="Calibri"/>
                <a:ea typeface="Calibri"/>
                <a:cs typeface="Calibri"/>
              </a:defRPr>
            </a:pPr>
            <a:r>
              <a:rPr sz="1800" b="1">
                <a:solidFill>
                  <a:srgbClr val="FF0000"/>
                </a:solidFill>
                <a:latin typeface="Calibri"/>
                <a:ea typeface="Calibri"/>
                <a:cs typeface="Calibri"/>
              </a:rPr>
              <a:t>Chest X-ray</a:t>
            </a:r>
          </a:p>
          <a:p>
            <a:pPr algn="ctr">
              <a:buNone/>
              <a:defRPr sz="1800" b="1">
                <a:solidFill>
                  <a:srgbClr val="111111"/>
                </a:solidFill>
                <a:latin typeface="Calibri"/>
                <a:ea typeface="Calibri"/>
                <a:cs typeface="Calibri"/>
              </a:defRPr>
            </a:pPr>
            <a:r>
              <a:rPr sz="1800" b="1">
                <a:solidFill>
                  <a:srgbClr val="FF0000"/>
                </a:solidFill>
                <a:latin typeface="Calibri"/>
                <a:ea typeface="Calibri"/>
                <a:cs typeface="Calibri"/>
              </a:rPr>
              <a:t>CNN encoder C</a:t>
            </a:r>
          </a:p>
        </p:txBody>
      </p:sp>
      <p:sp>
        <p:nvSpPr>
          <p:cNvPr id="7" name="Mermaid network R">
            <a:extLst>
              <a:ext uri="{FF2B5EF4-FFF2-40B4-BE49-F238E27FC236}">
                <a16:creationId xmlns:a16="http://schemas.microsoft.com/office/drawing/2014/main" id="{5FD8131E-56FB-41DA-BFEB-DD1665FDDEE2}"/>
              </a:ext>
            </a:extLst>
          </p:cNvPr>
          <p:cNvSpPr>
            <a:spLocks noGrp="1"/>
          </p:cNvSpPr>
          <p:nvPr/>
        </p:nvSpPr>
        <p:spPr>
          <a:xfrm>
            <a:off x="4629333" y="2920755"/>
            <a:ext cx="2933334" cy="1016489"/>
          </a:xfrm>
          <a:prstGeom prst="rect">
            <a:avLst/>
          </a:prstGeom>
          <a:solidFill>
            <a:srgbClr val="111111"/>
          </a:solidFill>
          <a:ln w="12383">
            <a:solidFill>
              <a:srgbClr val="111111"/>
            </a:solidFill>
          </a:ln>
        </p:spPr>
        <p:txBody>
          <a:bodyPr lIns="66675" tIns="38100" rIns="66675" bIns="38100" anchor="ctr">
            <a:noAutofit/>
          </a:bodyPr>
          <a:lstStyle/>
          <a:p>
            <a:pPr algn="ctr">
              <a:buNone/>
              <a:defRPr sz="1800" b="1">
                <a:solidFill>
                  <a:srgbClr val="FFFFFF"/>
                </a:solidFill>
                <a:latin typeface="Calibri"/>
                <a:ea typeface="Calibri"/>
                <a:cs typeface="Calibri"/>
              </a:defRPr>
            </a:pPr>
            <a:r>
              <a:rPr sz="1800" b="1">
                <a:solidFill>
                  <a:srgbClr val="FF0000"/>
                </a:solidFill>
                <a:latin typeface="Calibri"/>
                <a:ea typeface="Calibri"/>
                <a:cs typeface="Calibri"/>
              </a:rPr>
              <a:t>RACE · contribution 2</a:t>
            </a:r>
          </a:p>
          <a:p>
            <a:pPr algn="ctr">
              <a:buNone/>
              <a:defRPr sz="1800" b="1">
                <a:solidFill>
                  <a:srgbClr val="FFFFFF"/>
                </a:solidFill>
                <a:latin typeface="Calibri"/>
                <a:ea typeface="Calibri"/>
                <a:cs typeface="Calibri"/>
              </a:defRPr>
            </a:pPr>
            <a:r>
              <a:rPr sz="1800" b="1">
                <a:solidFill>
                  <a:srgbClr val="FF0000"/>
                </a:solidFill>
                <a:latin typeface="Calibri"/>
                <a:ea typeface="Calibri"/>
                <a:cs typeface="Calibri"/>
              </a:rPr>
              <a:t>Four skip routes C → C′</a:t>
            </a:r>
          </a:p>
        </p:txBody>
      </p:sp>
      <p:sp>
        <p:nvSpPr>
          <p:cNvPr id="8" name="Mermaid network F">
            <a:extLst>
              <a:ext uri="{FF2B5EF4-FFF2-40B4-BE49-F238E27FC236}">
                <a16:creationId xmlns:a16="http://schemas.microsoft.com/office/drawing/2014/main" id="{6F45F573-79B2-4D51-BD2F-E5DE8138A816}"/>
              </a:ext>
            </a:extLst>
          </p:cNvPr>
          <p:cNvSpPr>
            <a:spLocks noGrp="1"/>
          </p:cNvSpPr>
          <p:nvPr/>
        </p:nvSpPr>
        <p:spPr>
          <a:xfrm>
            <a:off x="7856629" y="2920755"/>
            <a:ext cx="2933334" cy="1016489"/>
          </a:xfrm>
          <a:prstGeom prst="rect">
            <a:avLst/>
          </a:prstGeom>
          <a:solidFill>
            <a:srgbClr val="111111"/>
          </a:solidFill>
          <a:ln w="12383">
            <a:solidFill>
              <a:srgbClr val="111111"/>
            </a:solidFill>
          </a:ln>
        </p:spPr>
        <p:txBody>
          <a:bodyPr lIns="66675" tIns="38100" rIns="66675" bIns="38100" anchor="ctr">
            <a:noAutofit/>
          </a:bodyPr>
          <a:lstStyle/>
          <a:p>
            <a:pPr algn="ctr">
              <a:buNone/>
              <a:defRPr sz="1800" b="1">
                <a:solidFill>
                  <a:srgbClr val="FFFFFF"/>
                </a:solidFill>
                <a:latin typeface="Calibri"/>
                <a:ea typeface="Calibri"/>
                <a:cs typeface="Calibri"/>
              </a:defRPr>
            </a:pPr>
            <a:r>
              <a:rPr sz="1800" b="1">
                <a:solidFill>
                  <a:srgbClr val="FF0000"/>
                </a:solidFill>
                <a:latin typeface="Calibri"/>
                <a:ea typeface="Calibri"/>
                <a:cs typeface="Calibri"/>
              </a:rPr>
              <a:t>FSDR · contribution 1</a:t>
            </a:r>
          </a:p>
          <a:p>
            <a:pPr algn="ctr">
              <a:buNone/>
              <a:defRPr sz="1800" b="1">
                <a:solidFill>
                  <a:srgbClr val="FFFFFF"/>
                </a:solidFill>
                <a:latin typeface="Calibri"/>
                <a:ea typeface="Calibri"/>
                <a:cs typeface="Calibri"/>
              </a:defRPr>
            </a:pPr>
            <a:r>
              <a:rPr sz="1800" b="1">
                <a:solidFill>
                  <a:srgbClr val="FF0000"/>
                </a:solidFill>
                <a:latin typeface="Calibri"/>
                <a:ea typeface="Calibri"/>
                <a:cs typeface="Calibri"/>
              </a:rPr>
              <a:t>Inputs: C′, V, D, T</a:t>
            </a:r>
          </a:p>
        </p:txBody>
      </p:sp>
      <p:sp>
        <p:nvSpPr>
          <p:cNvPr id="9" name="Mermaid network B">
            <a:extLst>
              <a:ext uri="{FF2B5EF4-FFF2-40B4-BE49-F238E27FC236}">
                <a16:creationId xmlns:a16="http://schemas.microsoft.com/office/drawing/2014/main" id="{90CE383E-FF01-41EB-A0C7-47258A430043}"/>
              </a:ext>
            </a:extLst>
          </p:cNvPr>
          <p:cNvSpPr>
            <a:spLocks noGrp="1"/>
          </p:cNvSpPr>
          <p:nvPr/>
        </p:nvSpPr>
        <p:spPr>
          <a:xfrm>
            <a:off x="1402038" y="4231206"/>
            <a:ext cx="2933334" cy="1016489"/>
          </a:xfrm>
          <a:prstGeom prst="rect">
            <a:avLst/>
          </a:prstGeom>
          <a:solidFill>
            <a:srgbClr val="F3F3F3"/>
          </a:solidFill>
          <a:ln w="12383">
            <a:solidFill>
              <a:srgbClr val="B8B8B8"/>
            </a:solidFill>
          </a:ln>
        </p:spPr>
        <p:txBody>
          <a:bodyPr lIns="66675" tIns="38100" rIns="66675" bIns="38100" anchor="ctr">
            <a:noAutofit/>
          </a:bodyPr>
          <a:lstStyle/>
          <a:p>
            <a:pPr algn="ctr">
              <a:buNone/>
              <a:defRPr sz="1800" b="1">
                <a:solidFill>
                  <a:srgbClr val="111111"/>
                </a:solidFill>
                <a:latin typeface="Calibri"/>
                <a:ea typeface="Calibri"/>
                <a:cs typeface="Calibri"/>
              </a:defRPr>
            </a:pPr>
            <a:r>
              <a:rPr sz="1800" b="1">
                <a:solidFill>
                  <a:srgbClr val="FF0000"/>
                </a:solidFill>
                <a:latin typeface="Calibri"/>
                <a:ea typeface="Calibri"/>
                <a:cs typeface="Calibri"/>
              </a:rPr>
              <a:t>CNN bottleneck</a:t>
            </a:r>
          </a:p>
        </p:txBody>
      </p:sp>
      <p:sp>
        <p:nvSpPr>
          <p:cNvPr id="10" name="Mermaid network U">
            <a:extLst>
              <a:ext uri="{FF2B5EF4-FFF2-40B4-BE49-F238E27FC236}">
                <a16:creationId xmlns:a16="http://schemas.microsoft.com/office/drawing/2014/main" id="{CB3721D2-A5E4-4F81-8204-385012E22D77}"/>
              </a:ext>
            </a:extLst>
          </p:cNvPr>
          <p:cNvSpPr>
            <a:spLocks noGrp="1"/>
          </p:cNvSpPr>
          <p:nvPr/>
        </p:nvSpPr>
        <p:spPr>
          <a:xfrm>
            <a:off x="4629333" y="4231206"/>
            <a:ext cx="2933334" cy="1016489"/>
          </a:xfrm>
          <a:prstGeom prst="rect">
            <a:avLst/>
          </a:prstGeom>
          <a:solidFill>
            <a:srgbClr val="F3F3F3"/>
          </a:solidFill>
          <a:ln w="12383">
            <a:solidFill>
              <a:srgbClr val="B8B8B8"/>
            </a:solidFill>
          </a:ln>
        </p:spPr>
        <p:txBody>
          <a:bodyPr lIns="66675" tIns="38100" rIns="66675" bIns="38100" anchor="ctr">
            <a:noAutofit/>
          </a:bodyPr>
          <a:lstStyle/>
          <a:p>
            <a:pPr algn="ctr">
              <a:buNone/>
              <a:defRPr sz="1800" b="1">
                <a:solidFill>
                  <a:srgbClr val="111111"/>
                </a:solidFill>
                <a:latin typeface="Calibri"/>
                <a:ea typeface="Calibri"/>
                <a:cs typeface="Calibri"/>
              </a:defRPr>
            </a:pPr>
            <a:r>
              <a:rPr sz="1800" b="1">
                <a:solidFill>
                  <a:srgbClr val="FF0000"/>
                </a:solidFill>
                <a:latin typeface="Calibri"/>
                <a:ea typeface="Calibri"/>
                <a:cs typeface="Calibri"/>
              </a:rPr>
              <a:t>Upsampled decoder D</a:t>
            </a:r>
          </a:p>
        </p:txBody>
      </p:sp>
      <p:sp>
        <p:nvSpPr>
          <p:cNvPr id="11" name="Mermaid network O">
            <a:extLst>
              <a:ext uri="{FF2B5EF4-FFF2-40B4-BE49-F238E27FC236}">
                <a16:creationId xmlns:a16="http://schemas.microsoft.com/office/drawing/2014/main" id="{EE1DED60-B295-4C1B-8A6A-93DD1A5CDB17}"/>
              </a:ext>
            </a:extLst>
          </p:cNvPr>
          <p:cNvSpPr>
            <a:spLocks noGrp="1"/>
          </p:cNvSpPr>
          <p:nvPr/>
        </p:nvSpPr>
        <p:spPr>
          <a:xfrm>
            <a:off x="7856629" y="4231206"/>
            <a:ext cx="2933334" cy="1016489"/>
          </a:xfrm>
          <a:prstGeom prst="rect">
            <a:avLst/>
          </a:prstGeom>
          <a:solidFill>
            <a:srgbClr val="F3F3F3"/>
          </a:solidFill>
          <a:ln w="12383">
            <a:solidFill>
              <a:srgbClr val="B8B8B8"/>
            </a:solidFill>
          </a:ln>
        </p:spPr>
        <p:txBody>
          <a:bodyPr lIns="66675" tIns="38100" rIns="66675" bIns="38100" anchor="ctr">
            <a:noAutofit/>
          </a:bodyPr>
          <a:lstStyle/>
          <a:p>
            <a:pPr algn="ctr">
              <a:buNone/>
              <a:defRPr sz="1800" b="1">
                <a:solidFill>
                  <a:srgbClr val="111111"/>
                </a:solidFill>
                <a:latin typeface="Calibri"/>
                <a:ea typeface="Calibri"/>
                <a:cs typeface="Calibri"/>
              </a:defRPr>
            </a:pPr>
            <a:r>
              <a:rPr sz="1800" b="1">
                <a:solidFill>
                  <a:srgbClr val="FF0000"/>
                </a:solidFill>
                <a:latin typeface="Calibri"/>
                <a:ea typeface="Calibri"/>
                <a:cs typeface="Calibri"/>
              </a:rPr>
              <a:t>Concat + CNN decoder</a:t>
            </a:r>
          </a:p>
          <a:p>
            <a:pPr algn="ctr">
              <a:buNone/>
              <a:defRPr sz="1800" b="1">
                <a:solidFill>
                  <a:srgbClr val="111111"/>
                </a:solidFill>
                <a:latin typeface="Calibri"/>
                <a:ea typeface="Calibri"/>
                <a:cs typeface="Calibri"/>
              </a:defRPr>
            </a:pPr>
            <a:r>
              <a:rPr sz="1800" b="1">
                <a:solidFill>
                  <a:srgbClr val="FF0000"/>
                </a:solidFill>
                <a:latin typeface="Calibri"/>
                <a:ea typeface="Calibri"/>
                <a:cs typeface="Calibri"/>
              </a:rPr>
              <a:t>Segmentation output</a:t>
            </a:r>
          </a:p>
        </p:txBody>
      </p:sp>
      <p:cxnSp>
        <p:nvCxnSpPr>
          <p:cNvPr id="58" name="直接箭头连接符 57"/>
          <p:cNvCxnSpPr>
            <a:stCxn id="3" idx="3"/>
            <a:endCxn id="4" idx="1"/>
          </p:cNvCxnSpPr>
          <p:nvPr/>
        </p:nvCxnSpPr>
        <p:spPr>
          <a:xfrm>
            <a:off x="4335372" y="2118549"/>
            <a:ext cx="293961" cy="0"/>
          </a:xfrm>
          <a:prstGeom prst="straightConnector1">
            <a:avLst/>
          </a:prstGeom>
          <a:ln w="17145">
            <a:solidFill>
              <a:srgbClr val="606060"/>
            </a:solidFill>
            <a:tailEnd type="arrow" w="med" len="med"/>
          </a:ln>
        </p:spPr>
      </p:cxnSp>
      <p:cxnSp>
        <p:nvCxnSpPr>
          <p:cNvPr id="59" name="直接箭头连接符 58"/>
          <p:cNvCxnSpPr>
            <a:stCxn id="4" idx="3"/>
            <a:endCxn id="5" idx="1"/>
          </p:cNvCxnSpPr>
          <p:nvPr/>
        </p:nvCxnSpPr>
        <p:spPr>
          <a:xfrm>
            <a:off x="7562667" y="2118549"/>
            <a:ext cx="293962" cy="0"/>
          </a:xfrm>
          <a:prstGeom prst="straightConnector1">
            <a:avLst/>
          </a:prstGeom>
          <a:ln w="17145">
            <a:solidFill>
              <a:srgbClr val="606060"/>
            </a:solidFill>
            <a:tailEnd type="arrow" w="med" len="med"/>
          </a:ln>
        </p:spPr>
      </p:cxnSp>
      <p:cxnSp>
        <p:nvCxnSpPr>
          <p:cNvPr id="60" name="直接箭头连接符 59"/>
          <p:cNvCxnSpPr>
            <a:stCxn id="6" idx="0"/>
            <a:endCxn id="4" idx="2"/>
          </p:cNvCxnSpPr>
          <p:nvPr/>
        </p:nvCxnSpPr>
        <p:spPr>
          <a:xfrm flipV="1">
            <a:off x="2868705" y="2626793"/>
            <a:ext cx="3227295" cy="293962"/>
          </a:xfrm>
          <a:prstGeom prst="straightConnector1">
            <a:avLst/>
          </a:prstGeom>
          <a:ln w="17145">
            <a:solidFill>
              <a:srgbClr val="606060"/>
            </a:solidFill>
            <a:tailEnd type="arrow" w="med" len="med"/>
          </a:ln>
        </p:spPr>
      </p:cxnSp>
      <p:cxnSp>
        <p:nvCxnSpPr>
          <p:cNvPr id="61" name="直接箭头连接符 60"/>
          <p:cNvCxnSpPr>
            <a:stCxn id="6" idx="3"/>
            <a:endCxn id="7" idx="1"/>
          </p:cNvCxnSpPr>
          <p:nvPr/>
        </p:nvCxnSpPr>
        <p:spPr>
          <a:xfrm>
            <a:off x="4335372" y="3429000"/>
            <a:ext cx="293961" cy="0"/>
          </a:xfrm>
          <a:prstGeom prst="straightConnector1">
            <a:avLst/>
          </a:prstGeom>
          <a:ln w="17145">
            <a:solidFill>
              <a:srgbClr val="606060"/>
            </a:solidFill>
            <a:tailEnd type="arrow" w="med" len="med"/>
          </a:ln>
        </p:spPr>
      </p:cxnSp>
      <p:cxnSp>
        <p:nvCxnSpPr>
          <p:cNvPr id="62" name="直接箭头连接符 61"/>
          <p:cNvCxnSpPr>
            <a:stCxn id="3" idx="2"/>
            <a:endCxn id="7" idx="0"/>
          </p:cNvCxnSpPr>
          <p:nvPr/>
        </p:nvCxnSpPr>
        <p:spPr>
          <a:xfrm>
            <a:off x="2868705" y="2626793"/>
            <a:ext cx="3227295" cy="293962"/>
          </a:xfrm>
          <a:prstGeom prst="straightConnector1">
            <a:avLst/>
          </a:prstGeom>
          <a:ln w="17145">
            <a:solidFill>
              <a:srgbClr val="606060"/>
            </a:solidFill>
            <a:tailEnd type="arrow" w="med" len="med"/>
          </a:ln>
        </p:spPr>
      </p:cxnSp>
      <p:cxnSp>
        <p:nvCxnSpPr>
          <p:cNvPr id="63" name="直接箭头连接符 62"/>
          <p:cNvCxnSpPr>
            <a:stCxn id="7" idx="3"/>
            <a:endCxn id="8" idx="1"/>
          </p:cNvCxnSpPr>
          <p:nvPr/>
        </p:nvCxnSpPr>
        <p:spPr>
          <a:xfrm>
            <a:off x="7562667" y="3429000"/>
            <a:ext cx="293962" cy="0"/>
          </a:xfrm>
          <a:prstGeom prst="straightConnector1">
            <a:avLst/>
          </a:prstGeom>
          <a:ln w="17145">
            <a:solidFill>
              <a:srgbClr val="606060"/>
            </a:solidFill>
            <a:tailEnd type="arrow" w="med" len="med"/>
          </a:ln>
        </p:spPr>
      </p:cxnSp>
      <p:cxnSp>
        <p:nvCxnSpPr>
          <p:cNvPr id="64" name="直接箭头连接符 63"/>
          <p:cNvCxnSpPr>
            <a:stCxn id="5" idx="2"/>
            <a:endCxn id="8" idx="0"/>
          </p:cNvCxnSpPr>
          <p:nvPr/>
        </p:nvCxnSpPr>
        <p:spPr>
          <a:xfrm>
            <a:off x="9323296" y="2626793"/>
            <a:ext cx="0" cy="293962"/>
          </a:xfrm>
          <a:prstGeom prst="straightConnector1">
            <a:avLst/>
          </a:prstGeom>
          <a:ln w="17145">
            <a:solidFill>
              <a:srgbClr val="606060"/>
            </a:solidFill>
            <a:tailEnd type="arrow" w="med" len="med"/>
          </a:ln>
        </p:spPr>
      </p:cxnSp>
      <p:cxnSp>
        <p:nvCxnSpPr>
          <p:cNvPr id="65" name="直接箭头连接符 64"/>
          <p:cNvCxnSpPr>
            <a:stCxn id="6" idx="2"/>
            <a:endCxn id="9" idx="0"/>
          </p:cNvCxnSpPr>
          <p:nvPr/>
        </p:nvCxnSpPr>
        <p:spPr>
          <a:xfrm>
            <a:off x="2868705" y="3937244"/>
            <a:ext cx="0" cy="293962"/>
          </a:xfrm>
          <a:prstGeom prst="straightConnector1">
            <a:avLst/>
          </a:prstGeom>
          <a:ln w="17145">
            <a:solidFill>
              <a:srgbClr val="606060"/>
            </a:solidFill>
            <a:tailEnd type="arrow" w="med" len="med"/>
          </a:ln>
        </p:spPr>
      </p:cxnSp>
      <p:cxnSp>
        <p:nvCxnSpPr>
          <p:cNvPr id="66" name="直接箭头连接符 65"/>
          <p:cNvCxnSpPr>
            <a:stCxn id="9" idx="3"/>
            <a:endCxn id="10" idx="1"/>
          </p:cNvCxnSpPr>
          <p:nvPr/>
        </p:nvCxnSpPr>
        <p:spPr>
          <a:xfrm>
            <a:off x="4335372" y="4739451"/>
            <a:ext cx="293961" cy="0"/>
          </a:xfrm>
          <a:prstGeom prst="straightConnector1">
            <a:avLst/>
          </a:prstGeom>
          <a:ln w="17145">
            <a:solidFill>
              <a:srgbClr val="606060"/>
            </a:solidFill>
            <a:tailEnd type="arrow" w="med" len="med"/>
          </a:ln>
        </p:spPr>
      </p:cxnSp>
      <p:cxnSp>
        <p:nvCxnSpPr>
          <p:cNvPr id="67" name="直接箭头连接符 66"/>
          <p:cNvCxnSpPr>
            <a:stCxn id="10" idx="0"/>
            <a:endCxn id="8" idx="2"/>
          </p:cNvCxnSpPr>
          <p:nvPr/>
        </p:nvCxnSpPr>
        <p:spPr>
          <a:xfrm flipV="1">
            <a:off x="6096000" y="3937244"/>
            <a:ext cx="3227296" cy="293962"/>
          </a:xfrm>
          <a:prstGeom prst="straightConnector1">
            <a:avLst/>
          </a:prstGeom>
          <a:ln w="17145">
            <a:solidFill>
              <a:srgbClr val="606060"/>
            </a:solidFill>
            <a:tailEnd type="arrow" w="med" len="med"/>
          </a:ln>
        </p:spPr>
      </p:cxnSp>
      <p:cxnSp>
        <p:nvCxnSpPr>
          <p:cNvPr id="68" name="直接箭头连接符 67"/>
          <p:cNvCxnSpPr>
            <a:stCxn id="8" idx="2"/>
            <a:endCxn id="11" idx="0"/>
          </p:cNvCxnSpPr>
          <p:nvPr/>
        </p:nvCxnSpPr>
        <p:spPr>
          <a:xfrm>
            <a:off x="9323296" y="3937244"/>
            <a:ext cx="0" cy="293962"/>
          </a:xfrm>
          <a:prstGeom prst="straightConnector1">
            <a:avLst/>
          </a:prstGeom>
          <a:ln w="17145">
            <a:solidFill>
              <a:srgbClr val="606060"/>
            </a:solidFill>
            <a:tailEnd type="arrow" w="med" len="med"/>
          </a:ln>
        </p:spPr>
      </p:cxnSp>
      <p:sp>
        <p:nvSpPr>
          <p:cNvPr id="23" name="RACE refines four CNN skips before FSDR; the ViT g">
            <a:extLst>
              <a:ext uri="{FF2B5EF4-FFF2-40B4-BE49-F238E27FC236}">
                <a16:creationId xmlns:a16="http://schemas.microsoft.com/office/drawing/2014/main" id="{4E63DDBE-E568-4C2F-9094-55D88DED2382}"/>
              </a:ext>
            </a:extLst>
          </p:cNvPr>
          <p:cNvSpPr>
            <a:spLocks noGrp="1"/>
          </p:cNvSpPr>
          <p:nvPr/>
        </p:nvSpPr>
        <p:spPr>
          <a:xfrm>
            <a:off x="638175" y="5467350"/>
            <a:ext cx="10915650" cy="352425"/>
          </a:xfrm>
          <a:prstGeom prst="rect">
            <a:avLst/>
          </a:prstGeom>
          <a:noFill/>
          <a:ln w="0">
            <a:noFill/>
          </a:ln>
        </p:spPr>
        <p:txBody>
          <a:bodyPr wrap="square" lIns="0" tIns="0" rIns="0" bIns="0" anchor="t">
            <a:noAutofit/>
          </a:bodyPr>
          <a:lstStyle/>
          <a:p>
            <a:pPr algn="l">
              <a:buNone/>
              <a:defRPr sz="2025" b="1">
                <a:solidFill>
                  <a:srgbClr val="111111"/>
                </a:solidFill>
                <a:latin typeface="Calibri"/>
                <a:ea typeface="Calibri"/>
                <a:cs typeface="Calibri"/>
              </a:defRPr>
            </a:pPr>
            <a:r>
              <a:rPr sz="2025" b="1">
                <a:solidFill>
                  <a:srgbClr val="111111"/>
                </a:solidFill>
                <a:latin typeface="Calibri"/>
                <a:ea typeface="Calibri"/>
                <a:cs typeface="Calibri"/>
              </a:rPr>
              <a:t>RACE refines four CNN skips before FSDR; the ViT guide path is retained.</a:t>
            </a:r>
          </a:p>
        </p:txBody>
      </p:sp>
      <p:sp>
        <p:nvSpPr>
          <p:cNvPr id="24" name="Repeated across four scales. D comes from the prec">
            <a:extLst>
              <a:ext uri="{FF2B5EF4-FFF2-40B4-BE49-F238E27FC236}">
                <a16:creationId xmlns:a16="http://schemas.microsoft.com/office/drawing/2014/main" id="{420964EF-BE74-4361-82AA-7974F18BCD65}"/>
              </a:ext>
            </a:extLst>
          </p:cNvPr>
          <p:cNvSpPr>
            <a:spLocks noGrp="1"/>
          </p:cNvSpPr>
          <p:nvPr/>
        </p:nvSpPr>
        <p:spPr>
          <a:xfrm>
            <a:off x="638175" y="5924550"/>
            <a:ext cx="10915650" cy="333375"/>
          </a:xfrm>
          <a:prstGeom prst="rect">
            <a:avLst/>
          </a:prstGeom>
          <a:noFill/>
          <a:ln w="0">
            <a:noFill/>
          </a:ln>
        </p:spPr>
        <p:txBody>
          <a:bodyPr wrap="square" lIns="0" tIns="0" rIns="0" bIns="0" anchor="t">
            <a:noAutofit/>
          </a:bodyPr>
          <a:lstStyle/>
          <a:p>
            <a:pPr algn="l">
              <a:buNone/>
              <a:defRPr sz="1725" b="0">
                <a:solidFill>
                  <a:srgbClr val="606060"/>
                </a:solidFill>
                <a:latin typeface="Calibri"/>
                <a:ea typeface="Calibri"/>
                <a:cs typeface="Calibri"/>
              </a:defRPr>
            </a:pPr>
            <a:r>
              <a:rPr sz="1725" b="0">
                <a:solidFill>
                  <a:srgbClr val="606060"/>
                </a:solidFill>
                <a:latin typeface="Calibri"/>
                <a:ea typeface="Calibri"/>
                <a:cs typeface="Calibri"/>
              </a:rPr>
              <a:t>Repeated across four scales. D comes from the preceding decoder stage; T also conditions FSDR.</a:t>
            </a:r>
          </a:p>
        </p:txBody>
      </p:sp>
      <p:sp>
        <p:nvSpPr>
          <p:cNvPr id="25" name="Overall architecture">
            <a:extLst>
              <a:ext uri="{FF2B5EF4-FFF2-40B4-BE49-F238E27FC236}">
                <a16:creationId xmlns:a16="http://schemas.microsoft.com/office/drawing/2014/main" id="{2CF85017-EBC4-47F4-AE6D-4432EB72C737}"/>
              </a:ext>
            </a:extLst>
          </p:cNvPr>
          <p:cNvSpPr>
            <a:spLocks noGrp="1"/>
          </p:cNvSpPr>
          <p:nvPr/>
        </p:nvSpPr>
        <p:spPr>
          <a:xfrm>
            <a:off x="638175" y="6467475"/>
            <a:ext cx="9906000" cy="190500"/>
          </a:xfrm>
          <a:prstGeom prst="rect">
            <a:avLst/>
          </a:prstGeom>
          <a:noFill/>
          <a:ln w="0">
            <a:noFill/>
          </a:ln>
        </p:spPr>
        <p:txBody>
          <a:bodyPr wrap="square" lIns="0" tIns="0" rIns="0" bIns="0" anchor="t">
            <a:noAutofit/>
          </a:bodyPr>
          <a:lstStyle/>
          <a:p>
            <a:pPr algn="l">
              <a:buNone/>
              <a:defRPr sz="900" b="0">
                <a:solidFill>
                  <a:srgbClr val="999999"/>
                </a:solidFill>
                <a:latin typeface="Calibri"/>
                <a:ea typeface="Calibri"/>
                <a:cs typeface="Calibri"/>
              </a:defRPr>
            </a:pPr>
            <a:r>
              <a:rPr sz="900" b="0">
                <a:solidFill>
                  <a:srgbClr val="999999"/>
                </a:solidFill>
                <a:latin typeface="Calibri"/>
                <a:ea typeface="Calibri"/>
                <a:cs typeface="Calibri"/>
              </a:rPr>
              <a:t>Overall architecture</a:t>
            </a:r>
          </a:p>
        </p:txBody>
      </p:sp>
      <p:sp>
        <p:nvSpPr>
          <p:cNvPr id="26" name="3">
            <a:extLst>
              <a:ext uri="{FF2B5EF4-FFF2-40B4-BE49-F238E27FC236}">
                <a16:creationId xmlns:a16="http://schemas.microsoft.com/office/drawing/2014/main" id="{B511541C-838E-4B01-A3B4-C13EF15BDDE8}"/>
              </a:ext>
            </a:extLst>
          </p:cNvPr>
          <p:cNvSpPr>
            <a:spLocks noGrp="1"/>
          </p:cNvSpPr>
          <p:nvPr/>
        </p:nvSpPr>
        <p:spPr>
          <a:xfrm>
            <a:off x="11144250" y="6467475"/>
            <a:ext cx="409575" cy="190500"/>
          </a:xfrm>
          <a:prstGeom prst="rect">
            <a:avLst/>
          </a:prstGeom>
          <a:noFill/>
          <a:ln w="0">
            <a:noFill/>
          </a:ln>
        </p:spPr>
        <p:txBody>
          <a:bodyPr wrap="square" lIns="0" tIns="0" rIns="0" bIns="0" anchor="t">
            <a:noAutofit/>
          </a:bodyPr>
          <a:lstStyle/>
          <a:p>
            <a:pPr algn="r">
              <a:buNone/>
              <a:defRPr sz="900" b="0">
                <a:solidFill>
                  <a:srgbClr val="999999"/>
                </a:solidFill>
                <a:latin typeface="Calibri"/>
                <a:ea typeface="Calibri"/>
                <a:cs typeface="Calibri"/>
              </a:defRPr>
            </a:pPr>
            <a:r>
              <a:rPr sz="900" b="0">
                <a:solidFill>
                  <a:srgbClr val="999999"/>
                </a:solidFill>
                <a:latin typeface="Calibri"/>
                <a:ea typeface="Calibri"/>
                <a:cs typeface="Calibri"/>
              </a:rPr>
              <a:t>3</a:t>
            </a:r>
          </a:p>
        </p:txBody>
      </p:sp>
    </p:spTree>
    <p:extLst>
      <p:ext uri="{BB962C8B-B14F-4D97-AF65-F5344CB8AC3E}">
        <p14:creationId xmlns:p14="http://schemas.microsoft.com/office/powerpoint/2010/main" val="694801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176A35E-2F94-4AA6-A7E9-0FA0361AB1C0}"/>
              </a:ext>
            </a:extLst>
          </p:cNvPr>
          <p:cNvSpPr>
            <a:spLocks noGrp="1"/>
          </p:cNvSpPr>
          <p:nvPr/>
        </p:nvSpPr>
        <p:spPr>
          <a:xfrm>
            <a:off x="640080" y="361950"/>
            <a:ext cx="10915650" cy="952500"/>
          </a:xfrm>
          <a:prstGeom prst="rect">
            <a:avLst/>
          </a:prstGeom>
          <a:noFill/>
        </p:spPr>
        <p:txBody>
          <a:bodyPr wrap="square" lIns="0" tIns="0" rIns="0" bIns="0" anchor="ctr">
            <a:noAutofit/>
          </a:bodyPr>
          <a:lstStyle/>
          <a:p>
            <a:pPr marL="0" indent="0">
              <a:buNone/>
              <a:defRPr sz="3000" b="1">
                <a:solidFill>
                  <a:srgbClr val="111111"/>
                </a:solidFill>
                <a:latin typeface="Cambria"/>
                <a:ea typeface="Cambria"/>
                <a:cs typeface="Cambria"/>
              </a:defRPr>
            </a:pPr>
            <a:r>
              <a:rPr sz="3000" b="1" dirty="0">
                <a:solidFill>
                  <a:srgbClr val="111111"/>
                </a:solidFill>
                <a:latin typeface="Cambria"/>
                <a:ea typeface="Cambria"/>
                <a:cs typeface="Cambria"/>
              </a:rPr>
              <a:t>Original LViT and the FSDR extension</a:t>
            </a:r>
            <a:endParaRPr sz="2800" dirty="0"/>
          </a:p>
        </p:txBody>
      </p:sp>
      <p:graphicFrame>
        <p:nvGraphicFramePr>
          <p:cNvPr id="14" name="表格 13"/>
          <p:cNvGraphicFramePr/>
          <p:nvPr/>
        </p:nvGraphicFramePr>
        <p:xfrm>
          <a:off x="638175" y="1676400"/>
          <a:ext cx="10915650" cy="3667125"/>
        </p:xfrm>
        <a:graphic>
          <a:graphicData uri="http://schemas.openxmlformats.org/drawingml/2006/table">
            <a:tbl>
              <a:tblPr/>
              <a:tblGrid>
                <a:gridCol w="2152650">
                  <a:extLst>
                    <a:ext uri="{9D8B030D-6E8A-4147-A177-3AD203B41FA5}">
                      <a16:colId xmlns:a16="http://schemas.microsoft.com/office/drawing/2014/main" val="20000"/>
                    </a:ext>
                  </a:extLst>
                </a:gridCol>
                <a:gridCol w="4171950">
                  <a:extLst>
                    <a:ext uri="{9D8B030D-6E8A-4147-A177-3AD203B41FA5}">
                      <a16:colId xmlns:a16="http://schemas.microsoft.com/office/drawing/2014/main" val="20001"/>
                    </a:ext>
                  </a:extLst>
                </a:gridCol>
                <a:gridCol w="4591050">
                  <a:extLst>
                    <a:ext uri="{9D8B030D-6E8A-4147-A177-3AD203B41FA5}">
                      <a16:colId xmlns:a16="http://schemas.microsoft.com/office/drawing/2014/main" val="20002"/>
                    </a:ext>
                  </a:extLst>
                </a:gridCol>
              </a:tblGrid>
              <a:tr h="733425">
                <a:tc>
                  <a:txBody>
                    <a:bodyPr/>
                    <a:lstStyle/>
                    <a:p>
                      <a:r>
                        <a:rPr sz="1800" b="1" dirty="0">
                          <a:solidFill>
                            <a:srgbClr val="FFFFFF"/>
                          </a:solidFill>
                          <a:latin typeface="Calibri"/>
                          <a:ea typeface="Calibri"/>
                          <a:cs typeface="Calibri"/>
                        </a:rPr>
                        <a:t>Aspect</a:t>
                      </a:r>
                    </a:p>
                  </a:txBody>
                  <a:tcPr marL="114300" marR="95250" marT="66675" marB="47625" anchor="ctr">
                    <a:solidFill>
                      <a:srgbClr val="111111"/>
                    </a:solidFill>
                  </a:tcPr>
                </a:tc>
                <a:tc>
                  <a:txBody>
                    <a:bodyPr/>
                    <a:lstStyle/>
                    <a:p>
                      <a:r>
                        <a:rPr sz="1800" b="1">
                          <a:solidFill>
                            <a:srgbClr val="FFFFFF"/>
                          </a:solidFill>
                          <a:latin typeface="Calibri"/>
                          <a:ea typeface="Calibri"/>
                          <a:cs typeface="Calibri"/>
                        </a:rPr>
                        <a:t>Original LViT fusion</a:t>
                      </a:r>
                    </a:p>
                  </a:txBody>
                  <a:tcPr marL="114300" marR="95250" marT="66675" marB="47625" anchor="ctr">
                    <a:solidFill>
                      <a:srgbClr val="111111"/>
                    </a:solidFill>
                  </a:tcPr>
                </a:tc>
                <a:tc>
                  <a:txBody>
                    <a:bodyPr/>
                    <a:lstStyle/>
                    <a:p>
                      <a:r>
                        <a:rPr sz="1800" b="1">
                          <a:solidFill>
                            <a:srgbClr val="FFFFFF"/>
                          </a:solidFill>
                          <a:latin typeface="Calibri"/>
                          <a:ea typeface="Calibri"/>
                          <a:cs typeface="Calibri"/>
                        </a:rPr>
                        <a:t>FSDR extension</a:t>
                      </a:r>
                    </a:p>
                  </a:txBody>
                  <a:tcPr marL="114300" marR="95250" marT="66675" marB="47625" anchor="ctr">
                    <a:solidFill>
                      <a:srgbClr val="111111"/>
                    </a:solidFill>
                  </a:tcPr>
                </a:tc>
                <a:extLst>
                  <a:ext uri="{0D108BD9-81ED-4DB2-BD59-A6C34878D82A}">
                    <a16:rowId xmlns:a16="http://schemas.microsoft.com/office/drawing/2014/main" val="10000"/>
                  </a:ext>
                </a:extLst>
              </a:tr>
              <a:tr h="733425">
                <a:tc>
                  <a:txBody>
                    <a:bodyPr/>
                    <a:lstStyle/>
                    <a:p>
                      <a:r>
                        <a:rPr sz="1800" b="0">
                          <a:solidFill>
                            <a:srgbClr val="111111"/>
                          </a:solidFill>
                          <a:latin typeface="Calibri"/>
                          <a:ea typeface="Calibri"/>
                          <a:cs typeface="Calibri"/>
                        </a:rPr>
                        <a:t>Feature backbone</a:t>
                      </a:r>
                    </a:p>
                  </a:txBody>
                  <a:tcPr marL="114300" marR="95250" marT="66675" marB="47625" anchor="ctr">
                    <a:solidFill>
                      <a:srgbClr val="FFFFFF"/>
                    </a:solidFill>
                  </a:tcPr>
                </a:tc>
                <a:tc>
                  <a:txBody>
                    <a:bodyPr/>
                    <a:lstStyle/>
                    <a:p>
                      <a:r>
                        <a:rPr sz="1800" b="0">
                          <a:solidFill>
                            <a:srgbClr val="111111"/>
                          </a:solidFill>
                          <a:latin typeface="Calibri"/>
                          <a:ea typeface="Calibri"/>
                          <a:cs typeface="Calibri"/>
                        </a:rPr>
                        <a:t>CNN + text-aware ViT</a:t>
                      </a:r>
                    </a:p>
                  </a:txBody>
                  <a:tcPr marL="114300" marR="95250" marT="66675" marB="47625" anchor="ctr">
                    <a:solidFill>
                      <a:srgbClr val="FFFFFF"/>
                    </a:solidFill>
                  </a:tcPr>
                </a:tc>
                <a:tc>
                  <a:txBody>
                    <a:bodyPr/>
                    <a:lstStyle/>
                    <a:p>
                      <a:r>
                        <a:rPr sz="1800" b="0">
                          <a:solidFill>
                            <a:srgbClr val="111111"/>
                          </a:solidFill>
                          <a:latin typeface="Calibri"/>
                          <a:ea typeface="Calibri"/>
                          <a:cs typeface="Calibri"/>
                        </a:rPr>
                        <a:t>Same hierarchical backbone</a:t>
                      </a:r>
                    </a:p>
                  </a:txBody>
                  <a:tcPr marL="114300" marR="95250" marT="66675" marB="47625" anchor="ctr">
                    <a:solidFill>
                      <a:srgbClr val="FFFFFF"/>
                    </a:solidFill>
                  </a:tcPr>
                </a:tc>
                <a:extLst>
                  <a:ext uri="{0D108BD9-81ED-4DB2-BD59-A6C34878D82A}">
                    <a16:rowId xmlns:a16="http://schemas.microsoft.com/office/drawing/2014/main" val="10001"/>
                  </a:ext>
                </a:extLst>
              </a:tr>
              <a:tr h="733425">
                <a:tc>
                  <a:txBody>
                    <a:bodyPr/>
                    <a:lstStyle/>
                    <a:p>
                      <a:r>
                        <a:rPr sz="1800" b="0">
                          <a:solidFill>
                            <a:srgbClr val="111111"/>
                          </a:solidFill>
                          <a:latin typeface="Calibri"/>
                          <a:ea typeface="Calibri"/>
                          <a:cs typeface="Calibri"/>
                        </a:rPr>
                        <a:t>Skip inputs</a:t>
                      </a:r>
                    </a:p>
                  </a:txBody>
                  <a:tcPr marL="114300" marR="95250" marT="66675" marB="47625" anchor="ctr">
                    <a:solidFill>
                      <a:srgbClr val="F3F3F3"/>
                    </a:solidFill>
                  </a:tcPr>
                </a:tc>
                <a:tc>
                  <a:txBody>
                    <a:bodyPr/>
                    <a:lstStyle/>
                    <a:p>
                      <a:r>
                        <a:rPr sz="1800" b="0">
                          <a:solidFill>
                            <a:srgbClr val="111111"/>
                          </a:solidFill>
                          <a:latin typeface="Calibri"/>
                          <a:ea typeface="Calibri"/>
                          <a:cs typeface="Calibri"/>
                        </a:rPr>
                        <a:t>CNN + ViT added first</a:t>
                      </a:r>
                    </a:p>
                  </a:txBody>
                  <a:tcPr marL="114300" marR="95250" marT="66675" marB="47625" anchor="ctr">
                    <a:solidFill>
                      <a:srgbClr val="F3F3F3"/>
                    </a:solidFill>
                  </a:tcPr>
                </a:tc>
                <a:tc>
                  <a:txBody>
                    <a:bodyPr/>
                    <a:lstStyle/>
                    <a:p>
                      <a:r>
                        <a:rPr sz="1800" b="0">
                          <a:solidFill>
                            <a:srgbClr val="111111"/>
                          </a:solidFill>
                          <a:latin typeface="Calibri"/>
                          <a:ea typeface="Calibri"/>
                          <a:cs typeface="Calibri"/>
                        </a:rPr>
                        <a:t>CNN, ViT, decoder and text kept separate</a:t>
                      </a:r>
                    </a:p>
                  </a:txBody>
                  <a:tcPr marL="114300" marR="95250" marT="66675" marB="47625" anchor="ctr">
                    <a:solidFill>
                      <a:srgbClr val="F3F3F3"/>
                    </a:solidFill>
                  </a:tcPr>
                </a:tc>
                <a:extLst>
                  <a:ext uri="{0D108BD9-81ED-4DB2-BD59-A6C34878D82A}">
                    <a16:rowId xmlns:a16="http://schemas.microsoft.com/office/drawing/2014/main" val="10002"/>
                  </a:ext>
                </a:extLst>
              </a:tr>
              <a:tr h="733425">
                <a:tc>
                  <a:txBody>
                    <a:bodyPr/>
                    <a:lstStyle/>
                    <a:p>
                      <a:r>
                        <a:rPr sz="1800" b="0">
                          <a:solidFill>
                            <a:srgbClr val="111111"/>
                          </a:solidFill>
                          <a:latin typeface="Calibri"/>
                          <a:ea typeface="Calibri"/>
                          <a:cs typeface="Calibri"/>
                        </a:rPr>
                        <a:t>Skip operation</a:t>
                      </a:r>
                    </a:p>
                  </a:txBody>
                  <a:tcPr marL="114300" marR="95250" marT="66675" marB="47625" anchor="ctr">
                    <a:solidFill>
                      <a:srgbClr val="FFFFFF"/>
                    </a:solidFill>
                  </a:tcPr>
                </a:tc>
                <a:tc>
                  <a:txBody>
                    <a:bodyPr/>
                    <a:lstStyle/>
                    <a:p>
                      <a:r>
                        <a:rPr sz="1800" b="0">
                          <a:solidFill>
                            <a:srgbClr val="111111"/>
                          </a:solidFill>
                          <a:latin typeface="Calibri"/>
                          <a:ea typeface="Calibri"/>
                          <a:cs typeface="Calibri"/>
                        </a:rPr>
                        <a:t>Pixel-wise scalar weighting</a:t>
                      </a:r>
                    </a:p>
                  </a:txBody>
                  <a:tcPr marL="114300" marR="95250" marT="66675" marB="47625" anchor="ctr">
                    <a:solidFill>
                      <a:srgbClr val="FFFFFF"/>
                    </a:solidFill>
                  </a:tcPr>
                </a:tc>
                <a:tc>
                  <a:txBody>
                    <a:bodyPr/>
                    <a:lstStyle/>
                    <a:p>
                      <a:r>
                        <a:rPr sz="1800" b="0">
                          <a:solidFill>
                            <a:srgbClr val="111111"/>
                          </a:solidFill>
                          <a:latin typeface="Calibri"/>
                          <a:ea typeface="Calibri"/>
                          <a:cs typeface="Calibri"/>
                        </a:rPr>
                        <a:t>Semantic and detail residual refinement</a:t>
                      </a:r>
                    </a:p>
                  </a:txBody>
                  <a:tcPr marL="114300" marR="95250" marT="66675" marB="47625" anchor="ctr">
                    <a:solidFill>
                      <a:srgbClr val="FFFFFF"/>
                    </a:solidFill>
                  </a:tcPr>
                </a:tc>
                <a:extLst>
                  <a:ext uri="{0D108BD9-81ED-4DB2-BD59-A6C34878D82A}">
                    <a16:rowId xmlns:a16="http://schemas.microsoft.com/office/drawing/2014/main" val="10003"/>
                  </a:ext>
                </a:extLst>
              </a:tr>
              <a:tr h="733425">
                <a:tc>
                  <a:txBody>
                    <a:bodyPr/>
                    <a:lstStyle/>
                    <a:p>
                      <a:r>
                        <a:rPr sz="1800" b="0">
                          <a:solidFill>
                            <a:srgbClr val="111111"/>
                          </a:solidFill>
                          <a:latin typeface="Calibri"/>
                          <a:ea typeface="Calibri"/>
                          <a:cs typeface="Calibri"/>
                        </a:rPr>
                        <a:t>Decoder role</a:t>
                      </a:r>
                    </a:p>
                  </a:txBody>
                  <a:tcPr marL="114300" marR="95250" marT="66675" marB="47625" anchor="ctr">
                    <a:solidFill>
                      <a:srgbClr val="F3F3F3"/>
                    </a:solidFill>
                  </a:tcPr>
                </a:tc>
                <a:tc>
                  <a:txBody>
                    <a:bodyPr/>
                    <a:lstStyle/>
                    <a:p>
                      <a:r>
                        <a:rPr sz="1800" b="0">
                          <a:solidFill>
                            <a:srgbClr val="111111"/>
                          </a:solidFill>
                          <a:latin typeface="Calibri"/>
                          <a:ea typeface="Calibri"/>
                          <a:cs typeface="Calibri"/>
                        </a:rPr>
                        <a:t>Concatenated after PLAM</a:t>
                      </a:r>
                    </a:p>
                  </a:txBody>
                  <a:tcPr marL="114300" marR="95250" marT="66675" marB="47625" anchor="ctr">
                    <a:solidFill>
                      <a:srgbClr val="F3F3F3"/>
                    </a:solidFill>
                  </a:tcPr>
                </a:tc>
                <a:tc>
                  <a:txBody>
                    <a:bodyPr/>
                    <a:lstStyle/>
                    <a:p>
                      <a:r>
                        <a:rPr sz="1800" b="0" dirty="0">
                          <a:solidFill>
                            <a:srgbClr val="111111"/>
                          </a:solidFill>
                          <a:latin typeface="Calibri"/>
                          <a:ea typeface="Calibri"/>
                          <a:cs typeface="Calibri"/>
                        </a:rPr>
                        <a:t>Guides refinement; adapted at coarse stages</a:t>
                      </a:r>
                    </a:p>
                  </a:txBody>
                  <a:tcPr marL="114300" marR="95250" marT="66675" marB="47625" anchor="ctr">
                    <a:solidFill>
                      <a:srgbClr val="F3F3F3"/>
                    </a:solidFill>
                  </a:tcPr>
                </a:tc>
                <a:extLst>
                  <a:ext uri="{0D108BD9-81ED-4DB2-BD59-A6C34878D82A}">
                    <a16:rowId xmlns:a16="http://schemas.microsoft.com/office/drawing/2014/main" val="10004"/>
                  </a:ext>
                </a:extLst>
              </a:tr>
            </a:tbl>
          </a:graphicData>
        </a:graphic>
      </p:graphicFrame>
      <p:sp>
        <p:nvSpPr>
          <p:cNvPr id="8" name="Performance controls use the project’s CXR-BERT implementati">
            <a:extLst>
              <a:ext uri="{FF2B5EF4-FFF2-40B4-BE49-F238E27FC236}">
                <a16:creationId xmlns:a16="http://schemas.microsoft.com/office/drawing/2014/main" id="{E80793D0-A496-4748-B26A-321753BA96C3}"/>
              </a:ext>
            </a:extLst>
          </p:cNvPr>
          <p:cNvSpPr>
            <a:spLocks noGrp="1"/>
          </p:cNvSpPr>
          <p:nvPr/>
        </p:nvSpPr>
        <p:spPr>
          <a:xfrm>
            <a:off x="638175" y="5619750"/>
            <a:ext cx="10915650" cy="638175"/>
          </a:xfrm>
          <a:prstGeom prst="rect">
            <a:avLst/>
          </a:prstGeom>
          <a:noFill/>
          <a:ln w="0">
            <a:noFill/>
          </a:ln>
        </p:spPr>
        <p:txBody>
          <a:bodyPr wrap="square" lIns="0" tIns="0" rIns="0" bIns="0" anchor="t">
            <a:noAutofit/>
          </a:bodyPr>
          <a:lstStyle/>
          <a:p>
            <a:pPr algn="l">
              <a:buNone/>
              <a:defRPr sz="1800" b="0">
                <a:solidFill>
                  <a:srgbClr val="606060"/>
                </a:solidFill>
                <a:latin typeface="Calibri"/>
                <a:ea typeface="Calibri"/>
                <a:cs typeface="Calibri"/>
              </a:defRPr>
            </a:pPr>
            <a:r>
              <a:rPr sz="1800" b="0">
                <a:solidFill>
                  <a:srgbClr val="606060"/>
                </a:solidFill>
                <a:latin typeface="Calibri"/>
                <a:ea typeface="Calibri"/>
                <a:cs typeface="Calibri"/>
              </a:rPr>
              <a:t>Performance controls use the project’s CXR-BERT implementation.</a:t>
            </a:r>
          </a:p>
          <a:p>
            <a:pPr algn="l">
              <a:buNone/>
              <a:defRPr sz="1800" b="0">
                <a:solidFill>
                  <a:srgbClr val="606060"/>
                </a:solidFill>
                <a:latin typeface="Calibri"/>
                <a:ea typeface="Calibri"/>
                <a:cs typeface="Calibri"/>
              </a:defRPr>
            </a:pPr>
            <a:r>
              <a:rPr sz="1800" b="0">
                <a:solidFill>
                  <a:srgbClr val="606060"/>
                </a:solidFill>
                <a:latin typeface="Calibri"/>
                <a:ea typeface="Calibri"/>
                <a:cs typeface="Calibri"/>
              </a:rPr>
              <a:t>They measure the fusion change within this setup, not published LViT scores.</a:t>
            </a:r>
          </a:p>
        </p:txBody>
      </p:sp>
      <p:sp>
        <p:nvSpPr>
          <p:cNvPr id="10" name="Original LViT comparison">
            <a:extLst>
              <a:ext uri="{FF2B5EF4-FFF2-40B4-BE49-F238E27FC236}">
                <a16:creationId xmlns:a16="http://schemas.microsoft.com/office/drawing/2014/main" id="{EAEE32F8-5863-4001-8059-FA7410823B74}"/>
              </a:ext>
            </a:extLst>
          </p:cNvPr>
          <p:cNvSpPr>
            <a:spLocks noGrp="1"/>
          </p:cNvSpPr>
          <p:nvPr/>
        </p:nvSpPr>
        <p:spPr>
          <a:xfrm>
            <a:off x="638175" y="6467475"/>
            <a:ext cx="9906000" cy="190500"/>
          </a:xfrm>
          <a:prstGeom prst="rect">
            <a:avLst/>
          </a:prstGeom>
          <a:noFill/>
          <a:ln w="0">
            <a:noFill/>
          </a:ln>
        </p:spPr>
        <p:txBody>
          <a:bodyPr wrap="square" lIns="0" tIns="0" rIns="0" bIns="0" anchor="t">
            <a:noAutofit/>
          </a:bodyPr>
          <a:lstStyle/>
          <a:p>
            <a:pPr algn="l">
              <a:buNone/>
              <a:defRPr sz="900" b="0">
                <a:solidFill>
                  <a:srgbClr val="999999"/>
                </a:solidFill>
                <a:latin typeface="Calibri"/>
                <a:ea typeface="Calibri"/>
                <a:cs typeface="Calibri"/>
              </a:defRPr>
            </a:pPr>
            <a:r>
              <a:rPr sz="900" b="0">
                <a:solidFill>
                  <a:srgbClr val="999999"/>
                </a:solidFill>
                <a:latin typeface="Calibri"/>
                <a:ea typeface="Calibri"/>
                <a:cs typeface="Calibri"/>
              </a:rPr>
              <a:t>Original LViT comparison</a:t>
            </a:r>
          </a:p>
        </p:txBody>
      </p:sp>
      <p:sp>
        <p:nvSpPr>
          <p:cNvPr id="11" name="4">
            <a:extLst>
              <a:ext uri="{FF2B5EF4-FFF2-40B4-BE49-F238E27FC236}">
                <a16:creationId xmlns:a16="http://schemas.microsoft.com/office/drawing/2014/main" id="{B21C6825-D8E8-49E1-ADFE-70DA27F50989}"/>
              </a:ext>
            </a:extLst>
          </p:cNvPr>
          <p:cNvSpPr>
            <a:spLocks noGrp="1"/>
          </p:cNvSpPr>
          <p:nvPr/>
        </p:nvSpPr>
        <p:spPr>
          <a:xfrm>
            <a:off x="11144250" y="6467475"/>
            <a:ext cx="409575" cy="190500"/>
          </a:xfrm>
          <a:prstGeom prst="rect">
            <a:avLst/>
          </a:prstGeom>
          <a:noFill/>
          <a:ln w="0">
            <a:noFill/>
          </a:ln>
        </p:spPr>
        <p:txBody>
          <a:bodyPr wrap="square" lIns="0" tIns="0" rIns="0" bIns="0" anchor="t">
            <a:noAutofit/>
          </a:bodyPr>
          <a:lstStyle/>
          <a:p>
            <a:pPr algn="r">
              <a:buNone/>
              <a:defRPr sz="900" b="0">
                <a:solidFill>
                  <a:srgbClr val="999999"/>
                </a:solidFill>
                <a:latin typeface="Calibri"/>
                <a:ea typeface="Calibri"/>
                <a:cs typeface="Calibri"/>
              </a:defRPr>
            </a:pPr>
            <a:r>
              <a:rPr sz="900" b="0">
                <a:solidFill>
                  <a:srgbClr val="999999"/>
                </a:solidFill>
                <a:latin typeface="Calibri"/>
                <a:ea typeface="Calibri"/>
                <a:cs typeface="Calibri"/>
              </a:rPr>
              <a:t>4</a:t>
            </a:r>
          </a:p>
        </p:txBody>
      </p:sp>
    </p:spTree>
    <p:extLst>
      <p:ext uri="{BB962C8B-B14F-4D97-AF65-F5344CB8AC3E}">
        <p14:creationId xmlns:p14="http://schemas.microsoft.com/office/powerpoint/2010/main" val="19328638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CD3E8EF1-D7DA-C5D5-33F1-936935A8837A}"/>
              </a:ext>
            </a:extLst>
          </p:cNvPr>
          <p:cNvPicPr>
            <a:picLocks noChangeAspect="1"/>
          </p:cNvPicPr>
          <p:nvPr/>
        </p:nvPicPr>
        <p:blipFill>
          <a:blip r:embed="rId2"/>
          <a:stretch>
            <a:fillRect/>
          </a:stretch>
        </p:blipFill>
        <p:spPr>
          <a:xfrm>
            <a:off x="1254598" y="0"/>
            <a:ext cx="9682804" cy="6858000"/>
          </a:xfrm>
          <a:prstGeom prst="rect">
            <a:avLst/>
          </a:prstGeom>
        </p:spPr>
      </p:pic>
    </p:spTree>
    <p:extLst>
      <p:ext uri="{BB962C8B-B14F-4D97-AF65-F5344CB8AC3E}">
        <p14:creationId xmlns:p14="http://schemas.microsoft.com/office/powerpoint/2010/main" val="4349707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3A3E7784-8F09-400F-9902-88D5428D1D62}"/>
              </a:ext>
            </a:extLst>
          </p:cNvPr>
          <p:cNvSpPr>
            <a:spLocks noGrp="1"/>
          </p:cNvSpPr>
          <p:nvPr/>
        </p:nvSpPr>
        <p:spPr>
          <a:xfrm>
            <a:off x="640080" y="361950"/>
            <a:ext cx="10915650" cy="952500"/>
          </a:xfrm>
          <a:prstGeom prst="rect">
            <a:avLst/>
          </a:prstGeom>
          <a:noFill/>
        </p:spPr>
        <p:txBody>
          <a:bodyPr wrap="square" lIns="0" tIns="0" rIns="0" bIns="0" anchor="ctr">
            <a:noAutofit/>
          </a:bodyPr>
          <a:lstStyle/>
          <a:p>
            <a:pPr marL="0" indent="0">
              <a:buNone/>
              <a:defRPr sz="3000" b="1">
                <a:solidFill>
                  <a:srgbClr val="111111"/>
                </a:solidFill>
                <a:latin typeface="Cambria"/>
                <a:ea typeface="Cambria"/>
                <a:cs typeface="Cambria"/>
              </a:defRPr>
            </a:pPr>
            <a:r>
              <a:rPr sz="3000" b="1" dirty="0">
                <a:solidFill>
                  <a:srgbClr val="111111"/>
                </a:solidFill>
                <a:latin typeface="Cambria"/>
                <a:ea typeface="Cambria"/>
                <a:cs typeface="Cambria"/>
              </a:rPr>
              <a:t>FSDR semantic and detail refinement</a:t>
            </a:r>
            <a:endParaRPr sz="2800" dirty="0"/>
          </a:p>
        </p:txBody>
      </p:sp>
      <p:sp>
        <p:nvSpPr>
          <p:cNvPr id="7" name="Box EPPA">
            <a:extLst>
              <a:ext uri="{FF2B5EF4-FFF2-40B4-BE49-F238E27FC236}">
                <a16:creationId xmlns:a16="http://schemas.microsoft.com/office/drawing/2014/main" id="{D6979FDD-453B-436B-8A4F-0AB0DA10EABF}"/>
              </a:ext>
            </a:extLst>
          </p:cNvPr>
          <p:cNvSpPr>
            <a:spLocks noGrp="1"/>
          </p:cNvSpPr>
          <p:nvPr/>
        </p:nvSpPr>
        <p:spPr>
          <a:xfrm>
            <a:off x="10817352" y="457200"/>
            <a:ext cx="731520" cy="310896"/>
          </a:xfrm>
          <a:prstGeom prst="rect">
            <a:avLst/>
          </a:prstGeom>
          <a:solidFill>
            <a:srgbClr val="111111"/>
          </a:solidFill>
          <a:ln w="9525">
            <a:solidFill>
              <a:srgbClr val="D6D6D6"/>
            </a:solidFill>
          </a:ln>
        </p:spPr>
      </p:sp>
      <p:sp>
        <p:nvSpPr>
          <p:cNvPr id="8" name="EPPA">
            <a:extLst>
              <a:ext uri="{FF2B5EF4-FFF2-40B4-BE49-F238E27FC236}">
                <a16:creationId xmlns:a16="http://schemas.microsoft.com/office/drawing/2014/main" id="{F0602B3C-DD22-46AF-90A6-2BFE06595251}"/>
              </a:ext>
            </a:extLst>
          </p:cNvPr>
          <p:cNvSpPr>
            <a:spLocks noGrp="1"/>
          </p:cNvSpPr>
          <p:nvPr/>
        </p:nvSpPr>
        <p:spPr>
          <a:xfrm>
            <a:off x="10931652" y="542925"/>
            <a:ext cx="502920" cy="139446"/>
          </a:xfrm>
          <a:prstGeom prst="rect">
            <a:avLst/>
          </a:prstGeom>
          <a:noFill/>
          <a:ln w="0">
            <a:noFill/>
          </a:ln>
        </p:spPr>
        <p:txBody>
          <a:bodyPr wrap="square" lIns="0" tIns="0" rIns="0" bIns="0" anchor="ctr">
            <a:noAutofit/>
          </a:bodyPr>
          <a:lstStyle/>
          <a:p>
            <a:pPr algn="ctr">
              <a:buNone/>
              <a:defRPr sz="975" b="1">
                <a:solidFill>
                  <a:srgbClr val="FFFFFF"/>
                </a:solidFill>
                <a:latin typeface="Calibri"/>
                <a:ea typeface="Calibri"/>
                <a:cs typeface="Calibri"/>
              </a:defRPr>
            </a:pPr>
            <a:r>
              <a:rPr sz="975" b="1">
                <a:solidFill>
                  <a:srgbClr val="FFFFFF"/>
                </a:solidFill>
                <a:latin typeface="Calibri"/>
                <a:ea typeface="Calibri"/>
                <a:cs typeface="Calibri"/>
              </a:rPr>
              <a:t>FSDR</a:t>
            </a:r>
          </a:p>
        </p:txBody>
      </p:sp>
      <p:sp>
        <p:nvSpPr>
          <p:cNvPr id="9" name="Haar reconstruction splits C, V and D into low and">
            <a:extLst>
              <a:ext uri="{FF2B5EF4-FFF2-40B4-BE49-F238E27FC236}">
                <a16:creationId xmlns:a16="http://schemas.microsoft.com/office/drawing/2014/main" id="{CE27C2C4-8CCA-4176-A62F-274C4D755C3D}"/>
              </a:ext>
            </a:extLst>
          </p:cNvPr>
          <p:cNvSpPr>
            <a:spLocks noGrp="1"/>
          </p:cNvSpPr>
          <p:nvPr/>
        </p:nvSpPr>
        <p:spPr>
          <a:xfrm>
            <a:off x="638175" y="1495425"/>
            <a:ext cx="10915650" cy="381000"/>
          </a:xfrm>
          <a:prstGeom prst="rect">
            <a:avLst/>
          </a:prstGeom>
          <a:noFill/>
          <a:ln w="0">
            <a:noFill/>
          </a:ln>
        </p:spPr>
        <p:txBody>
          <a:bodyPr wrap="square" lIns="0" tIns="0" rIns="0" bIns="0" anchor="t">
            <a:noAutofit/>
          </a:bodyPr>
          <a:lstStyle/>
          <a:p>
            <a:pPr algn="l">
              <a:buNone/>
              <a:defRPr sz="1650" b="0">
                <a:solidFill>
                  <a:srgbClr val="606060"/>
                </a:solidFill>
                <a:latin typeface="Calibri"/>
                <a:ea typeface="Calibri"/>
                <a:cs typeface="Calibri"/>
              </a:defRPr>
            </a:pPr>
            <a:r>
              <a:rPr sz="1650" b="0">
                <a:solidFill>
                  <a:srgbClr val="606060"/>
                </a:solidFill>
                <a:latin typeface="Calibri"/>
                <a:ea typeface="Calibri"/>
                <a:cs typeface="Calibri"/>
              </a:rPr>
              <a:t>Haar reconstruction splits C, V and D into low and high frequencies at the skip resolution.</a:t>
            </a:r>
          </a:p>
        </p:txBody>
      </p:sp>
      <p:sp>
        <p:nvSpPr>
          <p:cNvPr id="10" name="Box Add&#10;residuals&#10;&#10;Y">
            <a:extLst>
              <a:ext uri="{FF2B5EF4-FFF2-40B4-BE49-F238E27FC236}">
                <a16:creationId xmlns:a16="http://schemas.microsoft.com/office/drawing/2014/main" id="{1F100032-55C3-4AEB-B6EC-848CB11CEB13}"/>
              </a:ext>
            </a:extLst>
          </p:cNvPr>
          <p:cNvSpPr>
            <a:spLocks noGrp="1"/>
          </p:cNvSpPr>
          <p:nvPr/>
        </p:nvSpPr>
        <p:spPr>
          <a:xfrm>
            <a:off x="10315575" y="2076450"/>
            <a:ext cx="1238250" cy="3409950"/>
          </a:xfrm>
          <a:prstGeom prst="rect">
            <a:avLst/>
          </a:prstGeom>
          <a:solidFill>
            <a:srgbClr val="111111"/>
          </a:solidFill>
          <a:ln w="9525">
            <a:solidFill>
              <a:srgbClr val="D6D6D6"/>
            </a:solidFill>
          </a:ln>
        </p:spPr>
      </p:sp>
      <p:sp>
        <p:nvSpPr>
          <p:cNvPr id="11" name="Add&#10;residuals&#10;&#10;Y">
            <a:extLst>
              <a:ext uri="{FF2B5EF4-FFF2-40B4-BE49-F238E27FC236}">
                <a16:creationId xmlns:a16="http://schemas.microsoft.com/office/drawing/2014/main" id="{D37DDB9B-4A49-414E-90C5-E81FAD1BA843}"/>
              </a:ext>
            </a:extLst>
          </p:cNvPr>
          <p:cNvSpPr>
            <a:spLocks noGrp="1"/>
          </p:cNvSpPr>
          <p:nvPr/>
        </p:nvSpPr>
        <p:spPr>
          <a:xfrm>
            <a:off x="10429875" y="2162175"/>
            <a:ext cx="1009650" cy="3238500"/>
          </a:xfrm>
          <a:prstGeom prst="rect">
            <a:avLst/>
          </a:prstGeom>
          <a:noFill/>
          <a:ln w="0">
            <a:noFill/>
          </a:ln>
        </p:spPr>
        <p:txBody>
          <a:bodyPr wrap="square" lIns="0" tIns="0" rIns="0" bIns="0" anchor="ctr">
            <a:noAutofit/>
          </a:bodyPr>
          <a:lstStyle/>
          <a:p>
            <a:pPr algn="ctr">
              <a:buNone/>
              <a:defRPr sz="1875" b="1">
                <a:solidFill>
                  <a:srgbClr val="FFFFFF"/>
                </a:solidFill>
                <a:latin typeface="Calibri"/>
                <a:ea typeface="Calibri"/>
                <a:cs typeface="Calibri"/>
              </a:defRPr>
            </a:pPr>
            <a:r>
              <a:rPr sz="1875" b="1">
                <a:solidFill>
                  <a:srgbClr val="FFFFFF"/>
                </a:solidFill>
                <a:latin typeface="Calibri"/>
                <a:ea typeface="Calibri"/>
                <a:cs typeface="Calibri"/>
              </a:rPr>
              <a:t>Add</a:t>
            </a:r>
          </a:p>
          <a:p>
            <a:pPr algn="ctr">
              <a:buNone/>
              <a:defRPr sz="1875" b="1">
                <a:solidFill>
                  <a:srgbClr val="FFFFFF"/>
                </a:solidFill>
                <a:latin typeface="Calibri"/>
                <a:ea typeface="Calibri"/>
                <a:cs typeface="Calibri"/>
              </a:defRPr>
            </a:pPr>
            <a:r>
              <a:rPr sz="1875" b="1">
                <a:solidFill>
                  <a:srgbClr val="FFFFFF"/>
                </a:solidFill>
                <a:latin typeface="Calibri"/>
                <a:ea typeface="Calibri"/>
                <a:cs typeface="Calibri"/>
              </a:rPr>
              <a:t>residuals</a:t>
            </a:r>
          </a:p>
          <a:p>
            <a:endParaRPr sz="1875" b="1">
              <a:solidFill>
                <a:srgbClr val="FFFFFF"/>
              </a:solidFill>
              <a:latin typeface="Calibri"/>
              <a:ea typeface="Calibri"/>
              <a:cs typeface="Calibri"/>
            </a:endParaRPr>
          </a:p>
          <a:p>
            <a:pPr algn="ctr">
              <a:buNone/>
              <a:defRPr sz="1875" b="1">
                <a:solidFill>
                  <a:srgbClr val="FFFFFF"/>
                </a:solidFill>
                <a:latin typeface="Calibri"/>
                <a:ea typeface="Calibri"/>
                <a:cs typeface="Calibri"/>
              </a:defRPr>
            </a:pPr>
            <a:r>
              <a:rPr sz="1875" b="1">
                <a:solidFill>
                  <a:srgbClr val="FFFFFF"/>
                </a:solidFill>
                <a:latin typeface="Calibri"/>
                <a:ea typeface="Calibri"/>
                <a:cs typeface="Calibri"/>
              </a:rPr>
              <a:t>Y</a:t>
            </a:r>
          </a:p>
        </p:txBody>
      </p:sp>
      <p:sp>
        <p:nvSpPr>
          <p:cNvPr id="12" name="Box C">
            <a:extLst>
              <a:ext uri="{FF2B5EF4-FFF2-40B4-BE49-F238E27FC236}">
                <a16:creationId xmlns:a16="http://schemas.microsoft.com/office/drawing/2014/main" id="{23F7B562-C3BD-4AFC-B20A-EB1734799218}"/>
              </a:ext>
            </a:extLst>
          </p:cNvPr>
          <p:cNvSpPr>
            <a:spLocks noGrp="1"/>
          </p:cNvSpPr>
          <p:nvPr/>
        </p:nvSpPr>
        <p:spPr>
          <a:xfrm>
            <a:off x="638175" y="2076450"/>
            <a:ext cx="3000375" cy="723900"/>
          </a:xfrm>
          <a:prstGeom prst="rect">
            <a:avLst/>
          </a:prstGeom>
          <a:solidFill>
            <a:srgbClr val="F3F3F3"/>
          </a:solidFill>
          <a:ln w="9525">
            <a:solidFill>
              <a:srgbClr val="D6D6D6"/>
            </a:solidFill>
          </a:ln>
        </p:spPr>
      </p:sp>
      <p:sp>
        <p:nvSpPr>
          <p:cNvPr id="13" name="C">
            <a:extLst>
              <a:ext uri="{FF2B5EF4-FFF2-40B4-BE49-F238E27FC236}">
                <a16:creationId xmlns:a16="http://schemas.microsoft.com/office/drawing/2014/main" id="{A40AE637-D003-4F9D-996E-6975D6E72F0C}"/>
              </a:ext>
            </a:extLst>
          </p:cNvPr>
          <p:cNvSpPr>
            <a:spLocks noGrp="1"/>
          </p:cNvSpPr>
          <p:nvPr/>
        </p:nvSpPr>
        <p:spPr>
          <a:xfrm>
            <a:off x="752475" y="2162175"/>
            <a:ext cx="2771775" cy="552450"/>
          </a:xfrm>
          <a:prstGeom prst="rect">
            <a:avLst/>
          </a:prstGeom>
          <a:noFill/>
          <a:ln w="0">
            <a:noFill/>
          </a:ln>
        </p:spPr>
        <p:txBody>
          <a:bodyPr wrap="square" lIns="0" tIns="0" rIns="0" bIns="0" anchor="ctr">
            <a:noAutofit/>
          </a:bodyPr>
          <a:lstStyle/>
          <a:p>
            <a:pPr algn="ctr">
              <a:buNone/>
              <a:defRPr sz="1650" b="1">
                <a:solidFill>
                  <a:srgbClr val="111111"/>
                </a:solidFill>
                <a:latin typeface="Calibri"/>
                <a:ea typeface="Calibri"/>
                <a:cs typeface="Calibri"/>
              </a:defRPr>
            </a:pPr>
            <a:r>
              <a:rPr sz="1650" b="1">
                <a:solidFill>
                  <a:srgbClr val="111111"/>
                </a:solidFill>
                <a:latin typeface="Calibri"/>
                <a:ea typeface="Calibri"/>
                <a:cs typeface="Calibri"/>
              </a:rPr>
              <a:t>C</a:t>
            </a:r>
          </a:p>
        </p:txBody>
      </p:sp>
      <p:sp>
        <p:nvSpPr>
          <p:cNvPr id="14" name="Box Original CNN feature">
            <a:extLst>
              <a:ext uri="{FF2B5EF4-FFF2-40B4-BE49-F238E27FC236}">
                <a16:creationId xmlns:a16="http://schemas.microsoft.com/office/drawing/2014/main" id="{AC6986A1-051D-4810-BB6C-9FB0E55E780C}"/>
              </a:ext>
            </a:extLst>
          </p:cNvPr>
          <p:cNvSpPr>
            <a:spLocks noGrp="1"/>
          </p:cNvSpPr>
          <p:nvPr/>
        </p:nvSpPr>
        <p:spPr>
          <a:xfrm>
            <a:off x="4276725" y="2076450"/>
            <a:ext cx="5143500" cy="723900"/>
          </a:xfrm>
          <a:prstGeom prst="rect">
            <a:avLst/>
          </a:prstGeom>
          <a:solidFill>
            <a:srgbClr val="F3F3F3"/>
          </a:solidFill>
          <a:ln w="9525">
            <a:solidFill>
              <a:srgbClr val="D6D6D6"/>
            </a:solidFill>
          </a:ln>
        </p:spPr>
      </p:sp>
      <p:sp>
        <p:nvSpPr>
          <p:cNvPr id="15" name="Original CNN feature">
            <a:extLst>
              <a:ext uri="{FF2B5EF4-FFF2-40B4-BE49-F238E27FC236}">
                <a16:creationId xmlns:a16="http://schemas.microsoft.com/office/drawing/2014/main" id="{E5D4351A-2860-4F02-A608-D29B3E944502}"/>
              </a:ext>
            </a:extLst>
          </p:cNvPr>
          <p:cNvSpPr>
            <a:spLocks noGrp="1"/>
          </p:cNvSpPr>
          <p:nvPr/>
        </p:nvSpPr>
        <p:spPr>
          <a:xfrm>
            <a:off x="4391025" y="2162175"/>
            <a:ext cx="4914900" cy="552450"/>
          </a:xfrm>
          <a:prstGeom prst="rect">
            <a:avLst/>
          </a:prstGeom>
          <a:noFill/>
          <a:ln w="0">
            <a:noFill/>
          </a:ln>
        </p:spPr>
        <p:txBody>
          <a:bodyPr wrap="square" lIns="0" tIns="0" rIns="0" bIns="0" anchor="ctr">
            <a:noAutofit/>
          </a:bodyPr>
          <a:lstStyle/>
          <a:p>
            <a:pPr algn="ctr">
              <a:buNone/>
              <a:defRPr sz="1650" b="1">
                <a:solidFill>
                  <a:srgbClr val="111111"/>
                </a:solidFill>
                <a:latin typeface="Calibri"/>
                <a:ea typeface="Calibri"/>
                <a:cs typeface="Calibri"/>
              </a:defRPr>
            </a:pPr>
            <a:r>
              <a:rPr sz="1650" b="1" dirty="0">
                <a:solidFill>
                  <a:srgbClr val="111111"/>
                </a:solidFill>
                <a:latin typeface="Calibri"/>
                <a:ea typeface="Calibri"/>
                <a:cs typeface="Calibri"/>
              </a:rPr>
              <a:t>Original CNN feature</a:t>
            </a:r>
          </a:p>
        </p:txBody>
      </p:sp>
      <p:cxnSp>
        <p:nvCxnSpPr>
          <p:cNvPr id="143" name="直接箭头连接符 142"/>
          <p:cNvCxnSpPr>
            <a:stCxn id="12" idx="3"/>
            <a:endCxn id="14" idx="1"/>
          </p:cNvCxnSpPr>
          <p:nvPr/>
        </p:nvCxnSpPr>
        <p:spPr>
          <a:xfrm>
            <a:off x="3638550" y="2438400"/>
            <a:ext cx="638175" cy="0"/>
          </a:xfrm>
          <a:prstGeom prst="straightConnector1">
            <a:avLst/>
          </a:prstGeom>
          <a:ln w="19050">
            <a:solidFill>
              <a:srgbClr val="555555"/>
            </a:solidFill>
            <a:tailEnd type="arrow" w="med" len="med"/>
          </a:ln>
        </p:spPr>
      </p:cxnSp>
      <p:cxnSp>
        <p:nvCxnSpPr>
          <p:cNvPr id="144" name="连接符: 肘形 143"/>
          <p:cNvCxnSpPr>
            <a:stCxn id="14" idx="3"/>
            <a:endCxn id="10" idx="1"/>
          </p:cNvCxnSpPr>
          <p:nvPr/>
        </p:nvCxnSpPr>
        <p:spPr>
          <a:xfrm>
            <a:off x="9420225" y="2438400"/>
            <a:ext cx="895350" cy="1343025"/>
          </a:xfrm>
          <a:prstGeom prst="bentConnector3">
            <a:avLst>
              <a:gd name="adj1" fmla="val 50000"/>
            </a:avLst>
          </a:prstGeom>
          <a:ln w="19050">
            <a:solidFill>
              <a:srgbClr val="555555"/>
            </a:solidFill>
            <a:tailEnd type="arrow" w="med" len="med"/>
          </a:ln>
        </p:spPr>
      </p:cxnSp>
      <p:sp>
        <p:nvSpPr>
          <p:cNvPr id="18" name="Box C low, V low, D′ low, T">
            <a:extLst>
              <a:ext uri="{FF2B5EF4-FFF2-40B4-BE49-F238E27FC236}">
                <a16:creationId xmlns:a16="http://schemas.microsoft.com/office/drawing/2014/main" id="{6A663523-DA8A-4803-8F0A-764963B63E45}"/>
              </a:ext>
            </a:extLst>
          </p:cNvPr>
          <p:cNvSpPr>
            <a:spLocks noGrp="1"/>
          </p:cNvSpPr>
          <p:nvPr/>
        </p:nvSpPr>
        <p:spPr>
          <a:xfrm>
            <a:off x="638175" y="2971800"/>
            <a:ext cx="3000375" cy="723900"/>
          </a:xfrm>
          <a:prstGeom prst="rect">
            <a:avLst/>
          </a:prstGeom>
          <a:solidFill>
            <a:srgbClr val="F3F3F3"/>
          </a:solidFill>
          <a:ln w="9525">
            <a:solidFill>
              <a:srgbClr val="D6D6D6"/>
            </a:solidFill>
          </a:ln>
        </p:spPr>
      </p:sp>
      <p:sp>
        <p:nvSpPr>
          <p:cNvPr id="19" name="C low, V low, D′ low, T">
            <a:extLst>
              <a:ext uri="{FF2B5EF4-FFF2-40B4-BE49-F238E27FC236}">
                <a16:creationId xmlns:a16="http://schemas.microsoft.com/office/drawing/2014/main" id="{A74C1B83-5959-4AB7-A3FE-7330F454C521}"/>
              </a:ext>
            </a:extLst>
          </p:cNvPr>
          <p:cNvSpPr>
            <a:spLocks noGrp="1"/>
          </p:cNvSpPr>
          <p:nvPr/>
        </p:nvSpPr>
        <p:spPr>
          <a:xfrm>
            <a:off x="752475" y="3057525"/>
            <a:ext cx="2771775" cy="552450"/>
          </a:xfrm>
          <a:prstGeom prst="rect">
            <a:avLst/>
          </a:prstGeom>
          <a:noFill/>
          <a:ln w="0">
            <a:noFill/>
          </a:ln>
        </p:spPr>
        <p:txBody>
          <a:bodyPr wrap="square" lIns="0" tIns="0" rIns="0" bIns="0" anchor="ctr">
            <a:noAutofit/>
          </a:bodyPr>
          <a:lstStyle/>
          <a:p>
            <a:pPr algn="ctr">
              <a:buNone/>
              <a:defRPr sz="1650" b="1">
                <a:solidFill>
                  <a:srgbClr val="111111"/>
                </a:solidFill>
                <a:latin typeface="Calibri"/>
                <a:ea typeface="Calibri"/>
                <a:cs typeface="Calibri"/>
              </a:defRPr>
            </a:pPr>
            <a:r>
              <a:rPr sz="1650" b="1" dirty="0">
                <a:solidFill>
                  <a:srgbClr val="111111"/>
                </a:solidFill>
                <a:latin typeface="Calibri"/>
                <a:ea typeface="Calibri"/>
                <a:cs typeface="Calibri"/>
              </a:rPr>
              <a:t>C low, V low, D′ low, T</a:t>
            </a:r>
          </a:p>
        </p:txBody>
      </p:sp>
      <p:sp>
        <p:nvSpPr>
          <p:cNvPr id="20" name="Box Channel gain + semantic region resi">
            <a:extLst>
              <a:ext uri="{FF2B5EF4-FFF2-40B4-BE49-F238E27FC236}">
                <a16:creationId xmlns:a16="http://schemas.microsoft.com/office/drawing/2014/main" id="{F54DDCD4-CB79-4592-B0C2-DF097D58967B}"/>
              </a:ext>
            </a:extLst>
          </p:cNvPr>
          <p:cNvSpPr>
            <a:spLocks noGrp="1"/>
          </p:cNvSpPr>
          <p:nvPr/>
        </p:nvSpPr>
        <p:spPr>
          <a:xfrm>
            <a:off x="4276725" y="2971800"/>
            <a:ext cx="5143500" cy="723900"/>
          </a:xfrm>
          <a:prstGeom prst="rect">
            <a:avLst/>
          </a:prstGeom>
          <a:solidFill>
            <a:srgbClr val="F3F3F3"/>
          </a:solidFill>
          <a:ln w="9525">
            <a:solidFill>
              <a:srgbClr val="D6D6D6"/>
            </a:solidFill>
          </a:ln>
        </p:spPr>
      </p:sp>
      <p:sp>
        <p:nvSpPr>
          <p:cNvPr id="21" name="Channel gain + semantic region residual&#10;Weighted V">
            <a:extLst>
              <a:ext uri="{FF2B5EF4-FFF2-40B4-BE49-F238E27FC236}">
                <a16:creationId xmlns:a16="http://schemas.microsoft.com/office/drawing/2014/main" id="{E7421BFA-1115-4E60-9524-CF50CF60403C}"/>
              </a:ext>
            </a:extLst>
          </p:cNvPr>
          <p:cNvSpPr>
            <a:spLocks noGrp="1"/>
          </p:cNvSpPr>
          <p:nvPr/>
        </p:nvSpPr>
        <p:spPr>
          <a:xfrm>
            <a:off x="4391025" y="3057525"/>
            <a:ext cx="4914900" cy="552450"/>
          </a:xfrm>
          <a:prstGeom prst="rect">
            <a:avLst/>
          </a:prstGeom>
          <a:noFill/>
          <a:ln w="0">
            <a:noFill/>
          </a:ln>
        </p:spPr>
        <p:txBody>
          <a:bodyPr wrap="square" lIns="0" tIns="0" rIns="0" bIns="0" anchor="ctr">
            <a:noAutofit/>
          </a:bodyPr>
          <a:lstStyle/>
          <a:p>
            <a:pPr algn="ctr">
              <a:buNone/>
              <a:defRPr sz="1650" b="1">
                <a:solidFill>
                  <a:srgbClr val="111111"/>
                </a:solidFill>
                <a:latin typeface="Calibri"/>
                <a:ea typeface="Calibri"/>
                <a:cs typeface="Calibri"/>
              </a:defRPr>
            </a:pPr>
            <a:r>
              <a:rPr sz="1650" b="1" dirty="0">
                <a:solidFill>
                  <a:srgbClr val="111111"/>
                </a:solidFill>
                <a:latin typeface="Calibri"/>
                <a:ea typeface="Calibri"/>
                <a:cs typeface="Calibri"/>
              </a:rPr>
              <a:t>Channel gain + semantic region residual</a:t>
            </a:r>
          </a:p>
          <a:p>
            <a:pPr algn="ctr">
              <a:buNone/>
              <a:defRPr sz="1650" b="1">
                <a:solidFill>
                  <a:srgbClr val="111111"/>
                </a:solidFill>
                <a:latin typeface="Calibri"/>
                <a:ea typeface="Calibri"/>
                <a:cs typeface="Calibri"/>
              </a:defRPr>
            </a:pPr>
            <a:r>
              <a:rPr sz="1650" b="1" dirty="0">
                <a:solidFill>
                  <a:srgbClr val="111111"/>
                </a:solidFill>
                <a:latin typeface="Calibri"/>
                <a:ea typeface="Calibri"/>
                <a:cs typeface="Calibri"/>
              </a:rPr>
              <a:t>Weighted </a:t>
            </a:r>
            <a:r>
              <a:rPr sz="1650" b="1" dirty="0" err="1">
                <a:solidFill>
                  <a:srgbClr val="111111"/>
                </a:solidFill>
                <a:latin typeface="Calibri"/>
                <a:ea typeface="Calibri"/>
                <a:cs typeface="Calibri"/>
              </a:rPr>
              <a:t>ViT</a:t>
            </a:r>
            <a:r>
              <a:rPr sz="1650" b="1" dirty="0">
                <a:solidFill>
                  <a:srgbClr val="111111"/>
                </a:solidFill>
                <a:latin typeface="Calibri"/>
                <a:ea typeface="Calibri"/>
                <a:cs typeface="Calibri"/>
              </a:rPr>
              <a:t> low-frequency guide</a:t>
            </a:r>
          </a:p>
        </p:txBody>
      </p:sp>
      <p:cxnSp>
        <p:nvCxnSpPr>
          <p:cNvPr id="149" name="直接箭头连接符 148"/>
          <p:cNvCxnSpPr>
            <a:stCxn id="18" idx="3"/>
            <a:endCxn id="20" idx="1"/>
          </p:cNvCxnSpPr>
          <p:nvPr/>
        </p:nvCxnSpPr>
        <p:spPr>
          <a:xfrm>
            <a:off x="3638550" y="3333750"/>
            <a:ext cx="638175" cy="0"/>
          </a:xfrm>
          <a:prstGeom prst="straightConnector1">
            <a:avLst/>
          </a:prstGeom>
          <a:ln w="19050">
            <a:solidFill>
              <a:srgbClr val="555555"/>
            </a:solidFill>
            <a:tailEnd type="arrow" w="med" len="med"/>
          </a:ln>
        </p:spPr>
      </p:cxnSp>
      <p:cxnSp>
        <p:nvCxnSpPr>
          <p:cNvPr id="150" name="连接符: 肘形 149"/>
          <p:cNvCxnSpPr>
            <a:stCxn id="20" idx="3"/>
            <a:endCxn id="10" idx="1"/>
          </p:cNvCxnSpPr>
          <p:nvPr/>
        </p:nvCxnSpPr>
        <p:spPr>
          <a:xfrm>
            <a:off x="9420225" y="3333750"/>
            <a:ext cx="895350" cy="447675"/>
          </a:xfrm>
          <a:prstGeom prst="bentConnector3">
            <a:avLst>
              <a:gd name="adj1" fmla="val 50000"/>
            </a:avLst>
          </a:prstGeom>
          <a:ln w="19050">
            <a:solidFill>
              <a:srgbClr val="555555"/>
            </a:solidFill>
            <a:tailEnd type="arrow" w="med" len="med"/>
          </a:ln>
        </p:spPr>
      </p:cxnSp>
      <p:sp>
        <p:nvSpPr>
          <p:cNvPr id="24" name="Box C high + region support">
            <a:extLst>
              <a:ext uri="{FF2B5EF4-FFF2-40B4-BE49-F238E27FC236}">
                <a16:creationId xmlns:a16="http://schemas.microsoft.com/office/drawing/2014/main" id="{C0A98AFB-0327-4D90-A955-63E5AAF4AFCB}"/>
              </a:ext>
            </a:extLst>
          </p:cNvPr>
          <p:cNvSpPr>
            <a:spLocks noGrp="1"/>
          </p:cNvSpPr>
          <p:nvPr/>
        </p:nvSpPr>
        <p:spPr>
          <a:xfrm>
            <a:off x="638175" y="3867150"/>
            <a:ext cx="3000375" cy="723900"/>
          </a:xfrm>
          <a:prstGeom prst="rect">
            <a:avLst/>
          </a:prstGeom>
          <a:solidFill>
            <a:srgbClr val="F3F3F3"/>
          </a:solidFill>
          <a:ln w="9525">
            <a:solidFill>
              <a:srgbClr val="D6D6D6"/>
            </a:solidFill>
          </a:ln>
        </p:spPr>
      </p:sp>
      <p:sp>
        <p:nvSpPr>
          <p:cNvPr id="25" name="C high + region support">
            <a:extLst>
              <a:ext uri="{FF2B5EF4-FFF2-40B4-BE49-F238E27FC236}">
                <a16:creationId xmlns:a16="http://schemas.microsoft.com/office/drawing/2014/main" id="{2102150B-649D-41D1-B0D3-B3CE2D188F7D}"/>
              </a:ext>
            </a:extLst>
          </p:cNvPr>
          <p:cNvSpPr>
            <a:spLocks noGrp="1"/>
          </p:cNvSpPr>
          <p:nvPr/>
        </p:nvSpPr>
        <p:spPr>
          <a:xfrm>
            <a:off x="752475" y="3952875"/>
            <a:ext cx="2771775" cy="552450"/>
          </a:xfrm>
          <a:prstGeom prst="rect">
            <a:avLst/>
          </a:prstGeom>
          <a:noFill/>
          <a:ln w="0">
            <a:noFill/>
          </a:ln>
        </p:spPr>
        <p:txBody>
          <a:bodyPr wrap="square" lIns="0" tIns="0" rIns="0" bIns="0" anchor="ctr">
            <a:noAutofit/>
          </a:bodyPr>
          <a:lstStyle/>
          <a:p>
            <a:pPr algn="ctr">
              <a:buNone/>
              <a:defRPr sz="1650" b="1">
                <a:solidFill>
                  <a:srgbClr val="111111"/>
                </a:solidFill>
                <a:latin typeface="Calibri"/>
                <a:ea typeface="Calibri"/>
                <a:cs typeface="Calibri"/>
              </a:defRPr>
            </a:pPr>
            <a:r>
              <a:rPr sz="1650" b="1" dirty="0">
                <a:solidFill>
                  <a:srgbClr val="111111"/>
                </a:solidFill>
                <a:latin typeface="Calibri"/>
                <a:ea typeface="Calibri"/>
                <a:cs typeface="Calibri"/>
              </a:rPr>
              <a:t>C high + region support</a:t>
            </a:r>
          </a:p>
        </p:txBody>
      </p:sp>
      <p:sp>
        <p:nvSpPr>
          <p:cNvPr id="26" name="Box Direct high-frequency residual&#10;Loca">
            <a:extLst>
              <a:ext uri="{FF2B5EF4-FFF2-40B4-BE49-F238E27FC236}">
                <a16:creationId xmlns:a16="http://schemas.microsoft.com/office/drawing/2014/main" id="{8FE07001-FFA0-4012-BCD0-D0F8D13A6BDF}"/>
              </a:ext>
            </a:extLst>
          </p:cNvPr>
          <p:cNvSpPr>
            <a:spLocks noGrp="1"/>
          </p:cNvSpPr>
          <p:nvPr/>
        </p:nvSpPr>
        <p:spPr>
          <a:xfrm>
            <a:off x="4276725" y="3867150"/>
            <a:ext cx="5143500" cy="723900"/>
          </a:xfrm>
          <a:prstGeom prst="rect">
            <a:avLst/>
          </a:prstGeom>
          <a:solidFill>
            <a:srgbClr val="F3F3F3"/>
          </a:solidFill>
          <a:ln w="9525">
            <a:solidFill>
              <a:srgbClr val="D6D6D6"/>
            </a:solidFill>
          </a:ln>
        </p:spPr>
      </p:sp>
      <p:sp>
        <p:nvSpPr>
          <p:cNvPr id="27" name="Direct high-frequency residual&#10;Local and dilated d">
            <a:extLst>
              <a:ext uri="{FF2B5EF4-FFF2-40B4-BE49-F238E27FC236}">
                <a16:creationId xmlns:a16="http://schemas.microsoft.com/office/drawing/2014/main" id="{0C0880AC-0EB8-412F-A2B7-D4140F117CF3}"/>
              </a:ext>
            </a:extLst>
          </p:cNvPr>
          <p:cNvSpPr>
            <a:spLocks noGrp="1"/>
          </p:cNvSpPr>
          <p:nvPr/>
        </p:nvSpPr>
        <p:spPr>
          <a:xfrm>
            <a:off x="4391025" y="3952875"/>
            <a:ext cx="4914900" cy="552450"/>
          </a:xfrm>
          <a:prstGeom prst="rect">
            <a:avLst/>
          </a:prstGeom>
          <a:noFill/>
          <a:ln w="0">
            <a:noFill/>
          </a:ln>
        </p:spPr>
        <p:txBody>
          <a:bodyPr wrap="square" lIns="0" tIns="0" rIns="0" bIns="0" anchor="ctr">
            <a:noAutofit/>
          </a:bodyPr>
          <a:lstStyle/>
          <a:p>
            <a:pPr algn="ctr">
              <a:buNone/>
              <a:defRPr sz="1650" b="1">
                <a:solidFill>
                  <a:srgbClr val="111111"/>
                </a:solidFill>
                <a:latin typeface="Calibri"/>
                <a:ea typeface="Calibri"/>
                <a:cs typeface="Calibri"/>
              </a:defRPr>
            </a:pPr>
            <a:r>
              <a:rPr sz="1650" b="1" dirty="0">
                <a:solidFill>
                  <a:srgbClr val="111111"/>
                </a:solidFill>
                <a:latin typeface="Calibri"/>
                <a:ea typeface="Calibri"/>
                <a:cs typeface="Calibri"/>
              </a:rPr>
              <a:t>Direct high-frequency residual</a:t>
            </a:r>
          </a:p>
          <a:p>
            <a:pPr algn="ctr">
              <a:buNone/>
              <a:defRPr sz="1650" b="1">
                <a:solidFill>
                  <a:srgbClr val="111111"/>
                </a:solidFill>
                <a:latin typeface="Calibri"/>
                <a:ea typeface="Calibri"/>
                <a:cs typeface="Calibri"/>
              </a:defRPr>
            </a:pPr>
            <a:r>
              <a:rPr sz="1650" b="1" dirty="0">
                <a:solidFill>
                  <a:srgbClr val="111111"/>
                </a:solidFill>
                <a:latin typeface="Calibri"/>
                <a:ea typeface="Calibri"/>
                <a:cs typeface="Calibri"/>
              </a:rPr>
              <a:t>Local and dilated detail refinement</a:t>
            </a:r>
          </a:p>
        </p:txBody>
      </p:sp>
      <p:cxnSp>
        <p:nvCxnSpPr>
          <p:cNvPr id="155" name="直接箭头连接符 154"/>
          <p:cNvCxnSpPr>
            <a:stCxn id="24" idx="3"/>
            <a:endCxn id="26" idx="1"/>
          </p:cNvCxnSpPr>
          <p:nvPr/>
        </p:nvCxnSpPr>
        <p:spPr>
          <a:xfrm>
            <a:off x="3638550" y="4229100"/>
            <a:ext cx="638175" cy="0"/>
          </a:xfrm>
          <a:prstGeom prst="straightConnector1">
            <a:avLst/>
          </a:prstGeom>
          <a:ln w="19050">
            <a:solidFill>
              <a:srgbClr val="555555"/>
            </a:solidFill>
            <a:tailEnd type="arrow" w="med" len="med"/>
          </a:ln>
        </p:spPr>
      </p:cxnSp>
      <p:cxnSp>
        <p:nvCxnSpPr>
          <p:cNvPr id="156" name="连接符: 肘形 155"/>
          <p:cNvCxnSpPr>
            <a:stCxn id="26" idx="3"/>
            <a:endCxn id="10" idx="1"/>
          </p:cNvCxnSpPr>
          <p:nvPr/>
        </p:nvCxnSpPr>
        <p:spPr>
          <a:xfrm flipV="1">
            <a:off x="9420225" y="3781425"/>
            <a:ext cx="895350" cy="447675"/>
          </a:xfrm>
          <a:prstGeom prst="bentConnector3">
            <a:avLst>
              <a:gd name="adj1" fmla="val 50000"/>
            </a:avLst>
          </a:prstGeom>
          <a:ln w="19050">
            <a:solidFill>
              <a:srgbClr val="555555"/>
            </a:solidFill>
            <a:tailEnd type="arrow" w="med" len="med"/>
          </a:ln>
        </p:spPr>
      </p:cxnSp>
      <p:sp>
        <p:nvSpPr>
          <p:cNvPr id="30" name="Box C, V, D + low context">
            <a:extLst>
              <a:ext uri="{FF2B5EF4-FFF2-40B4-BE49-F238E27FC236}">
                <a16:creationId xmlns:a16="http://schemas.microsoft.com/office/drawing/2014/main" id="{C993769E-A854-4501-BA05-3C6F38BCAD9E}"/>
              </a:ext>
            </a:extLst>
          </p:cNvPr>
          <p:cNvSpPr>
            <a:spLocks noGrp="1"/>
          </p:cNvSpPr>
          <p:nvPr/>
        </p:nvSpPr>
        <p:spPr>
          <a:xfrm>
            <a:off x="638175" y="4762500"/>
            <a:ext cx="3000375" cy="723900"/>
          </a:xfrm>
          <a:prstGeom prst="rect">
            <a:avLst/>
          </a:prstGeom>
          <a:solidFill>
            <a:srgbClr val="F3F3F3"/>
          </a:solidFill>
          <a:ln w="9525">
            <a:solidFill>
              <a:srgbClr val="D6D6D6"/>
            </a:solidFill>
          </a:ln>
        </p:spPr>
      </p:sp>
      <p:sp>
        <p:nvSpPr>
          <p:cNvPr id="31" name="C, V, D + low context">
            <a:extLst>
              <a:ext uri="{FF2B5EF4-FFF2-40B4-BE49-F238E27FC236}">
                <a16:creationId xmlns:a16="http://schemas.microsoft.com/office/drawing/2014/main" id="{F8AFE368-98A8-4AA5-828F-F59EEE29EF84}"/>
              </a:ext>
            </a:extLst>
          </p:cNvPr>
          <p:cNvSpPr>
            <a:spLocks noGrp="1"/>
          </p:cNvSpPr>
          <p:nvPr/>
        </p:nvSpPr>
        <p:spPr>
          <a:xfrm>
            <a:off x="752475" y="4848225"/>
            <a:ext cx="2771775" cy="552450"/>
          </a:xfrm>
          <a:prstGeom prst="rect">
            <a:avLst/>
          </a:prstGeom>
          <a:noFill/>
          <a:ln w="0">
            <a:noFill/>
          </a:ln>
        </p:spPr>
        <p:txBody>
          <a:bodyPr wrap="square" lIns="0" tIns="0" rIns="0" bIns="0" anchor="ctr">
            <a:noAutofit/>
          </a:bodyPr>
          <a:lstStyle/>
          <a:p>
            <a:pPr algn="ctr">
              <a:buNone/>
              <a:defRPr sz="1650" b="1">
                <a:solidFill>
                  <a:srgbClr val="111111"/>
                </a:solidFill>
                <a:latin typeface="Calibri"/>
                <a:ea typeface="Calibri"/>
                <a:cs typeface="Calibri"/>
              </a:defRPr>
            </a:pPr>
            <a:r>
              <a:rPr sz="1650" b="1">
                <a:solidFill>
                  <a:srgbClr val="111111"/>
                </a:solidFill>
                <a:latin typeface="Calibri"/>
                <a:ea typeface="Calibri"/>
                <a:cs typeface="Calibri"/>
              </a:rPr>
              <a:t>C, V, D + low context</a:t>
            </a:r>
          </a:p>
        </p:txBody>
      </p:sp>
      <p:sp>
        <p:nvSpPr>
          <p:cNvPr id="32" name="Box Adaptive filter mixtures at up4 / u">
            <a:extLst>
              <a:ext uri="{FF2B5EF4-FFF2-40B4-BE49-F238E27FC236}">
                <a16:creationId xmlns:a16="http://schemas.microsoft.com/office/drawing/2014/main" id="{C31535F3-AA2D-4F7E-95E2-DFE66EE49789}"/>
              </a:ext>
            </a:extLst>
          </p:cNvPr>
          <p:cNvSpPr>
            <a:spLocks noGrp="1"/>
          </p:cNvSpPr>
          <p:nvPr/>
        </p:nvSpPr>
        <p:spPr>
          <a:xfrm>
            <a:off x="4276725" y="4762500"/>
            <a:ext cx="5143500" cy="723900"/>
          </a:xfrm>
          <a:prstGeom prst="rect">
            <a:avLst/>
          </a:prstGeom>
          <a:solidFill>
            <a:srgbClr val="F3F3F3"/>
          </a:solidFill>
          <a:ln w="9525">
            <a:solidFill>
              <a:srgbClr val="D6D6D6"/>
            </a:solidFill>
          </a:ln>
        </p:spPr>
      </p:sp>
      <p:sp>
        <p:nvSpPr>
          <p:cNvPr id="33" name="Adaptive filter mixtures at up4 / up3&#10;Skip high-pa">
            <a:extLst>
              <a:ext uri="{FF2B5EF4-FFF2-40B4-BE49-F238E27FC236}">
                <a16:creationId xmlns:a16="http://schemas.microsoft.com/office/drawing/2014/main" id="{936BE9C0-1C32-434A-A919-F9534F6CC06F}"/>
              </a:ext>
            </a:extLst>
          </p:cNvPr>
          <p:cNvSpPr>
            <a:spLocks noGrp="1"/>
          </p:cNvSpPr>
          <p:nvPr/>
        </p:nvSpPr>
        <p:spPr>
          <a:xfrm>
            <a:off x="4391025" y="4848225"/>
            <a:ext cx="4914900" cy="552450"/>
          </a:xfrm>
          <a:prstGeom prst="rect">
            <a:avLst/>
          </a:prstGeom>
          <a:noFill/>
          <a:ln w="0">
            <a:noFill/>
          </a:ln>
        </p:spPr>
        <p:txBody>
          <a:bodyPr wrap="square" lIns="0" tIns="0" rIns="0" bIns="0" anchor="ctr">
            <a:noAutofit/>
          </a:bodyPr>
          <a:lstStyle/>
          <a:p>
            <a:pPr algn="ctr">
              <a:buNone/>
              <a:defRPr sz="1650" b="1">
                <a:solidFill>
                  <a:srgbClr val="111111"/>
                </a:solidFill>
                <a:latin typeface="Calibri"/>
                <a:ea typeface="Calibri"/>
                <a:cs typeface="Calibri"/>
              </a:defRPr>
            </a:pPr>
            <a:r>
              <a:rPr sz="1650" b="1">
                <a:solidFill>
                  <a:srgbClr val="111111"/>
                </a:solidFill>
                <a:latin typeface="Calibri"/>
                <a:ea typeface="Calibri"/>
                <a:cs typeface="Calibri"/>
              </a:rPr>
              <a:t>Adaptive filter mixtures at up4 / up3</a:t>
            </a:r>
          </a:p>
          <a:p>
            <a:pPr algn="ctr">
              <a:buNone/>
              <a:defRPr sz="1650" b="1">
                <a:solidFill>
                  <a:srgbClr val="111111"/>
                </a:solidFill>
                <a:latin typeface="Calibri"/>
                <a:ea typeface="Calibri"/>
                <a:cs typeface="Calibri"/>
              </a:defRPr>
            </a:pPr>
            <a:r>
              <a:rPr sz="1650" b="1">
                <a:solidFill>
                  <a:srgbClr val="111111"/>
                </a:solidFill>
                <a:latin typeface="Calibri"/>
                <a:ea typeface="Calibri"/>
                <a:cs typeface="Calibri"/>
              </a:rPr>
              <a:t>Skip high-pass residual</a:t>
            </a:r>
          </a:p>
        </p:txBody>
      </p:sp>
      <p:cxnSp>
        <p:nvCxnSpPr>
          <p:cNvPr id="161" name="直接箭头连接符 160"/>
          <p:cNvCxnSpPr>
            <a:stCxn id="30" idx="3"/>
            <a:endCxn id="32" idx="1"/>
          </p:cNvCxnSpPr>
          <p:nvPr/>
        </p:nvCxnSpPr>
        <p:spPr>
          <a:xfrm>
            <a:off x="3638550" y="5124450"/>
            <a:ext cx="638175" cy="0"/>
          </a:xfrm>
          <a:prstGeom prst="straightConnector1">
            <a:avLst/>
          </a:prstGeom>
          <a:ln w="19050">
            <a:solidFill>
              <a:srgbClr val="555555"/>
            </a:solidFill>
            <a:tailEnd type="arrow" w="med" len="med"/>
          </a:ln>
        </p:spPr>
      </p:cxnSp>
      <p:cxnSp>
        <p:nvCxnSpPr>
          <p:cNvPr id="162" name="连接符: 肘形 161"/>
          <p:cNvCxnSpPr>
            <a:stCxn id="32" idx="3"/>
            <a:endCxn id="10" idx="1"/>
          </p:cNvCxnSpPr>
          <p:nvPr/>
        </p:nvCxnSpPr>
        <p:spPr>
          <a:xfrm flipV="1">
            <a:off x="9420225" y="3781425"/>
            <a:ext cx="895350" cy="1343025"/>
          </a:xfrm>
          <a:prstGeom prst="bentConnector3">
            <a:avLst>
              <a:gd name="adj1" fmla="val 50000"/>
            </a:avLst>
          </a:prstGeom>
          <a:ln w="19050">
            <a:solidFill>
              <a:srgbClr val="555555"/>
            </a:solidFill>
            <a:tailEnd type="arrow" w="med" len="med"/>
          </a:ln>
        </p:spPr>
      </p:cxnSp>
      <p:sp>
        <p:nvSpPr>
          <p:cNvPr id="36" name="The next decoder block concatenates Y with D′. At ">
            <a:extLst>
              <a:ext uri="{FF2B5EF4-FFF2-40B4-BE49-F238E27FC236}">
                <a16:creationId xmlns:a16="http://schemas.microsoft.com/office/drawing/2014/main" id="{E940919F-4D60-4B57-9939-3105FE3A52DE}"/>
              </a:ext>
            </a:extLst>
          </p:cNvPr>
          <p:cNvSpPr>
            <a:spLocks noGrp="1"/>
          </p:cNvSpPr>
          <p:nvPr/>
        </p:nvSpPr>
        <p:spPr>
          <a:xfrm>
            <a:off x="638175" y="5762625"/>
            <a:ext cx="10915650" cy="419100"/>
          </a:xfrm>
          <a:prstGeom prst="rect">
            <a:avLst/>
          </a:prstGeom>
          <a:noFill/>
          <a:ln w="0">
            <a:noFill/>
          </a:ln>
        </p:spPr>
        <p:txBody>
          <a:bodyPr wrap="square" lIns="0" tIns="0" rIns="0" bIns="0" anchor="t">
            <a:noAutofit/>
          </a:bodyPr>
          <a:lstStyle/>
          <a:p>
            <a:pPr algn="l">
              <a:buNone/>
              <a:defRPr sz="1800" b="0">
                <a:solidFill>
                  <a:srgbClr val="111111"/>
                </a:solidFill>
                <a:latin typeface="Calibri"/>
                <a:ea typeface="Calibri"/>
                <a:cs typeface="Calibri"/>
              </a:defRPr>
            </a:pPr>
            <a:r>
              <a:rPr sz="1800" b="0">
                <a:solidFill>
                  <a:srgbClr val="111111"/>
                </a:solidFill>
                <a:latin typeface="Calibri"/>
                <a:ea typeface="Calibri"/>
                <a:cs typeface="Calibri"/>
              </a:rPr>
              <a:t>The next decoder block concatenates Y with D′. At up2 / up1, D′ = D.</a:t>
            </a:r>
          </a:p>
        </p:txBody>
      </p:sp>
      <p:sp>
        <p:nvSpPr>
          <p:cNvPr id="101" name="Contribution 1: FSDR">
            <a:extLst>
              <a:ext uri="{FF2B5EF4-FFF2-40B4-BE49-F238E27FC236}">
                <a16:creationId xmlns:a16="http://schemas.microsoft.com/office/drawing/2014/main" id="{1AB08B53-8685-4475-A92B-A8E36857EA02}"/>
              </a:ext>
            </a:extLst>
          </p:cNvPr>
          <p:cNvSpPr>
            <a:spLocks noGrp="1"/>
          </p:cNvSpPr>
          <p:nvPr/>
        </p:nvSpPr>
        <p:spPr>
          <a:xfrm>
            <a:off x="638175" y="6467475"/>
            <a:ext cx="9906000" cy="190500"/>
          </a:xfrm>
          <a:prstGeom prst="rect">
            <a:avLst/>
          </a:prstGeom>
          <a:noFill/>
          <a:ln w="0">
            <a:noFill/>
          </a:ln>
        </p:spPr>
        <p:txBody>
          <a:bodyPr wrap="square" lIns="0" tIns="0" rIns="0" bIns="0" anchor="t">
            <a:noAutofit/>
          </a:bodyPr>
          <a:lstStyle/>
          <a:p>
            <a:pPr algn="l">
              <a:buNone/>
              <a:defRPr sz="900" b="0">
                <a:solidFill>
                  <a:srgbClr val="999999"/>
                </a:solidFill>
                <a:latin typeface="Calibri"/>
                <a:ea typeface="Calibri"/>
                <a:cs typeface="Calibri"/>
              </a:defRPr>
            </a:pPr>
            <a:r>
              <a:rPr sz="900" b="0">
                <a:solidFill>
                  <a:srgbClr val="999999"/>
                </a:solidFill>
                <a:latin typeface="Calibri"/>
                <a:ea typeface="Calibri"/>
                <a:cs typeface="Calibri"/>
              </a:rPr>
              <a:t>Contribution 1: FSDR</a:t>
            </a:r>
          </a:p>
        </p:txBody>
      </p:sp>
      <p:sp>
        <p:nvSpPr>
          <p:cNvPr id="102" name="5">
            <a:extLst>
              <a:ext uri="{FF2B5EF4-FFF2-40B4-BE49-F238E27FC236}">
                <a16:creationId xmlns:a16="http://schemas.microsoft.com/office/drawing/2014/main" id="{0CD50487-1BA3-4564-BFFA-C0EAE597C864}"/>
              </a:ext>
            </a:extLst>
          </p:cNvPr>
          <p:cNvSpPr>
            <a:spLocks noGrp="1"/>
          </p:cNvSpPr>
          <p:nvPr/>
        </p:nvSpPr>
        <p:spPr>
          <a:xfrm>
            <a:off x="11144250" y="6467475"/>
            <a:ext cx="409575" cy="190500"/>
          </a:xfrm>
          <a:prstGeom prst="rect">
            <a:avLst/>
          </a:prstGeom>
          <a:noFill/>
          <a:ln w="0">
            <a:noFill/>
          </a:ln>
        </p:spPr>
        <p:txBody>
          <a:bodyPr wrap="square" lIns="0" tIns="0" rIns="0" bIns="0" anchor="t">
            <a:noAutofit/>
          </a:bodyPr>
          <a:lstStyle/>
          <a:p>
            <a:pPr algn="r">
              <a:buNone/>
              <a:defRPr sz="900" b="0">
                <a:solidFill>
                  <a:srgbClr val="999999"/>
                </a:solidFill>
                <a:latin typeface="Calibri"/>
                <a:ea typeface="Calibri"/>
                <a:cs typeface="Calibri"/>
              </a:defRPr>
            </a:pPr>
            <a:r>
              <a:rPr sz="900" b="0">
                <a:solidFill>
                  <a:srgbClr val="999999"/>
                </a:solidFill>
                <a:latin typeface="Calibri"/>
                <a:ea typeface="Calibri"/>
                <a:cs typeface="Calibri"/>
              </a:rPr>
              <a:t>5</a:t>
            </a:r>
          </a:p>
        </p:txBody>
      </p:sp>
    </p:spTree>
    <p:extLst>
      <p:ext uri="{BB962C8B-B14F-4D97-AF65-F5344CB8AC3E}">
        <p14:creationId xmlns:p14="http://schemas.microsoft.com/office/powerpoint/2010/main" val="7373958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8214F29-A63B-48B0-AD77-00DD9CC46017}"/>
              </a:ext>
            </a:extLst>
          </p:cNvPr>
          <p:cNvSpPr>
            <a:spLocks noGrp="1"/>
          </p:cNvSpPr>
          <p:nvPr/>
        </p:nvSpPr>
        <p:spPr>
          <a:xfrm>
            <a:off x="640080" y="361950"/>
            <a:ext cx="10915650" cy="952500"/>
          </a:xfrm>
          <a:prstGeom prst="rect">
            <a:avLst/>
          </a:prstGeom>
          <a:noFill/>
        </p:spPr>
        <p:txBody>
          <a:bodyPr wrap="square" lIns="0" tIns="0" rIns="0" bIns="0" anchor="ctr">
            <a:noAutofit/>
          </a:bodyPr>
          <a:lstStyle/>
          <a:p>
            <a:pPr marL="0" indent="0">
              <a:buNone/>
              <a:defRPr sz="3000" b="1">
                <a:solidFill>
                  <a:srgbClr val="111111"/>
                </a:solidFill>
                <a:latin typeface="Cambria"/>
                <a:ea typeface="Cambria"/>
                <a:cs typeface="Cambria"/>
              </a:defRPr>
            </a:pPr>
            <a:r>
              <a:rPr sz="3000" b="1">
                <a:solidFill>
                  <a:srgbClr val="111111"/>
                </a:solidFill>
                <a:latin typeface="Cambria"/>
                <a:ea typeface="Cambria"/>
                <a:cs typeface="Cambria"/>
              </a:rPr>
              <a:t>FSDR: matched fusion results</a:t>
            </a:r>
            <a:endParaRPr sz="2800"/>
          </a:p>
        </p:txBody>
      </p:sp>
      <p:sp>
        <p:nvSpPr>
          <p:cNvPr id="7" name="Test macro metrics · 2,113 images · threshold 0.5 · 150 epoc">
            <a:extLst>
              <a:ext uri="{FF2B5EF4-FFF2-40B4-BE49-F238E27FC236}">
                <a16:creationId xmlns:a16="http://schemas.microsoft.com/office/drawing/2014/main" id="{FFBF3A3F-F52B-4749-8DDD-39910BACCE3F}"/>
              </a:ext>
            </a:extLst>
          </p:cNvPr>
          <p:cNvSpPr>
            <a:spLocks noGrp="1"/>
          </p:cNvSpPr>
          <p:nvPr/>
        </p:nvSpPr>
        <p:spPr>
          <a:xfrm>
            <a:off x="638175" y="1428750"/>
            <a:ext cx="10915650" cy="276225"/>
          </a:xfrm>
          <a:prstGeom prst="rect">
            <a:avLst/>
          </a:prstGeom>
          <a:noFill/>
          <a:ln w="0">
            <a:noFill/>
          </a:ln>
        </p:spPr>
        <p:txBody>
          <a:bodyPr wrap="square" lIns="0" tIns="0" rIns="0" bIns="0" anchor="t">
            <a:noAutofit/>
          </a:bodyPr>
          <a:lstStyle/>
          <a:p>
            <a:pPr algn="l">
              <a:buNone/>
              <a:defRPr sz="1575" b="0">
                <a:solidFill>
                  <a:srgbClr val="606060"/>
                </a:solidFill>
                <a:latin typeface="Calibri"/>
                <a:ea typeface="Calibri"/>
                <a:cs typeface="Calibri"/>
              </a:defRPr>
            </a:pPr>
            <a:r>
              <a:rPr sz="1575" b="0">
                <a:solidFill>
                  <a:srgbClr val="606060"/>
                </a:solidFill>
                <a:latin typeface="Calibri"/>
                <a:ea typeface="Calibri"/>
                <a:cs typeface="Calibri"/>
              </a:rPr>
              <a:t>Test macro metrics · 2,113 images · threshold 0.5 · 150 epochs · seed 1219</a:t>
            </a:r>
          </a:p>
        </p:txBody>
      </p:sp>
      <p:graphicFrame>
        <p:nvGraphicFramePr>
          <p:cNvPr id="17" name="表格 16"/>
          <p:cNvGraphicFramePr/>
          <p:nvPr/>
        </p:nvGraphicFramePr>
        <p:xfrm>
          <a:off x="638175" y="1809750"/>
          <a:ext cx="10915650" cy="2971800"/>
        </p:xfrm>
        <a:graphic>
          <a:graphicData uri="http://schemas.openxmlformats.org/drawingml/2006/table">
            <a:tbl>
              <a:tblPr/>
              <a:tblGrid>
                <a:gridCol w="3714750">
                  <a:extLst>
                    <a:ext uri="{9D8B030D-6E8A-4147-A177-3AD203B41FA5}">
                      <a16:colId xmlns:a16="http://schemas.microsoft.com/office/drawing/2014/main" val="20000"/>
                    </a:ext>
                  </a:extLst>
                </a:gridCol>
                <a:gridCol w="1762125">
                  <a:extLst>
                    <a:ext uri="{9D8B030D-6E8A-4147-A177-3AD203B41FA5}">
                      <a16:colId xmlns:a16="http://schemas.microsoft.com/office/drawing/2014/main" val="20001"/>
                    </a:ext>
                  </a:extLst>
                </a:gridCol>
                <a:gridCol w="1762125">
                  <a:extLst>
                    <a:ext uri="{9D8B030D-6E8A-4147-A177-3AD203B41FA5}">
                      <a16:colId xmlns:a16="http://schemas.microsoft.com/office/drawing/2014/main" val="20002"/>
                    </a:ext>
                  </a:extLst>
                </a:gridCol>
                <a:gridCol w="1838325">
                  <a:extLst>
                    <a:ext uri="{9D8B030D-6E8A-4147-A177-3AD203B41FA5}">
                      <a16:colId xmlns:a16="http://schemas.microsoft.com/office/drawing/2014/main" val="20003"/>
                    </a:ext>
                  </a:extLst>
                </a:gridCol>
                <a:gridCol w="1838325">
                  <a:extLst>
                    <a:ext uri="{9D8B030D-6E8A-4147-A177-3AD203B41FA5}">
                      <a16:colId xmlns:a16="http://schemas.microsoft.com/office/drawing/2014/main" val="20004"/>
                    </a:ext>
                  </a:extLst>
                </a:gridCol>
              </a:tblGrid>
              <a:tr h="742950">
                <a:tc>
                  <a:txBody>
                    <a:bodyPr/>
                    <a:lstStyle/>
                    <a:p>
                      <a:r>
                        <a:rPr sz="1800" b="1" dirty="0">
                          <a:solidFill>
                            <a:srgbClr val="FFFFFF"/>
                          </a:solidFill>
                          <a:latin typeface="Calibri"/>
                          <a:ea typeface="Calibri"/>
                          <a:cs typeface="Calibri"/>
                        </a:rPr>
                        <a:t>Fixed setting</a:t>
                      </a:r>
                    </a:p>
                  </a:txBody>
                  <a:tcPr marL="114300" marR="95250" marT="66675" marB="47625" anchor="ctr">
                    <a:solidFill>
                      <a:srgbClr val="111111"/>
                    </a:solidFill>
                  </a:tcPr>
                </a:tc>
                <a:tc>
                  <a:txBody>
                    <a:bodyPr/>
                    <a:lstStyle/>
                    <a:p>
                      <a:r>
                        <a:rPr sz="1800" b="1" dirty="0">
                          <a:solidFill>
                            <a:srgbClr val="FFFFFF"/>
                          </a:solidFill>
                          <a:latin typeface="Calibri"/>
                          <a:ea typeface="Calibri"/>
                          <a:cs typeface="Calibri"/>
                        </a:rPr>
                        <a:t>PLAM </a:t>
                      </a:r>
                      <a:r>
                        <a:rPr sz="1800" b="1" dirty="0" err="1">
                          <a:solidFill>
                            <a:srgbClr val="FFFFFF"/>
                          </a:solidFill>
                          <a:latin typeface="Calibri"/>
                          <a:ea typeface="Calibri"/>
                          <a:cs typeface="Calibri"/>
                        </a:rPr>
                        <a:t>IoU</a:t>
                      </a:r>
                      <a:endParaRPr sz="1800" b="1" dirty="0">
                        <a:solidFill>
                          <a:srgbClr val="FFFFFF"/>
                        </a:solidFill>
                        <a:latin typeface="Calibri"/>
                        <a:ea typeface="Calibri"/>
                        <a:cs typeface="Calibri"/>
                      </a:endParaRPr>
                    </a:p>
                  </a:txBody>
                  <a:tcPr marL="114300" marR="95250" marT="66675" marB="47625" anchor="ctr">
                    <a:solidFill>
                      <a:srgbClr val="111111"/>
                    </a:solidFill>
                  </a:tcPr>
                </a:tc>
                <a:tc>
                  <a:txBody>
                    <a:bodyPr/>
                    <a:lstStyle/>
                    <a:p>
                      <a:r>
                        <a:rPr sz="1800" b="1" dirty="0">
                          <a:solidFill>
                            <a:srgbClr val="FFFFFF"/>
                          </a:solidFill>
                          <a:latin typeface="Calibri"/>
                          <a:ea typeface="Calibri"/>
                          <a:cs typeface="Calibri"/>
                        </a:rPr>
                        <a:t>FSDR </a:t>
                      </a:r>
                      <a:r>
                        <a:rPr sz="1800" b="1" dirty="0" err="1">
                          <a:solidFill>
                            <a:srgbClr val="FFFFFF"/>
                          </a:solidFill>
                          <a:latin typeface="Calibri"/>
                          <a:ea typeface="Calibri"/>
                          <a:cs typeface="Calibri"/>
                        </a:rPr>
                        <a:t>IoU</a:t>
                      </a:r>
                      <a:endParaRPr sz="1800" b="1" dirty="0">
                        <a:solidFill>
                          <a:srgbClr val="FFFFFF"/>
                        </a:solidFill>
                        <a:latin typeface="Calibri"/>
                        <a:ea typeface="Calibri"/>
                        <a:cs typeface="Calibri"/>
                      </a:endParaRPr>
                    </a:p>
                  </a:txBody>
                  <a:tcPr marL="114300" marR="95250" marT="66675" marB="47625" anchor="ctr">
                    <a:solidFill>
                      <a:srgbClr val="111111"/>
                    </a:solidFill>
                  </a:tcPr>
                </a:tc>
                <a:tc>
                  <a:txBody>
                    <a:bodyPr/>
                    <a:lstStyle/>
                    <a:p>
                      <a:r>
                        <a:rPr sz="1800" b="1" dirty="0">
                          <a:solidFill>
                            <a:srgbClr val="FFFFFF"/>
                          </a:solidFill>
                          <a:latin typeface="Calibri"/>
                          <a:ea typeface="Calibri"/>
                          <a:cs typeface="Calibri"/>
                        </a:rPr>
                        <a:t>Δ </a:t>
                      </a:r>
                      <a:r>
                        <a:rPr sz="1800" b="1" dirty="0" err="1">
                          <a:solidFill>
                            <a:srgbClr val="FFFFFF"/>
                          </a:solidFill>
                          <a:latin typeface="Calibri"/>
                          <a:ea typeface="Calibri"/>
                          <a:cs typeface="Calibri"/>
                        </a:rPr>
                        <a:t>IoU</a:t>
                      </a:r>
                      <a:r>
                        <a:rPr sz="1800" b="1" dirty="0">
                          <a:solidFill>
                            <a:srgbClr val="FFFFFF"/>
                          </a:solidFill>
                          <a:latin typeface="Calibri"/>
                          <a:ea typeface="Calibri"/>
                          <a:cs typeface="Calibri"/>
                        </a:rPr>
                        <a:t> (pp)</a:t>
                      </a:r>
                    </a:p>
                  </a:txBody>
                  <a:tcPr marL="114300" marR="95250" marT="66675" marB="47625" anchor="ctr">
                    <a:solidFill>
                      <a:srgbClr val="111111"/>
                    </a:solidFill>
                  </a:tcPr>
                </a:tc>
                <a:tc>
                  <a:txBody>
                    <a:bodyPr/>
                    <a:lstStyle/>
                    <a:p>
                      <a:r>
                        <a:rPr sz="1800" b="1">
                          <a:solidFill>
                            <a:srgbClr val="FFFFFF"/>
                          </a:solidFill>
                          <a:latin typeface="Calibri"/>
                          <a:ea typeface="Calibri"/>
                          <a:cs typeface="Calibri"/>
                        </a:rPr>
                        <a:t>Δ Dice (pp)</a:t>
                      </a:r>
                    </a:p>
                  </a:txBody>
                  <a:tcPr marL="114300" marR="95250" marT="66675" marB="47625" anchor="ctr">
                    <a:solidFill>
                      <a:srgbClr val="111111"/>
                    </a:solidFill>
                  </a:tcPr>
                </a:tc>
                <a:extLst>
                  <a:ext uri="{0D108BD9-81ED-4DB2-BD59-A6C34878D82A}">
                    <a16:rowId xmlns:a16="http://schemas.microsoft.com/office/drawing/2014/main" val="10000"/>
                  </a:ext>
                </a:extLst>
              </a:tr>
              <a:tr h="742950">
                <a:tc>
                  <a:txBody>
                    <a:bodyPr/>
                    <a:lstStyle/>
                    <a:p>
                      <a:r>
                        <a:rPr sz="1800" b="0" dirty="0" err="1">
                          <a:solidFill>
                            <a:srgbClr val="111111"/>
                          </a:solidFill>
                          <a:latin typeface="Calibri"/>
                          <a:ea typeface="Calibri"/>
                          <a:cs typeface="Calibri"/>
                        </a:rPr>
                        <a:t>LoRA</a:t>
                      </a:r>
                      <a:r>
                        <a:rPr sz="1800" b="0" dirty="0">
                          <a:solidFill>
                            <a:srgbClr val="111111"/>
                          </a:solidFill>
                          <a:latin typeface="Calibri"/>
                          <a:ea typeface="Calibri"/>
                          <a:cs typeface="Calibri"/>
                        </a:rPr>
                        <a:t> · Dice/BCE</a:t>
                      </a:r>
                    </a:p>
                  </a:txBody>
                  <a:tcPr marL="114300" marR="95250" marT="66675" marB="47625" anchor="ctr">
                    <a:solidFill>
                      <a:srgbClr val="FFFFFF"/>
                    </a:solidFill>
                  </a:tcPr>
                </a:tc>
                <a:tc>
                  <a:txBody>
                    <a:bodyPr/>
                    <a:lstStyle/>
                    <a:p>
                      <a:r>
                        <a:rPr sz="1800" b="0" dirty="0">
                          <a:solidFill>
                            <a:srgbClr val="111111"/>
                          </a:solidFill>
                          <a:latin typeface="Calibri"/>
                          <a:ea typeface="Calibri"/>
                          <a:cs typeface="Calibri"/>
                        </a:rPr>
                        <a:t>74.328%</a:t>
                      </a:r>
                    </a:p>
                  </a:txBody>
                  <a:tcPr marL="114300" marR="95250" marT="66675" marB="47625" anchor="ctr">
                    <a:solidFill>
                      <a:srgbClr val="FFFFFF"/>
                    </a:solidFill>
                  </a:tcPr>
                </a:tc>
                <a:tc>
                  <a:txBody>
                    <a:bodyPr/>
                    <a:lstStyle/>
                    <a:p>
                      <a:r>
                        <a:rPr sz="1800" b="0" dirty="0">
                          <a:solidFill>
                            <a:srgbClr val="111111"/>
                          </a:solidFill>
                          <a:latin typeface="Calibri"/>
                          <a:ea typeface="Calibri"/>
                          <a:cs typeface="Calibri"/>
                        </a:rPr>
                        <a:t>75.790%</a:t>
                      </a:r>
                    </a:p>
                  </a:txBody>
                  <a:tcPr marL="114300" marR="95250" marT="66675" marB="47625" anchor="ctr">
                    <a:solidFill>
                      <a:srgbClr val="FFFFFF"/>
                    </a:solidFill>
                  </a:tcPr>
                </a:tc>
                <a:tc>
                  <a:txBody>
                    <a:bodyPr/>
                    <a:lstStyle/>
                    <a:p>
                      <a:r>
                        <a:rPr sz="1800" b="0" dirty="0">
                          <a:solidFill>
                            <a:srgbClr val="111111"/>
                          </a:solidFill>
                          <a:latin typeface="Calibri"/>
                          <a:ea typeface="Calibri"/>
                          <a:cs typeface="Calibri"/>
                        </a:rPr>
                        <a:t>+1.462</a:t>
                      </a:r>
                    </a:p>
                  </a:txBody>
                  <a:tcPr marL="114300" marR="95250" marT="66675" marB="47625" anchor="ctr">
                    <a:solidFill>
                      <a:srgbClr val="FFFFFF"/>
                    </a:solidFill>
                  </a:tcPr>
                </a:tc>
                <a:tc>
                  <a:txBody>
                    <a:bodyPr/>
                    <a:lstStyle/>
                    <a:p>
                      <a:r>
                        <a:rPr sz="1800" b="0" dirty="0">
                          <a:solidFill>
                            <a:srgbClr val="111111"/>
                          </a:solidFill>
                          <a:latin typeface="Calibri"/>
                          <a:ea typeface="Calibri"/>
                          <a:cs typeface="Calibri"/>
                        </a:rPr>
                        <a:t>+1.253</a:t>
                      </a:r>
                    </a:p>
                  </a:txBody>
                  <a:tcPr marL="114300" marR="95250" marT="66675" marB="47625" anchor="ctr">
                    <a:solidFill>
                      <a:srgbClr val="FFFFFF"/>
                    </a:solidFill>
                  </a:tcPr>
                </a:tc>
                <a:extLst>
                  <a:ext uri="{0D108BD9-81ED-4DB2-BD59-A6C34878D82A}">
                    <a16:rowId xmlns:a16="http://schemas.microsoft.com/office/drawing/2014/main" val="10001"/>
                  </a:ext>
                </a:extLst>
              </a:tr>
              <a:tr h="742950">
                <a:tc>
                  <a:txBody>
                    <a:bodyPr/>
                    <a:lstStyle/>
                    <a:p>
                      <a:r>
                        <a:rPr sz="1800" b="0" dirty="0" err="1">
                          <a:solidFill>
                            <a:srgbClr val="111111"/>
                          </a:solidFill>
                          <a:latin typeface="Calibri"/>
                          <a:ea typeface="Calibri"/>
                          <a:cs typeface="Calibri"/>
                        </a:rPr>
                        <a:t>LoRA</a:t>
                      </a:r>
                      <a:r>
                        <a:rPr sz="1800" b="0" dirty="0">
                          <a:solidFill>
                            <a:srgbClr val="111111"/>
                          </a:solidFill>
                          <a:latin typeface="Calibri"/>
                          <a:ea typeface="Calibri"/>
                          <a:cs typeface="Calibri"/>
                        </a:rPr>
                        <a:t> · Dice/Focal</a:t>
                      </a:r>
                    </a:p>
                  </a:txBody>
                  <a:tcPr marL="114300" marR="95250" marT="66675" marB="47625" anchor="ctr">
                    <a:solidFill>
                      <a:srgbClr val="F3F3F3"/>
                    </a:solidFill>
                  </a:tcPr>
                </a:tc>
                <a:tc>
                  <a:txBody>
                    <a:bodyPr/>
                    <a:lstStyle/>
                    <a:p>
                      <a:r>
                        <a:rPr sz="1800" b="0" dirty="0">
                          <a:solidFill>
                            <a:srgbClr val="111111"/>
                          </a:solidFill>
                          <a:latin typeface="Calibri"/>
                          <a:ea typeface="Calibri"/>
                          <a:cs typeface="Calibri"/>
                        </a:rPr>
                        <a:t>74.713%</a:t>
                      </a:r>
                    </a:p>
                  </a:txBody>
                  <a:tcPr marL="114300" marR="95250" marT="66675" marB="47625" anchor="ctr">
                    <a:solidFill>
                      <a:srgbClr val="F3F3F3"/>
                    </a:solidFill>
                  </a:tcPr>
                </a:tc>
                <a:tc>
                  <a:txBody>
                    <a:bodyPr/>
                    <a:lstStyle/>
                    <a:p>
                      <a:r>
                        <a:rPr sz="1800" b="0" dirty="0">
                          <a:solidFill>
                            <a:srgbClr val="111111"/>
                          </a:solidFill>
                          <a:latin typeface="Calibri"/>
                          <a:ea typeface="Calibri"/>
                          <a:cs typeface="Calibri"/>
                        </a:rPr>
                        <a:t>75.991%</a:t>
                      </a:r>
                    </a:p>
                  </a:txBody>
                  <a:tcPr marL="114300" marR="95250" marT="66675" marB="47625" anchor="ctr">
                    <a:solidFill>
                      <a:srgbClr val="F3F3F3"/>
                    </a:solidFill>
                  </a:tcPr>
                </a:tc>
                <a:tc>
                  <a:txBody>
                    <a:bodyPr/>
                    <a:lstStyle/>
                    <a:p>
                      <a:r>
                        <a:rPr sz="1800" b="0" dirty="0">
                          <a:solidFill>
                            <a:srgbClr val="111111"/>
                          </a:solidFill>
                          <a:latin typeface="Calibri"/>
                          <a:ea typeface="Calibri"/>
                          <a:cs typeface="Calibri"/>
                        </a:rPr>
                        <a:t>+1.278</a:t>
                      </a:r>
                    </a:p>
                  </a:txBody>
                  <a:tcPr marL="114300" marR="95250" marT="66675" marB="47625" anchor="ctr">
                    <a:solidFill>
                      <a:srgbClr val="F3F3F3"/>
                    </a:solidFill>
                  </a:tcPr>
                </a:tc>
                <a:tc>
                  <a:txBody>
                    <a:bodyPr/>
                    <a:lstStyle/>
                    <a:p>
                      <a:r>
                        <a:rPr sz="1800" b="0" dirty="0">
                          <a:solidFill>
                            <a:srgbClr val="111111"/>
                          </a:solidFill>
                          <a:latin typeface="Calibri"/>
                          <a:ea typeface="Calibri"/>
                          <a:cs typeface="Calibri"/>
                        </a:rPr>
                        <a:t>+0.970</a:t>
                      </a:r>
                    </a:p>
                  </a:txBody>
                  <a:tcPr marL="114300" marR="95250" marT="66675" marB="47625" anchor="ctr">
                    <a:solidFill>
                      <a:srgbClr val="F3F3F3"/>
                    </a:solidFill>
                  </a:tcPr>
                </a:tc>
                <a:extLst>
                  <a:ext uri="{0D108BD9-81ED-4DB2-BD59-A6C34878D82A}">
                    <a16:rowId xmlns:a16="http://schemas.microsoft.com/office/drawing/2014/main" val="10002"/>
                  </a:ext>
                </a:extLst>
              </a:tr>
              <a:tr h="742950">
                <a:tc>
                  <a:txBody>
                    <a:bodyPr/>
                    <a:lstStyle/>
                    <a:p>
                      <a:r>
                        <a:rPr sz="1800" b="0" dirty="0">
                          <a:solidFill>
                            <a:srgbClr val="111111"/>
                          </a:solidFill>
                          <a:latin typeface="Calibri"/>
                          <a:ea typeface="Calibri"/>
                          <a:cs typeface="Calibri"/>
                        </a:rPr>
                        <a:t>Frozen text + fixed router · Dice/BCE</a:t>
                      </a:r>
                    </a:p>
                  </a:txBody>
                  <a:tcPr marL="114300" marR="95250" marT="66675" marB="47625" anchor="ctr">
                    <a:solidFill>
                      <a:srgbClr val="FFFFFF"/>
                    </a:solidFill>
                  </a:tcPr>
                </a:tc>
                <a:tc>
                  <a:txBody>
                    <a:bodyPr/>
                    <a:lstStyle/>
                    <a:p>
                      <a:r>
                        <a:rPr sz="1800" b="0" dirty="0">
                          <a:solidFill>
                            <a:srgbClr val="111111"/>
                          </a:solidFill>
                          <a:latin typeface="Calibri"/>
                          <a:ea typeface="Calibri"/>
                          <a:cs typeface="Calibri"/>
                        </a:rPr>
                        <a:t>74.739%</a:t>
                      </a:r>
                    </a:p>
                  </a:txBody>
                  <a:tcPr marL="114300" marR="95250" marT="66675" marB="47625" anchor="ctr">
                    <a:solidFill>
                      <a:srgbClr val="FFFFFF"/>
                    </a:solidFill>
                  </a:tcPr>
                </a:tc>
                <a:tc>
                  <a:txBody>
                    <a:bodyPr/>
                    <a:lstStyle/>
                    <a:p>
                      <a:r>
                        <a:rPr sz="1800" b="0" dirty="0">
                          <a:solidFill>
                            <a:srgbClr val="111111"/>
                          </a:solidFill>
                          <a:latin typeface="Calibri"/>
                          <a:ea typeface="Calibri"/>
                          <a:cs typeface="Calibri"/>
                        </a:rPr>
                        <a:t>75.721%</a:t>
                      </a:r>
                    </a:p>
                  </a:txBody>
                  <a:tcPr marL="114300" marR="95250" marT="66675" marB="47625" anchor="ctr">
                    <a:solidFill>
                      <a:srgbClr val="FFFFFF"/>
                    </a:solidFill>
                  </a:tcPr>
                </a:tc>
                <a:tc>
                  <a:txBody>
                    <a:bodyPr/>
                    <a:lstStyle/>
                    <a:p>
                      <a:r>
                        <a:rPr sz="1800" b="0" dirty="0">
                          <a:solidFill>
                            <a:srgbClr val="111111"/>
                          </a:solidFill>
                          <a:latin typeface="Calibri"/>
                          <a:ea typeface="Calibri"/>
                          <a:cs typeface="Calibri"/>
                        </a:rPr>
                        <a:t>+0.981</a:t>
                      </a:r>
                    </a:p>
                  </a:txBody>
                  <a:tcPr marL="114300" marR="95250" marT="66675" marB="47625" anchor="ctr">
                    <a:solidFill>
                      <a:srgbClr val="FFFFFF"/>
                    </a:solidFill>
                  </a:tcPr>
                </a:tc>
                <a:tc>
                  <a:txBody>
                    <a:bodyPr/>
                    <a:lstStyle/>
                    <a:p>
                      <a:r>
                        <a:rPr sz="1800" b="0" dirty="0">
                          <a:solidFill>
                            <a:srgbClr val="111111"/>
                          </a:solidFill>
                          <a:latin typeface="Calibri"/>
                          <a:ea typeface="Calibri"/>
                          <a:cs typeface="Calibri"/>
                        </a:rPr>
                        <a:t>+0.840</a:t>
                      </a:r>
                    </a:p>
                  </a:txBody>
                  <a:tcPr marL="114300" marR="95250" marT="66675" marB="47625" anchor="ctr">
                    <a:solidFill>
                      <a:srgbClr val="FFFFFF"/>
                    </a:solidFill>
                  </a:tcPr>
                </a:tc>
                <a:extLst>
                  <a:ext uri="{0D108BD9-81ED-4DB2-BD59-A6C34878D82A}">
                    <a16:rowId xmlns:a16="http://schemas.microsoft.com/office/drawing/2014/main" val="10003"/>
                  </a:ext>
                </a:extLst>
              </a:tr>
            </a:tbl>
          </a:graphicData>
        </a:graphic>
      </p:graphicFrame>
      <p:sp>
        <p:nvSpPr>
          <p:cNvPr id="9" name="Within each pair: same text setting, loss, training budget a">
            <a:extLst>
              <a:ext uri="{FF2B5EF4-FFF2-40B4-BE49-F238E27FC236}">
                <a16:creationId xmlns:a16="http://schemas.microsoft.com/office/drawing/2014/main" id="{77B5073C-994D-4167-931C-522D50366459}"/>
              </a:ext>
            </a:extLst>
          </p:cNvPr>
          <p:cNvSpPr>
            <a:spLocks noGrp="1"/>
          </p:cNvSpPr>
          <p:nvPr/>
        </p:nvSpPr>
        <p:spPr>
          <a:xfrm>
            <a:off x="638175" y="4972050"/>
            <a:ext cx="10915650" cy="666750"/>
          </a:xfrm>
          <a:prstGeom prst="rect">
            <a:avLst/>
          </a:prstGeom>
          <a:noFill/>
          <a:ln w="0">
            <a:noFill/>
          </a:ln>
        </p:spPr>
        <p:txBody>
          <a:bodyPr wrap="square" lIns="0" tIns="0" rIns="0" bIns="0" anchor="t">
            <a:noAutofit/>
          </a:bodyPr>
          <a:lstStyle/>
          <a:p>
            <a:pPr algn="l">
              <a:buNone/>
              <a:defRPr sz="1800" b="0">
                <a:solidFill>
                  <a:srgbClr val="111111"/>
                </a:solidFill>
                <a:latin typeface="Calibri"/>
                <a:ea typeface="Calibri"/>
                <a:cs typeface="Calibri"/>
              </a:defRPr>
            </a:pPr>
            <a:r>
              <a:rPr sz="1800" b="0">
                <a:solidFill>
                  <a:srgbClr val="111111"/>
                </a:solidFill>
                <a:latin typeface="Calibri"/>
                <a:ea typeface="Calibri"/>
                <a:cs typeface="Calibri"/>
              </a:rPr>
              <a:t>Within each pair: same text setting, loss, training budget and seed; fusion changes.</a:t>
            </a:r>
          </a:p>
          <a:p>
            <a:pPr algn="l">
              <a:buNone/>
              <a:defRPr sz="1800" b="0">
                <a:solidFill>
                  <a:srgbClr val="111111"/>
                </a:solidFill>
                <a:latin typeface="Calibri"/>
                <a:ea typeface="Calibri"/>
                <a:cs typeface="Calibri"/>
              </a:defRPr>
            </a:pPr>
            <a:r>
              <a:rPr sz="1800" b="0">
                <a:solidFill>
                  <a:srgbClr val="111111"/>
                </a:solidFill>
                <a:latin typeface="Calibri"/>
                <a:ea typeface="Calibri"/>
                <a:cs typeface="Calibri"/>
              </a:rPr>
              <a:t>Frozen-text comparison retains the same cross-scale router in both arms.</a:t>
            </a:r>
          </a:p>
        </p:txBody>
      </p:sp>
      <p:sp>
        <p:nvSpPr>
          <p:cNvPr id="10" name="Positive module-level effects in three settings; each pair u">
            <a:extLst>
              <a:ext uri="{FF2B5EF4-FFF2-40B4-BE49-F238E27FC236}">
                <a16:creationId xmlns:a16="http://schemas.microsoft.com/office/drawing/2014/main" id="{5E11C44C-A1E2-4704-A329-BEFF83A1FEE7}"/>
              </a:ext>
            </a:extLst>
          </p:cNvPr>
          <p:cNvSpPr>
            <a:spLocks noGrp="1"/>
          </p:cNvSpPr>
          <p:nvPr/>
        </p:nvSpPr>
        <p:spPr>
          <a:xfrm>
            <a:off x="638175" y="5800725"/>
            <a:ext cx="10915650" cy="514350"/>
          </a:xfrm>
          <a:prstGeom prst="rect">
            <a:avLst/>
          </a:prstGeom>
          <a:solidFill>
            <a:srgbClr val="111111"/>
          </a:solidFill>
          <a:ln w="0">
            <a:noFill/>
          </a:ln>
        </p:spPr>
        <p:txBody>
          <a:bodyPr wrap="square" lIns="133350" tIns="95250" rIns="133350" bIns="66675" anchor="t">
            <a:noAutofit/>
          </a:bodyPr>
          <a:lstStyle/>
          <a:p>
            <a:pPr algn="l">
              <a:buNone/>
              <a:defRPr sz="1725" b="1">
                <a:solidFill>
                  <a:srgbClr val="FFFFFF"/>
                </a:solidFill>
                <a:latin typeface="Calibri"/>
                <a:ea typeface="Calibri"/>
                <a:cs typeface="Calibri"/>
              </a:defRPr>
            </a:pPr>
            <a:r>
              <a:rPr sz="1725" b="1">
                <a:solidFill>
                  <a:srgbClr val="FFFFFF"/>
                </a:solidFill>
                <a:latin typeface="Calibri"/>
                <a:ea typeface="Calibri"/>
                <a:cs typeface="Calibri"/>
              </a:rPr>
              <a:t>Positive module-level effects in three settings; each pair uses one training seed</a:t>
            </a:r>
          </a:p>
        </p:txBody>
      </p:sp>
      <p:sp>
        <p:nvSpPr>
          <p:cNvPr id="12" name="Matched FSDR evidence">
            <a:extLst>
              <a:ext uri="{FF2B5EF4-FFF2-40B4-BE49-F238E27FC236}">
                <a16:creationId xmlns:a16="http://schemas.microsoft.com/office/drawing/2014/main" id="{98CD1BDD-8840-47BF-85D1-C39C9A82016E}"/>
              </a:ext>
            </a:extLst>
          </p:cNvPr>
          <p:cNvSpPr>
            <a:spLocks noGrp="1"/>
          </p:cNvSpPr>
          <p:nvPr/>
        </p:nvSpPr>
        <p:spPr>
          <a:xfrm>
            <a:off x="638175" y="6467475"/>
            <a:ext cx="9906000" cy="190500"/>
          </a:xfrm>
          <a:prstGeom prst="rect">
            <a:avLst/>
          </a:prstGeom>
          <a:noFill/>
          <a:ln w="0">
            <a:noFill/>
          </a:ln>
        </p:spPr>
        <p:txBody>
          <a:bodyPr wrap="square" lIns="0" tIns="0" rIns="0" bIns="0" anchor="t">
            <a:noAutofit/>
          </a:bodyPr>
          <a:lstStyle/>
          <a:p>
            <a:pPr algn="l">
              <a:buNone/>
              <a:defRPr sz="900" b="0">
                <a:solidFill>
                  <a:srgbClr val="999999"/>
                </a:solidFill>
                <a:latin typeface="Calibri"/>
                <a:ea typeface="Calibri"/>
                <a:cs typeface="Calibri"/>
              </a:defRPr>
            </a:pPr>
            <a:r>
              <a:rPr sz="900" b="0">
                <a:solidFill>
                  <a:srgbClr val="999999"/>
                </a:solidFill>
                <a:latin typeface="Calibri"/>
                <a:ea typeface="Calibri"/>
                <a:cs typeface="Calibri"/>
              </a:rPr>
              <a:t>Matched FSDR evidence</a:t>
            </a:r>
          </a:p>
        </p:txBody>
      </p:sp>
      <p:sp>
        <p:nvSpPr>
          <p:cNvPr id="13" name="6">
            <a:extLst>
              <a:ext uri="{FF2B5EF4-FFF2-40B4-BE49-F238E27FC236}">
                <a16:creationId xmlns:a16="http://schemas.microsoft.com/office/drawing/2014/main" id="{E62913B8-4F5E-47C1-B60E-CC6937CA8BC9}"/>
              </a:ext>
            </a:extLst>
          </p:cNvPr>
          <p:cNvSpPr>
            <a:spLocks noGrp="1"/>
          </p:cNvSpPr>
          <p:nvPr/>
        </p:nvSpPr>
        <p:spPr>
          <a:xfrm>
            <a:off x="11144250" y="6467475"/>
            <a:ext cx="409575" cy="190500"/>
          </a:xfrm>
          <a:prstGeom prst="rect">
            <a:avLst/>
          </a:prstGeom>
          <a:noFill/>
          <a:ln w="0">
            <a:noFill/>
          </a:ln>
        </p:spPr>
        <p:txBody>
          <a:bodyPr wrap="square" lIns="0" tIns="0" rIns="0" bIns="0" anchor="t">
            <a:noAutofit/>
          </a:bodyPr>
          <a:lstStyle/>
          <a:p>
            <a:pPr algn="r">
              <a:buNone/>
              <a:defRPr sz="900" b="0">
                <a:solidFill>
                  <a:srgbClr val="999999"/>
                </a:solidFill>
                <a:latin typeface="Calibri"/>
                <a:ea typeface="Calibri"/>
                <a:cs typeface="Calibri"/>
              </a:defRPr>
            </a:pPr>
            <a:r>
              <a:rPr sz="900" b="0">
                <a:solidFill>
                  <a:srgbClr val="999999"/>
                </a:solidFill>
                <a:latin typeface="Calibri"/>
                <a:ea typeface="Calibri"/>
                <a:cs typeface="Calibri"/>
              </a:rPr>
              <a:t>6</a:t>
            </a:r>
          </a:p>
        </p:txBody>
      </p:sp>
    </p:spTree>
    <p:extLst>
      <p:ext uri="{BB962C8B-B14F-4D97-AF65-F5344CB8AC3E}">
        <p14:creationId xmlns:p14="http://schemas.microsoft.com/office/powerpoint/2010/main" val="11128711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9C5E9113-CFCB-4810-A618-B793AFC4DA21}"/>
              </a:ext>
            </a:extLst>
          </p:cNvPr>
          <p:cNvSpPr>
            <a:spLocks noGrp="1"/>
          </p:cNvSpPr>
          <p:nvPr/>
        </p:nvSpPr>
        <p:spPr>
          <a:xfrm>
            <a:off x="640080" y="361950"/>
            <a:ext cx="10915650" cy="952500"/>
          </a:xfrm>
          <a:prstGeom prst="rect">
            <a:avLst/>
          </a:prstGeom>
          <a:noFill/>
        </p:spPr>
        <p:txBody>
          <a:bodyPr wrap="square" lIns="0" tIns="0" rIns="0" bIns="0" anchor="ctr">
            <a:noAutofit/>
          </a:bodyPr>
          <a:lstStyle/>
          <a:p>
            <a:pPr marL="0" indent="0">
              <a:buNone/>
              <a:defRPr sz="3000" b="1">
                <a:solidFill>
                  <a:srgbClr val="111111"/>
                </a:solidFill>
                <a:latin typeface="Cambria"/>
                <a:ea typeface="Cambria"/>
                <a:cs typeface="Cambria"/>
              </a:defRPr>
            </a:pPr>
            <a:r>
              <a:rPr sz="3000" b="1" dirty="0">
                <a:solidFill>
                  <a:srgbClr val="111111"/>
                </a:solidFill>
                <a:latin typeface="Cambria"/>
                <a:ea typeface="Cambria"/>
                <a:cs typeface="Cambria"/>
              </a:rPr>
              <a:t>RACE: report–visual evidence routing</a:t>
            </a:r>
            <a:endParaRPr sz="2800" dirty="0"/>
          </a:p>
        </p:txBody>
      </p:sp>
      <p:sp>
        <p:nvSpPr>
          <p:cNvPr id="3" name="Mermaid race T">
            <a:extLst>
              <a:ext uri="{FF2B5EF4-FFF2-40B4-BE49-F238E27FC236}">
                <a16:creationId xmlns:a16="http://schemas.microsoft.com/office/drawing/2014/main" id="{B31734DF-771C-4FE8-97E4-5FE60BADE492}"/>
              </a:ext>
            </a:extLst>
          </p:cNvPr>
          <p:cNvSpPr>
            <a:spLocks noGrp="1"/>
          </p:cNvSpPr>
          <p:nvPr/>
        </p:nvSpPr>
        <p:spPr>
          <a:xfrm>
            <a:off x="2243114" y="1632135"/>
            <a:ext cx="2406786" cy="839255"/>
          </a:xfrm>
          <a:prstGeom prst="rect">
            <a:avLst/>
          </a:prstGeom>
          <a:solidFill>
            <a:srgbClr val="F3F3F3"/>
          </a:solidFill>
          <a:ln w="12383">
            <a:solidFill>
              <a:srgbClr val="B8B8B8"/>
            </a:solidFill>
          </a:ln>
        </p:spPr>
        <p:txBody>
          <a:bodyPr lIns="66675" tIns="38100" rIns="66675" bIns="38100" anchor="ctr">
            <a:noAutofit/>
          </a:bodyPr>
          <a:lstStyle/>
          <a:p>
            <a:pPr algn="ctr">
              <a:buNone/>
              <a:defRPr sz="1800" b="1">
                <a:solidFill>
                  <a:srgbClr val="111111"/>
                </a:solidFill>
                <a:latin typeface="Calibri"/>
                <a:ea typeface="Calibri"/>
                <a:cs typeface="Calibri"/>
              </a:defRPr>
            </a:pPr>
            <a:r>
              <a:rPr sz="1800" b="1" dirty="0">
                <a:solidFill>
                  <a:srgbClr val="111111"/>
                </a:solidFill>
                <a:latin typeface="Calibri"/>
                <a:ea typeface="Calibri"/>
                <a:cs typeface="Calibri"/>
              </a:rPr>
              <a:t>Frozen text features</a:t>
            </a:r>
          </a:p>
          <a:p>
            <a:pPr algn="ctr">
              <a:buNone/>
              <a:defRPr sz="1800" b="1">
                <a:solidFill>
                  <a:srgbClr val="111111"/>
                </a:solidFill>
                <a:latin typeface="Calibri"/>
                <a:ea typeface="Calibri"/>
                <a:cs typeface="Calibri"/>
              </a:defRPr>
            </a:pPr>
            <a:r>
              <a:rPr sz="1800" b="1" dirty="0">
                <a:solidFill>
                  <a:srgbClr val="111111"/>
                </a:solidFill>
                <a:latin typeface="Calibri"/>
                <a:ea typeface="Calibri"/>
                <a:cs typeface="Calibri"/>
              </a:rPr>
              <a:t>Learned location slots</a:t>
            </a:r>
          </a:p>
        </p:txBody>
      </p:sp>
      <p:sp>
        <p:nvSpPr>
          <p:cNvPr id="4" name="Mermaid race B">
            <a:extLst>
              <a:ext uri="{FF2B5EF4-FFF2-40B4-BE49-F238E27FC236}">
                <a16:creationId xmlns:a16="http://schemas.microsoft.com/office/drawing/2014/main" id="{91594829-B0B0-4CD4-B5F7-37E97D939AFE}"/>
              </a:ext>
            </a:extLst>
          </p:cNvPr>
          <p:cNvSpPr>
            <a:spLocks noGrp="1"/>
          </p:cNvSpPr>
          <p:nvPr/>
        </p:nvSpPr>
        <p:spPr>
          <a:xfrm>
            <a:off x="4892607" y="1632135"/>
            <a:ext cx="2406786" cy="839255"/>
          </a:xfrm>
          <a:prstGeom prst="rect">
            <a:avLst/>
          </a:prstGeom>
          <a:solidFill>
            <a:srgbClr val="F3F3F3"/>
          </a:solidFill>
          <a:ln w="12383">
            <a:solidFill>
              <a:srgbClr val="B8B8B8"/>
            </a:solidFill>
          </a:ln>
        </p:spPr>
        <p:txBody>
          <a:bodyPr lIns="66675" tIns="38100" rIns="66675" bIns="38100" anchor="ctr">
            <a:noAutofit/>
          </a:bodyPr>
          <a:lstStyle/>
          <a:p>
            <a:pPr algn="ctr">
              <a:buNone/>
              <a:defRPr sz="1800" b="1">
                <a:solidFill>
                  <a:srgbClr val="111111"/>
                </a:solidFill>
                <a:latin typeface="Calibri"/>
                <a:ea typeface="Calibri"/>
                <a:cs typeface="Calibri"/>
              </a:defRPr>
            </a:pPr>
            <a:r>
              <a:rPr sz="1800" b="1" dirty="0">
                <a:solidFill>
                  <a:srgbClr val="111111"/>
                </a:solidFill>
                <a:latin typeface="Calibri"/>
                <a:ea typeface="Calibri"/>
                <a:cs typeface="Calibri"/>
              </a:rPr>
              <a:t>Six-zone anatomy basis</a:t>
            </a:r>
          </a:p>
          <a:p>
            <a:pPr algn="ctr">
              <a:buNone/>
              <a:defRPr sz="1800" b="1">
                <a:solidFill>
                  <a:srgbClr val="111111"/>
                </a:solidFill>
                <a:latin typeface="Calibri"/>
                <a:ea typeface="Calibri"/>
                <a:cs typeface="Calibri"/>
              </a:defRPr>
            </a:pPr>
            <a:r>
              <a:rPr sz="1800" b="1" dirty="0">
                <a:solidFill>
                  <a:srgbClr val="111111"/>
                </a:solidFill>
                <a:latin typeface="Calibri"/>
                <a:ea typeface="Calibri"/>
                <a:cs typeface="Calibri"/>
              </a:rPr>
              <a:t>Aligned with the image</a:t>
            </a:r>
          </a:p>
        </p:txBody>
      </p:sp>
      <p:sp>
        <p:nvSpPr>
          <p:cNvPr id="5" name="Mermaid race C">
            <a:extLst>
              <a:ext uri="{FF2B5EF4-FFF2-40B4-BE49-F238E27FC236}">
                <a16:creationId xmlns:a16="http://schemas.microsoft.com/office/drawing/2014/main" id="{D83DBF9B-54A2-4317-B2BF-A51B8A1D51A6}"/>
              </a:ext>
            </a:extLst>
          </p:cNvPr>
          <p:cNvSpPr>
            <a:spLocks noGrp="1"/>
          </p:cNvSpPr>
          <p:nvPr/>
        </p:nvSpPr>
        <p:spPr>
          <a:xfrm>
            <a:off x="7542100" y="1632135"/>
            <a:ext cx="2406786" cy="839255"/>
          </a:xfrm>
          <a:prstGeom prst="rect">
            <a:avLst/>
          </a:prstGeom>
          <a:solidFill>
            <a:srgbClr val="F3F3F3"/>
          </a:solidFill>
          <a:ln w="12383">
            <a:solidFill>
              <a:srgbClr val="B8B8B8"/>
            </a:solidFill>
          </a:ln>
        </p:spPr>
        <p:txBody>
          <a:bodyPr lIns="66675" tIns="38100" rIns="66675" bIns="38100" anchor="ctr">
            <a:noAutofit/>
          </a:bodyPr>
          <a:lstStyle/>
          <a:p>
            <a:pPr algn="ctr">
              <a:buNone/>
              <a:defRPr sz="1800" b="1">
                <a:solidFill>
                  <a:srgbClr val="111111"/>
                </a:solidFill>
                <a:latin typeface="Calibri"/>
                <a:ea typeface="Calibri"/>
                <a:cs typeface="Calibri"/>
              </a:defRPr>
            </a:pPr>
            <a:r>
              <a:rPr sz="1800" b="1" dirty="0">
                <a:solidFill>
                  <a:srgbClr val="111111"/>
                </a:solidFill>
                <a:latin typeface="Calibri"/>
                <a:ea typeface="Calibri"/>
                <a:cs typeface="Calibri"/>
              </a:rPr>
              <a:t>CNN skip C</a:t>
            </a:r>
          </a:p>
        </p:txBody>
      </p:sp>
      <p:sp>
        <p:nvSpPr>
          <p:cNvPr id="6" name="Mermaid race P">
            <a:extLst>
              <a:ext uri="{FF2B5EF4-FFF2-40B4-BE49-F238E27FC236}">
                <a16:creationId xmlns:a16="http://schemas.microsoft.com/office/drawing/2014/main" id="{5330AA1B-3A3E-417E-8436-38848685BF3F}"/>
              </a:ext>
            </a:extLst>
          </p:cNvPr>
          <p:cNvSpPr>
            <a:spLocks noGrp="1"/>
          </p:cNvSpPr>
          <p:nvPr/>
        </p:nvSpPr>
        <p:spPr>
          <a:xfrm>
            <a:off x="2243114" y="2714097"/>
            <a:ext cx="2406786" cy="839255"/>
          </a:xfrm>
          <a:prstGeom prst="rect">
            <a:avLst/>
          </a:prstGeom>
          <a:solidFill>
            <a:srgbClr val="F3F3F3"/>
          </a:solidFill>
          <a:ln w="12383">
            <a:solidFill>
              <a:srgbClr val="B8B8B8"/>
            </a:solidFill>
          </a:ln>
        </p:spPr>
        <p:txBody>
          <a:bodyPr lIns="66675" tIns="38100" rIns="66675" bIns="38100" anchor="ctr">
            <a:noAutofit/>
          </a:bodyPr>
          <a:lstStyle/>
          <a:p>
            <a:pPr algn="ctr">
              <a:buNone/>
              <a:defRPr sz="1800" b="1">
                <a:solidFill>
                  <a:srgbClr val="111111"/>
                </a:solidFill>
                <a:latin typeface="Calibri"/>
                <a:ea typeface="Calibri"/>
                <a:cs typeface="Calibri"/>
              </a:defRPr>
            </a:pPr>
            <a:r>
              <a:rPr sz="1800" b="1" dirty="0">
                <a:solidFill>
                  <a:srgbClr val="111111"/>
                </a:solidFill>
                <a:latin typeface="Calibri"/>
                <a:ea typeface="Calibri"/>
                <a:cs typeface="Calibri"/>
              </a:rPr>
              <a:t>Spatial report prior P</a:t>
            </a:r>
          </a:p>
          <a:p>
            <a:pPr algn="ctr">
              <a:buNone/>
              <a:defRPr sz="1800" b="1">
                <a:solidFill>
                  <a:srgbClr val="111111"/>
                </a:solidFill>
                <a:latin typeface="Calibri"/>
                <a:ea typeface="Calibri"/>
                <a:cs typeface="Calibri"/>
              </a:defRPr>
            </a:pPr>
            <a:r>
              <a:rPr sz="1800" b="1" dirty="0">
                <a:solidFill>
                  <a:srgbClr val="111111"/>
                </a:solidFill>
                <a:latin typeface="Calibri"/>
                <a:ea typeface="Calibri"/>
                <a:cs typeface="Calibri"/>
              </a:rPr>
              <a:t>from location slots</a:t>
            </a:r>
          </a:p>
        </p:txBody>
      </p:sp>
      <p:sp>
        <p:nvSpPr>
          <p:cNvPr id="7" name="Mermaid race A">
            <a:extLst>
              <a:ext uri="{FF2B5EF4-FFF2-40B4-BE49-F238E27FC236}">
                <a16:creationId xmlns:a16="http://schemas.microsoft.com/office/drawing/2014/main" id="{CD01AD34-A303-4D50-86D6-1979FAC53C4F}"/>
              </a:ext>
            </a:extLst>
          </p:cNvPr>
          <p:cNvSpPr>
            <a:spLocks noGrp="1"/>
          </p:cNvSpPr>
          <p:nvPr/>
        </p:nvSpPr>
        <p:spPr>
          <a:xfrm>
            <a:off x="4892607" y="2714097"/>
            <a:ext cx="2406786" cy="839255"/>
          </a:xfrm>
          <a:prstGeom prst="rect">
            <a:avLst/>
          </a:prstGeom>
          <a:solidFill>
            <a:srgbClr val="F3F3F3"/>
          </a:solidFill>
          <a:ln w="12383">
            <a:solidFill>
              <a:srgbClr val="B8B8B8"/>
            </a:solidFill>
          </a:ln>
        </p:spPr>
        <p:txBody>
          <a:bodyPr lIns="66675" tIns="38100" rIns="66675" bIns="38100" anchor="ctr">
            <a:noAutofit/>
          </a:bodyPr>
          <a:lstStyle/>
          <a:p>
            <a:pPr algn="ctr">
              <a:buNone/>
              <a:defRPr sz="1800" b="1">
                <a:solidFill>
                  <a:srgbClr val="111111"/>
                </a:solidFill>
                <a:latin typeface="Calibri"/>
                <a:ea typeface="Calibri"/>
                <a:cs typeface="Calibri"/>
              </a:defRPr>
            </a:pPr>
            <a:r>
              <a:rPr sz="1800" b="1" dirty="0">
                <a:solidFill>
                  <a:srgbClr val="111111"/>
                </a:solidFill>
                <a:latin typeface="Calibri"/>
                <a:ea typeface="Calibri"/>
                <a:cs typeface="Calibri"/>
              </a:rPr>
              <a:t>Slot–visual</a:t>
            </a:r>
          </a:p>
          <a:p>
            <a:pPr algn="ctr">
              <a:buNone/>
              <a:defRPr sz="1800" b="1">
                <a:solidFill>
                  <a:srgbClr val="111111"/>
                </a:solidFill>
                <a:latin typeface="Calibri"/>
                <a:ea typeface="Calibri"/>
                <a:cs typeface="Calibri"/>
              </a:defRPr>
            </a:pPr>
            <a:r>
              <a:rPr sz="1800" b="1" dirty="0">
                <a:solidFill>
                  <a:srgbClr val="111111"/>
                </a:solidFill>
                <a:latin typeface="Calibri"/>
                <a:ea typeface="Calibri"/>
                <a:cs typeface="Calibri"/>
              </a:rPr>
              <a:t>agreement A</a:t>
            </a:r>
          </a:p>
        </p:txBody>
      </p:sp>
      <p:sp>
        <p:nvSpPr>
          <p:cNvPr id="8" name="Mermaid race E">
            <a:extLst>
              <a:ext uri="{FF2B5EF4-FFF2-40B4-BE49-F238E27FC236}">
                <a16:creationId xmlns:a16="http://schemas.microsoft.com/office/drawing/2014/main" id="{A461AC24-3D3C-46E8-86F0-63C4F3811783}"/>
              </a:ext>
            </a:extLst>
          </p:cNvPr>
          <p:cNvSpPr>
            <a:spLocks noGrp="1"/>
          </p:cNvSpPr>
          <p:nvPr/>
        </p:nvSpPr>
        <p:spPr>
          <a:xfrm>
            <a:off x="7542100" y="2714097"/>
            <a:ext cx="2406786" cy="839255"/>
          </a:xfrm>
          <a:prstGeom prst="rect">
            <a:avLst/>
          </a:prstGeom>
          <a:solidFill>
            <a:srgbClr val="F3F3F3"/>
          </a:solidFill>
          <a:ln w="12383">
            <a:solidFill>
              <a:srgbClr val="B8B8B8"/>
            </a:solidFill>
          </a:ln>
        </p:spPr>
        <p:txBody>
          <a:bodyPr lIns="66675" tIns="38100" rIns="66675" bIns="38100" anchor="ctr">
            <a:noAutofit/>
          </a:bodyPr>
          <a:lstStyle/>
          <a:p>
            <a:pPr algn="ctr">
              <a:buNone/>
              <a:defRPr sz="1800" b="1">
                <a:solidFill>
                  <a:srgbClr val="111111"/>
                </a:solidFill>
                <a:latin typeface="Calibri"/>
                <a:ea typeface="Calibri"/>
                <a:cs typeface="Calibri"/>
              </a:defRPr>
            </a:pPr>
            <a:r>
              <a:rPr sz="1800" b="1" dirty="0">
                <a:solidFill>
                  <a:srgbClr val="111111"/>
                </a:solidFill>
                <a:latin typeface="Calibri"/>
                <a:ea typeface="Calibri"/>
                <a:cs typeface="Calibri"/>
              </a:rPr>
              <a:t>Learned visual</a:t>
            </a:r>
          </a:p>
          <a:p>
            <a:pPr algn="ctr">
              <a:buNone/>
              <a:defRPr sz="1800" b="1">
                <a:solidFill>
                  <a:srgbClr val="111111"/>
                </a:solidFill>
                <a:latin typeface="Calibri"/>
                <a:ea typeface="Calibri"/>
                <a:cs typeface="Calibri"/>
              </a:defRPr>
            </a:pPr>
            <a:r>
              <a:rPr sz="1800" b="1" dirty="0">
                <a:solidFill>
                  <a:srgbClr val="111111"/>
                </a:solidFill>
                <a:latin typeface="Calibri"/>
                <a:ea typeface="Calibri"/>
                <a:cs typeface="Calibri"/>
              </a:rPr>
              <a:t>evidence E</a:t>
            </a:r>
          </a:p>
        </p:txBody>
      </p:sp>
      <p:sp>
        <p:nvSpPr>
          <p:cNvPr id="9" name="Mermaid race Y">
            <a:extLst>
              <a:ext uri="{FF2B5EF4-FFF2-40B4-BE49-F238E27FC236}">
                <a16:creationId xmlns:a16="http://schemas.microsoft.com/office/drawing/2014/main" id="{715CA961-5C92-4850-ABED-0721B84C62DF}"/>
              </a:ext>
            </a:extLst>
          </p:cNvPr>
          <p:cNvSpPr>
            <a:spLocks noGrp="1"/>
          </p:cNvSpPr>
          <p:nvPr/>
        </p:nvSpPr>
        <p:spPr>
          <a:xfrm>
            <a:off x="2243114" y="3796060"/>
            <a:ext cx="7705774" cy="839255"/>
          </a:xfrm>
          <a:prstGeom prst="rect">
            <a:avLst/>
          </a:prstGeom>
          <a:solidFill>
            <a:srgbClr val="111111"/>
          </a:solidFill>
          <a:ln w="12383">
            <a:solidFill>
              <a:srgbClr val="111111"/>
            </a:solidFill>
          </a:ln>
        </p:spPr>
        <p:txBody>
          <a:bodyPr lIns="66675" tIns="38100" rIns="66675" bIns="38100" anchor="ctr">
            <a:noAutofit/>
          </a:bodyPr>
          <a:lstStyle/>
          <a:p>
            <a:pPr algn="ctr">
              <a:buNone/>
              <a:defRPr sz="1800" b="1">
                <a:solidFill>
                  <a:srgbClr val="FFFFFF"/>
                </a:solidFill>
                <a:latin typeface="Calibri"/>
                <a:ea typeface="Calibri"/>
                <a:cs typeface="Calibri"/>
              </a:defRPr>
            </a:pPr>
            <a:r>
              <a:rPr sz="1800" b="1">
                <a:solidFill>
                  <a:srgbClr val="FFFFFF"/>
                </a:solidFill>
                <a:latin typeface="Calibri"/>
                <a:ea typeface="Calibri"/>
                <a:cs typeface="Calibri"/>
              </a:rPr>
              <a:t>Bounded route: C′ = C + s (P × E × A) ⊙ R(C)</a:t>
            </a:r>
          </a:p>
        </p:txBody>
      </p:sp>
      <p:cxnSp>
        <p:nvCxnSpPr>
          <p:cNvPr id="46" name="直接箭头连接符 45"/>
          <p:cNvCxnSpPr>
            <a:stCxn id="3" idx="2"/>
            <a:endCxn id="6" idx="0"/>
          </p:cNvCxnSpPr>
          <p:nvPr/>
        </p:nvCxnSpPr>
        <p:spPr>
          <a:xfrm>
            <a:off x="3446507" y="2471390"/>
            <a:ext cx="0" cy="242707"/>
          </a:xfrm>
          <a:prstGeom prst="straightConnector1">
            <a:avLst/>
          </a:prstGeom>
          <a:ln w="17145">
            <a:solidFill>
              <a:srgbClr val="606060"/>
            </a:solidFill>
            <a:tailEnd type="arrow" w="med" len="med"/>
          </a:ln>
        </p:spPr>
      </p:cxnSp>
      <p:cxnSp>
        <p:nvCxnSpPr>
          <p:cNvPr id="47" name="直接箭头连接符 46"/>
          <p:cNvCxnSpPr>
            <a:stCxn id="4" idx="2"/>
            <a:endCxn id="6" idx="0"/>
          </p:cNvCxnSpPr>
          <p:nvPr/>
        </p:nvCxnSpPr>
        <p:spPr>
          <a:xfrm flipH="1">
            <a:off x="3446507" y="2471390"/>
            <a:ext cx="2649493" cy="242707"/>
          </a:xfrm>
          <a:prstGeom prst="straightConnector1">
            <a:avLst/>
          </a:prstGeom>
          <a:ln w="17145">
            <a:solidFill>
              <a:srgbClr val="606060"/>
            </a:solidFill>
            <a:tailEnd type="arrow" w="med" len="med"/>
          </a:ln>
        </p:spPr>
      </p:cxnSp>
      <p:cxnSp>
        <p:nvCxnSpPr>
          <p:cNvPr id="48" name="直接箭头连接符 47"/>
          <p:cNvCxnSpPr>
            <a:stCxn id="5" idx="2"/>
            <a:endCxn id="8" idx="0"/>
          </p:cNvCxnSpPr>
          <p:nvPr/>
        </p:nvCxnSpPr>
        <p:spPr>
          <a:xfrm>
            <a:off x="8745493" y="2471390"/>
            <a:ext cx="0" cy="242707"/>
          </a:xfrm>
          <a:prstGeom prst="straightConnector1">
            <a:avLst/>
          </a:prstGeom>
          <a:ln w="17145">
            <a:solidFill>
              <a:srgbClr val="606060"/>
            </a:solidFill>
            <a:tailEnd type="arrow" w="med" len="med"/>
          </a:ln>
        </p:spPr>
      </p:cxnSp>
      <p:cxnSp>
        <p:nvCxnSpPr>
          <p:cNvPr id="49" name="直接箭头连接符 48"/>
          <p:cNvCxnSpPr>
            <a:stCxn id="6" idx="3"/>
            <a:endCxn id="7" idx="1"/>
          </p:cNvCxnSpPr>
          <p:nvPr/>
        </p:nvCxnSpPr>
        <p:spPr>
          <a:xfrm>
            <a:off x="4649900" y="3133725"/>
            <a:ext cx="242707" cy="0"/>
          </a:xfrm>
          <a:prstGeom prst="straightConnector1">
            <a:avLst/>
          </a:prstGeom>
          <a:ln w="17145">
            <a:solidFill>
              <a:srgbClr val="606060"/>
            </a:solidFill>
            <a:tailEnd type="arrow" w="med" len="med"/>
          </a:ln>
        </p:spPr>
      </p:cxnSp>
      <p:cxnSp>
        <p:nvCxnSpPr>
          <p:cNvPr id="50" name="直接箭头连接符 49"/>
          <p:cNvCxnSpPr>
            <a:stCxn id="8" idx="1"/>
            <a:endCxn id="7" idx="3"/>
          </p:cNvCxnSpPr>
          <p:nvPr/>
        </p:nvCxnSpPr>
        <p:spPr>
          <a:xfrm flipH="1">
            <a:off x="7299393" y="3133725"/>
            <a:ext cx="242707" cy="0"/>
          </a:xfrm>
          <a:prstGeom prst="straightConnector1">
            <a:avLst/>
          </a:prstGeom>
          <a:ln w="17145">
            <a:solidFill>
              <a:srgbClr val="606060"/>
            </a:solidFill>
            <a:tailEnd type="arrow" w="med" len="med"/>
          </a:ln>
        </p:spPr>
      </p:cxnSp>
      <p:cxnSp>
        <p:nvCxnSpPr>
          <p:cNvPr id="51" name="直接箭头连接符 50"/>
          <p:cNvCxnSpPr>
            <a:stCxn id="6" idx="2"/>
            <a:endCxn id="9" idx="0"/>
          </p:cNvCxnSpPr>
          <p:nvPr/>
        </p:nvCxnSpPr>
        <p:spPr>
          <a:xfrm>
            <a:off x="3446507" y="3553352"/>
            <a:ext cx="2649494" cy="242708"/>
          </a:xfrm>
          <a:prstGeom prst="straightConnector1">
            <a:avLst/>
          </a:prstGeom>
          <a:ln w="17145">
            <a:solidFill>
              <a:srgbClr val="606060"/>
            </a:solidFill>
            <a:tailEnd type="arrow" w="med" len="med"/>
          </a:ln>
        </p:spPr>
      </p:cxnSp>
      <p:cxnSp>
        <p:nvCxnSpPr>
          <p:cNvPr id="52" name="直接箭头连接符 51"/>
          <p:cNvCxnSpPr>
            <a:stCxn id="7" idx="2"/>
            <a:endCxn id="9" idx="0"/>
          </p:cNvCxnSpPr>
          <p:nvPr/>
        </p:nvCxnSpPr>
        <p:spPr>
          <a:xfrm>
            <a:off x="6096000" y="3553352"/>
            <a:ext cx="1" cy="242708"/>
          </a:xfrm>
          <a:prstGeom prst="straightConnector1">
            <a:avLst/>
          </a:prstGeom>
          <a:ln w="17145">
            <a:solidFill>
              <a:srgbClr val="606060"/>
            </a:solidFill>
            <a:tailEnd type="arrow" w="med" len="med"/>
          </a:ln>
        </p:spPr>
      </p:cxnSp>
      <p:cxnSp>
        <p:nvCxnSpPr>
          <p:cNvPr id="53" name="直接箭头连接符 52"/>
          <p:cNvCxnSpPr>
            <a:stCxn id="8" idx="2"/>
            <a:endCxn id="9" idx="0"/>
          </p:cNvCxnSpPr>
          <p:nvPr/>
        </p:nvCxnSpPr>
        <p:spPr>
          <a:xfrm flipH="1">
            <a:off x="6096001" y="3553352"/>
            <a:ext cx="2649492" cy="242708"/>
          </a:xfrm>
          <a:prstGeom prst="straightConnector1">
            <a:avLst/>
          </a:prstGeom>
          <a:ln w="17145">
            <a:solidFill>
              <a:srgbClr val="606060"/>
            </a:solidFill>
            <a:tailEnd type="arrow" w="med" len="med"/>
          </a:ln>
        </p:spPr>
      </p:cxnSp>
      <p:sp>
        <p:nvSpPr>
          <p:cNvPr id="18" name="Four CNN skip scales; zero initial correction; lea">
            <a:extLst>
              <a:ext uri="{FF2B5EF4-FFF2-40B4-BE49-F238E27FC236}">
                <a16:creationId xmlns:a16="http://schemas.microsoft.com/office/drawing/2014/main" id="{B9C005EA-B935-46B1-A207-802E47FD986A}"/>
              </a:ext>
            </a:extLst>
          </p:cNvPr>
          <p:cNvSpPr>
            <a:spLocks noGrp="1"/>
          </p:cNvSpPr>
          <p:nvPr/>
        </p:nvSpPr>
        <p:spPr>
          <a:xfrm>
            <a:off x="638175" y="4886325"/>
            <a:ext cx="10915650" cy="400050"/>
          </a:xfrm>
          <a:prstGeom prst="rect">
            <a:avLst/>
          </a:prstGeom>
          <a:noFill/>
          <a:ln w="0">
            <a:noFill/>
          </a:ln>
        </p:spPr>
        <p:txBody>
          <a:bodyPr wrap="square" lIns="0" tIns="0" rIns="0" bIns="0" anchor="t">
            <a:noAutofit/>
          </a:bodyPr>
          <a:lstStyle/>
          <a:p>
            <a:pPr algn="l">
              <a:buNone/>
              <a:defRPr sz="1950" b="1">
                <a:solidFill>
                  <a:srgbClr val="111111"/>
                </a:solidFill>
                <a:latin typeface="Calibri"/>
                <a:ea typeface="Calibri"/>
                <a:cs typeface="Calibri"/>
              </a:defRPr>
            </a:pPr>
            <a:r>
              <a:rPr sz="1950" b="1">
                <a:solidFill>
                  <a:srgbClr val="111111"/>
                </a:solidFill>
                <a:latin typeface="Calibri"/>
                <a:ea typeface="Calibri"/>
                <a:cs typeface="Calibri"/>
              </a:rPr>
              <a:t>Four CNN skip scales; zero initial correction; learned signed strength |s| ≤ 0.15.</a:t>
            </a:r>
          </a:p>
        </p:txBody>
      </p:sp>
      <p:sp>
        <p:nvSpPr>
          <p:cNvPr id="19" name="Training: location / count slots, visual regions a">
            <a:extLst>
              <a:ext uri="{FF2B5EF4-FFF2-40B4-BE49-F238E27FC236}">
                <a16:creationId xmlns:a16="http://schemas.microsoft.com/office/drawing/2014/main" id="{28EEF521-38AC-4F0B-9FB4-D758089C586B}"/>
              </a:ext>
            </a:extLst>
          </p:cNvPr>
          <p:cNvSpPr>
            <a:spLocks noGrp="1"/>
          </p:cNvSpPr>
          <p:nvPr/>
        </p:nvSpPr>
        <p:spPr>
          <a:xfrm>
            <a:off x="638175" y="5438775"/>
            <a:ext cx="10915650" cy="800100"/>
          </a:xfrm>
          <a:prstGeom prst="rect">
            <a:avLst/>
          </a:prstGeom>
          <a:noFill/>
          <a:ln w="0">
            <a:noFill/>
          </a:ln>
        </p:spPr>
        <p:txBody>
          <a:bodyPr wrap="square" lIns="0" tIns="0" rIns="0" bIns="0" anchor="t">
            <a:noAutofit/>
          </a:bodyPr>
          <a:lstStyle/>
          <a:p>
            <a:pPr algn="l">
              <a:buNone/>
              <a:defRPr sz="1875" b="0">
                <a:solidFill>
                  <a:srgbClr val="111111"/>
                </a:solidFill>
                <a:latin typeface="Calibri"/>
                <a:ea typeface="Calibri"/>
                <a:cs typeface="Calibri"/>
              </a:defRPr>
            </a:pPr>
            <a:r>
              <a:rPr sz="1875" b="0">
                <a:solidFill>
                  <a:srgbClr val="111111"/>
                </a:solidFill>
                <a:latin typeface="Calibri"/>
                <a:ea typeface="Calibri"/>
                <a:cs typeface="Calibri"/>
              </a:rPr>
              <a:t>Training: location / count slots, visual regions and positive report consistency (weight 0.05).</a:t>
            </a:r>
          </a:p>
          <a:p>
            <a:pPr algn="l">
              <a:buNone/>
              <a:defRPr sz="1875" b="0">
                <a:solidFill>
                  <a:srgbClr val="111111"/>
                </a:solidFill>
                <a:latin typeface="Calibri"/>
                <a:ea typeface="Calibri"/>
                <a:cs typeface="Calibri"/>
              </a:defRPr>
            </a:pPr>
            <a:r>
              <a:rPr sz="1875" b="0">
                <a:solidFill>
                  <a:srgbClr val="111111"/>
                </a:solidFill>
                <a:latin typeface="Calibri"/>
                <a:ea typeface="Calibri"/>
                <a:cs typeface="Calibri"/>
              </a:rPr>
              <a:t>Inference: learned slots provide the prior; the report parser supplies no predictions.</a:t>
            </a:r>
          </a:p>
        </p:txBody>
      </p:sp>
      <p:sp>
        <p:nvSpPr>
          <p:cNvPr id="20" name="Contribution 2: RACE">
            <a:extLst>
              <a:ext uri="{FF2B5EF4-FFF2-40B4-BE49-F238E27FC236}">
                <a16:creationId xmlns:a16="http://schemas.microsoft.com/office/drawing/2014/main" id="{BB108B4F-8BA8-4E30-AD4F-F68801E1C38F}"/>
              </a:ext>
            </a:extLst>
          </p:cNvPr>
          <p:cNvSpPr>
            <a:spLocks noGrp="1"/>
          </p:cNvSpPr>
          <p:nvPr/>
        </p:nvSpPr>
        <p:spPr>
          <a:xfrm>
            <a:off x="638175" y="6467475"/>
            <a:ext cx="9906000" cy="190500"/>
          </a:xfrm>
          <a:prstGeom prst="rect">
            <a:avLst/>
          </a:prstGeom>
          <a:noFill/>
          <a:ln w="0">
            <a:noFill/>
          </a:ln>
        </p:spPr>
        <p:txBody>
          <a:bodyPr wrap="square" lIns="0" tIns="0" rIns="0" bIns="0" anchor="t">
            <a:noAutofit/>
          </a:bodyPr>
          <a:lstStyle/>
          <a:p>
            <a:pPr algn="l">
              <a:buNone/>
              <a:defRPr sz="900" b="0">
                <a:solidFill>
                  <a:srgbClr val="999999"/>
                </a:solidFill>
                <a:latin typeface="Calibri"/>
                <a:ea typeface="Calibri"/>
                <a:cs typeface="Calibri"/>
              </a:defRPr>
            </a:pPr>
            <a:r>
              <a:rPr sz="900" b="0">
                <a:solidFill>
                  <a:srgbClr val="999999"/>
                </a:solidFill>
                <a:latin typeface="Calibri"/>
                <a:ea typeface="Calibri"/>
                <a:cs typeface="Calibri"/>
              </a:rPr>
              <a:t>Contribution 2: RACE</a:t>
            </a:r>
          </a:p>
        </p:txBody>
      </p:sp>
      <p:sp>
        <p:nvSpPr>
          <p:cNvPr id="21" name="7">
            <a:extLst>
              <a:ext uri="{FF2B5EF4-FFF2-40B4-BE49-F238E27FC236}">
                <a16:creationId xmlns:a16="http://schemas.microsoft.com/office/drawing/2014/main" id="{CE4FD0F7-9B36-49C2-A0A3-94C667DDBAC8}"/>
              </a:ext>
            </a:extLst>
          </p:cNvPr>
          <p:cNvSpPr>
            <a:spLocks noGrp="1"/>
          </p:cNvSpPr>
          <p:nvPr/>
        </p:nvSpPr>
        <p:spPr>
          <a:xfrm>
            <a:off x="11144250" y="6467475"/>
            <a:ext cx="409575" cy="190500"/>
          </a:xfrm>
          <a:prstGeom prst="rect">
            <a:avLst/>
          </a:prstGeom>
          <a:noFill/>
          <a:ln w="0">
            <a:noFill/>
          </a:ln>
        </p:spPr>
        <p:txBody>
          <a:bodyPr wrap="square" lIns="0" tIns="0" rIns="0" bIns="0" anchor="t">
            <a:noAutofit/>
          </a:bodyPr>
          <a:lstStyle/>
          <a:p>
            <a:pPr algn="r">
              <a:buNone/>
              <a:defRPr sz="900" b="0">
                <a:solidFill>
                  <a:srgbClr val="999999"/>
                </a:solidFill>
                <a:latin typeface="Calibri"/>
                <a:ea typeface="Calibri"/>
                <a:cs typeface="Calibri"/>
              </a:defRPr>
            </a:pPr>
            <a:r>
              <a:rPr sz="900" b="0">
                <a:solidFill>
                  <a:srgbClr val="999999"/>
                </a:solidFill>
                <a:latin typeface="Calibri"/>
                <a:ea typeface="Calibri"/>
                <a:cs typeface="Calibri"/>
              </a:rPr>
              <a:t>7</a:t>
            </a:r>
          </a:p>
        </p:txBody>
      </p:sp>
    </p:spTree>
    <p:extLst>
      <p:ext uri="{BB962C8B-B14F-4D97-AF65-F5344CB8AC3E}">
        <p14:creationId xmlns:p14="http://schemas.microsoft.com/office/powerpoint/2010/main" val="19664393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est IoU relative to the historical PLAM baseline">
            <a:extLst>
              <a:ext uri="{FF2B5EF4-FFF2-40B4-BE49-F238E27FC236}">
                <a16:creationId xmlns:a16="http://schemas.microsoft.com/office/drawing/2014/main" id="{854BD88E-24CE-49A9-B575-6F1AD2E115A9}"/>
              </a:ext>
            </a:extLst>
          </p:cNvPr>
          <p:cNvSpPr>
            <a:spLocks noGrp="1"/>
          </p:cNvSpPr>
          <p:nvPr/>
        </p:nvSpPr>
        <p:spPr>
          <a:xfrm>
            <a:off x="638175" y="361950"/>
            <a:ext cx="10915650" cy="952500"/>
          </a:xfrm>
          <a:prstGeom prst="rect">
            <a:avLst/>
          </a:prstGeom>
          <a:noFill/>
          <a:ln w="0">
            <a:noFill/>
          </a:ln>
        </p:spPr>
        <p:txBody>
          <a:bodyPr wrap="square" lIns="0" tIns="0" rIns="0" bIns="0" anchor="ctr">
            <a:noAutofit/>
          </a:bodyPr>
          <a:lstStyle/>
          <a:p>
            <a:pPr algn="l">
              <a:defRPr sz="3000" b="1">
                <a:solidFill>
                  <a:srgbClr val="111111"/>
                </a:solidFill>
                <a:latin typeface="Cambria"/>
                <a:ea typeface="Cambria"/>
                <a:cs typeface="Cambria"/>
              </a:defRPr>
            </a:pPr>
            <a:r>
              <a:rPr sz="3000" b="1">
                <a:solidFill>
                  <a:srgbClr val="111111"/>
                </a:solidFill>
                <a:latin typeface="Cambria"/>
                <a:ea typeface="Cambria"/>
                <a:cs typeface="Cambria"/>
              </a:rPr>
              <a:t>Test IoU relative to the historical PLAM baseline</a:t>
            </a:r>
          </a:p>
        </p:txBody>
      </p:sp>
      <p:sp>
        <p:nvSpPr>
          <p:cNvPr id="2" name="Frozen CXR-BERT · no LoRA · Test macro IoU · threshold 0.5">
            <a:extLst>
              <a:ext uri="{FF2B5EF4-FFF2-40B4-BE49-F238E27FC236}">
                <a16:creationId xmlns:a16="http://schemas.microsoft.com/office/drawing/2014/main" id="{B9F0A4C4-E369-4B7E-96F8-CC55E411915A}"/>
              </a:ext>
            </a:extLst>
          </p:cNvPr>
          <p:cNvSpPr>
            <a:spLocks noGrp="1"/>
          </p:cNvSpPr>
          <p:nvPr/>
        </p:nvSpPr>
        <p:spPr>
          <a:xfrm>
            <a:off x="638175" y="1428750"/>
            <a:ext cx="10915650" cy="400050"/>
          </a:xfrm>
          <a:prstGeom prst="rect">
            <a:avLst/>
          </a:prstGeom>
          <a:noFill/>
          <a:ln w="0">
            <a:noFill/>
          </a:ln>
        </p:spPr>
        <p:txBody>
          <a:bodyPr wrap="square" lIns="0" tIns="0" rIns="0" bIns="0" anchor="ctr">
            <a:noAutofit/>
          </a:bodyPr>
          <a:lstStyle/>
          <a:p>
            <a:pPr algn="l">
              <a:defRPr sz="1875" b="0">
                <a:solidFill>
                  <a:srgbClr val="606060"/>
                </a:solidFill>
                <a:latin typeface="Calibri"/>
                <a:ea typeface="Calibri"/>
                <a:cs typeface="Calibri"/>
              </a:defRPr>
            </a:pPr>
            <a:r>
              <a:rPr sz="1875" b="0" dirty="0">
                <a:solidFill>
                  <a:srgbClr val="606060"/>
                </a:solidFill>
                <a:latin typeface="Calibri"/>
                <a:ea typeface="Calibri"/>
                <a:cs typeface="Calibri"/>
              </a:rPr>
              <a:t>Frozen CXR-BERT · </a:t>
            </a:r>
            <a:r>
              <a:rPr sz="1875" b="0" dirty="0">
                <a:solidFill>
                  <a:srgbClr val="FF0000"/>
                </a:solidFill>
                <a:latin typeface="Calibri"/>
                <a:ea typeface="Calibri"/>
                <a:cs typeface="Calibri"/>
              </a:rPr>
              <a:t>no </a:t>
            </a:r>
            <a:r>
              <a:rPr sz="1875" b="0" dirty="0" err="1">
                <a:solidFill>
                  <a:srgbClr val="FF0000"/>
                </a:solidFill>
                <a:latin typeface="Calibri"/>
                <a:ea typeface="Calibri"/>
                <a:cs typeface="Calibri"/>
              </a:rPr>
              <a:t>LoRA</a:t>
            </a:r>
            <a:r>
              <a:rPr sz="1875" b="0" dirty="0">
                <a:solidFill>
                  <a:srgbClr val="FF0000"/>
                </a:solidFill>
                <a:latin typeface="Calibri"/>
                <a:ea typeface="Calibri"/>
                <a:cs typeface="Calibri"/>
              </a:rPr>
              <a:t> </a:t>
            </a:r>
            <a:r>
              <a:rPr sz="1875" b="0" dirty="0">
                <a:solidFill>
                  <a:srgbClr val="606060"/>
                </a:solidFill>
                <a:latin typeface="Calibri"/>
                <a:ea typeface="Calibri"/>
                <a:cs typeface="Calibri"/>
              </a:rPr>
              <a:t>· Test macro </a:t>
            </a:r>
            <a:r>
              <a:rPr sz="1875" b="0" dirty="0" err="1">
                <a:solidFill>
                  <a:srgbClr val="606060"/>
                </a:solidFill>
                <a:latin typeface="Calibri"/>
                <a:ea typeface="Calibri"/>
                <a:cs typeface="Calibri"/>
              </a:rPr>
              <a:t>IoU</a:t>
            </a:r>
            <a:r>
              <a:rPr sz="1875" b="0" dirty="0">
                <a:solidFill>
                  <a:srgbClr val="606060"/>
                </a:solidFill>
                <a:latin typeface="Calibri"/>
                <a:ea typeface="Calibri"/>
                <a:cs typeface="Calibri"/>
              </a:rPr>
              <a:t> · threshold 0.5</a:t>
            </a:r>
          </a:p>
        </p:txBody>
      </p:sp>
      <p:graphicFrame>
        <p:nvGraphicFramePr>
          <p:cNvPr id="9" name="表格 8"/>
          <p:cNvGraphicFramePr/>
          <p:nvPr>
            <p:extLst>
              <p:ext uri="{D42A27DB-BD31-4B8C-83A1-F6EECF244321}">
                <p14:modId xmlns:p14="http://schemas.microsoft.com/office/powerpoint/2010/main" val="2967896182"/>
              </p:ext>
            </p:extLst>
          </p:nvPr>
        </p:nvGraphicFramePr>
        <p:xfrm>
          <a:off x="638175" y="1857375"/>
          <a:ext cx="10915650" cy="3848100"/>
        </p:xfrm>
        <a:graphic>
          <a:graphicData uri="http://schemas.openxmlformats.org/drawingml/2006/table">
            <a:tbl>
              <a:tblPr/>
              <a:tblGrid>
                <a:gridCol w="6572250">
                  <a:extLst>
                    <a:ext uri="{9D8B030D-6E8A-4147-A177-3AD203B41FA5}">
                      <a16:colId xmlns:a16="http://schemas.microsoft.com/office/drawing/2014/main" val="20000"/>
                    </a:ext>
                  </a:extLst>
                </a:gridCol>
                <a:gridCol w="857250">
                  <a:extLst>
                    <a:ext uri="{9D8B030D-6E8A-4147-A177-3AD203B41FA5}">
                      <a16:colId xmlns:a16="http://schemas.microsoft.com/office/drawing/2014/main" val="20001"/>
                    </a:ext>
                  </a:extLst>
                </a:gridCol>
                <a:gridCol w="1390650">
                  <a:extLst>
                    <a:ext uri="{9D8B030D-6E8A-4147-A177-3AD203B41FA5}">
                      <a16:colId xmlns:a16="http://schemas.microsoft.com/office/drawing/2014/main" val="20002"/>
                    </a:ext>
                  </a:extLst>
                </a:gridCol>
                <a:gridCol w="2095500">
                  <a:extLst>
                    <a:ext uri="{9D8B030D-6E8A-4147-A177-3AD203B41FA5}">
                      <a16:colId xmlns:a16="http://schemas.microsoft.com/office/drawing/2014/main" val="20003"/>
                    </a:ext>
                  </a:extLst>
                </a:gridCol>
              </a:tblGrid>
              <a:tr h="457200">
                <a:tc>
                  <a:txBody>
                    <a:bodyPr/>
                    <a:lstStyle/>
                    <a:p>
                      <a:r>
                        <a:rPr sz="1500" b="1">
                          <a:solidFill>
                            <a:srgbClr val="FFFFFF"/>
                          </a:solidFill>
                          <a:latin typeface="Calibri"/>
                          <a:ea typeface="Calibri"/>
                          <a:cs typeface="Calibri"/>
                        </a:rPr>
                        <a:t>Model configuration</a:t>
                      </a:r>
                    </a:p>
                  </a:txBody>
                  <a:tcPr marL="95250" marR="76200" marT="19050" marB="19050" anchor="ctr">
                    <a:solidFill>
                      <a:srgbClr val="111111"/>
                    </a:solidFill>
                  </a:tcPr>
                </a:tc>
                <a:tc>
                  <a:txBody>
                    <a:bodyPr/>
                    <a:lstStyle/>
                    <a:p>
                      <a:r>
                        <a:rPr sz="1500" b="1">
                          <a:solidFill>
                            <a:srgbClr val="FFFFFF"/>
                          </a:solidFill>
                          <a:latin typeface="Calibri"/>
                          <a:ea typeface="Calibri"/>
                          <a:cs typeface="Calibri"/>
                        </a:rPr>
                        <a:t>Seed</a:t>
                      </a:r>
                    </a:p>
                  </a:txBody>
                  <a:tcPr marL="95250" marR="76200" marT="19050" marB="19050" anchor="ctr">
                    <a:solidFill>
                      <a:srgbClr val="111111"/>
                    </a:solidFill>
                  </a:tcPr>
                </a:tc>
                <a:tc>
                  <a:txBody>
                    <a:bodyPr/>
                    <a:lstStyle/>
                    <a:p>
                      <a:r>
                        <a:rPr sz="1500" b="1">
                          <a:solidFill>
                            <a:srgbClr val="FFFFFF"/>
                          </a:solidFill>
                          <a:latin typeface="Calibri"/>
                          <a:ea typeface="Calibri"/>
                          <a:cs typeface="Calibri"/>
                        </a:rPr>
                        <a:t>IoU</a:t>
                      </a:r>
                    </a:p>
                  </a:txBody>
                  <a:tcPr marL="95250" marR="76200" marT="19050" marB="19050" anchor="ctr">
                    <a:solidFill>
                      <a:srgbClr val="111111"/>
                    </a:solidFill>
                  </a:tcPr>
                </a:tc>
                <a:tc>
                  <a:txBody>
                    <a:bodyPr/>
                    <a:lstStyle/>
                    <a:p>
                      <a:r>
                        <a:rPr sz="1500" b="1">
                          <a:solidFill>
                            <a:srgbClr val="FFFFFF"/>
                          </a:solidFill>
                          <a:latin typeface="Calibri"/>
                          <a:ea typeface="Calibri"/>
                          <a:cs typeface="Calibri"/>
                        </a:rPr>
                        <a:t>Δ vs historical</a:t>
                      </a:r>
                    </a:p>
                    <a:p>
                      <a:r>
                        <a:rPr sz="1500" b="1">
                          <a:solidFill>
                            <a:srgbClr val="FFFFFF"/>
                          </a:solidFill>
                          <a:latin typeface="Calibri"/>
                          <a:ea typeface="Calibri"/>
                          <a:cs typeface="Calibri"/>
                        </a:rPr>
                        <a:t>PLAM (pp)</a:t>
                      </a:r>
                    </a:p>
                  </a:txBody>
                  <a:tcPr marL="95250" marR="76200" marT="19050" marB="19050" anchor="ctr">
                    <a:solidFill>
                      <a:srgbClr val="111111"/>
                    </a:solidFill>
                  </a:tcPr>
                </a:tc>
                <a:extLst>
                  <a:ext uri="{0D108BD9-81ED-4DB2-BD59-A6C34878D82A}">
                    <a16:rowId xmlns:a16="http://schemas.microsoft.com/office/drawing/2014/main" val="10000"/>
                  </a:ext>
                </a:extLst>
              </a:tr>
              <a:tr h="533400">
                <a:tc>
                  <a:txBody>
                    <a:bodyPr/>
                    <a:lstStyle/>
                    <a:p>
                      <a:r>
                        <a:rPr sz="1575" b="0" dirty="0">
                          <a:solidFill>
                            <a:srgbClr val="111111"/>
                          </a:solidFill>
                          <a:latin typeface="Calibri"/>
                          <a:ea typeface="Calibri"/>
                          <a:cs typeface="Calibri"/>
                        </a:rPr>
                        <a:t>PLAM · no RACE · Dice/BCE</a:t>
                      </a:r>
                    </a:p>
                    <a:p>
                      <a:r>
                        <a:rPr sz="1575" b="0" dirty="0">
                          <a:solidFill>
                            <a:srgbClr val="111111"/>
                          </a:solidFill>
                          <a:latin typeface="Calibri"/>
                          <a:ea typeface="Calibri"/>
                          <a:cs typeface="Calibri"/>
                        </a:rPr>
                        <a:t>150 epochs · cosine warm restarts</a:t>
                      </a:r>
                    </a:p>
                  </a:txBody>
                  <a:tcPr marL="95250" marR="76200" marT="19050" marB="19050" anchor="ctr">
                    <a:solidFill>
                      <a:srgbClr val="FFFFFF"/>
                    </a:solidFill>
                  </a:tcPr>
                </a:tc>
                <a:tc>
                  <a:txBody>
                    <a:bodyPr/>
                    <a:lstStyle/>
                    <a:p>
                      <a:r>
                        <a:rPr sz="1575" b="0">
                          <a:solidFill>
                            <a:srgbClr val="111111"/>
                          </a:solidFill>
                          <a:latin typeface="Calibri"/>
                          <a:ea typeface="Calibri"/>
                          <a:cs typeface="Calibri"/>
                        </a:rPr>
                        <a:t>1219</a:t>
                      </a:r>
                    </a:p>
                  </a:txBody>
                  <a:tcPr marL="95250" marR="76200" marT="19050" marB="19050" anchor="ctr">
                    <a:solidFill>
                      <a:srgbClr val="FFFFFF"/>
                    </a:solidFill>
                  </a:tcPr>
                </a:tc>
                <a:tc>
                  <a:txBody>
                    <a:bodyPr/>
                    <a:lstStyle/>
                    <a:p>
                      <a:r>
                        <a:rPr sz="1575" b="0">
                          <a:solidFill>
                            <a:srgbClr val="111111"/>
                          </a:solidFill>
                          <a:latin typeface="Calibri"/>
                          <a:ea typeface="Calibri"/>
                          <a:cs typeface="Calibri"/>
                        </a:rPr>
                        <a:t>74.8076%</a:t>
                      </a:r>
                    </a:p>
                  </a:txBody>
                  <a:tcPr marL="95250" marR="76200" marT="19050" marB="19050" anchor="ctr">
                    <a:solidFill>
                      <a:srgbClr val="FFFFFF"/>
                    </a:solidFill>
                  </a:tcPr>
                </a:tc>
                <a:tc>
                  <a:txBody>
                    <a:bodyPr/>
                    <a:lstStyle/>
                    <a:p>
                      <a:r>
                        <a:rPr sz="1575" b="0">
                          <a:solidFill>
                            <a:srgbClr val="111111"/>
                          </a:solidFill>
                          <a:latin typeface="Calibri"/>
                          <a:ea typeface="Calibri"/>
                          <a:cs typeface="Calibri"/>
                        </a:rPr>
                        <a:t>—</a:t>
                      </a:r>
                    </a:p>
                  </a:txBody>
                  <a:tcPr marL="95250" marR="76200" marT="19050" marB="19050" anchor="ctr">
                    <a:solidFill>
                      <a:srgbClr val="FFFFFF"/>
                    </a:solidFill>
                  </a:tcPr>
                </a:tc>
                <a:extLst>
                  <a:ext uri="{0D108BD9-81ED-4DB2-BD59-A6C34878D82A}">
                    <a16:rowId xmlns:a16="http://schemas.microsoft.com/office/drawing/2014/main" val="10001"/>
                  </a:ext>
                </a:extLst>
              </a:tr>
              <a:tr h="533400">
                <a:tc>
                  <a:txBody>
                    <a:bodyPr/>
                    <a:lstStyle/>
                    <a:p>
                      <a:r>
                        <a:rPr sz="1575" b="0" dirty="0">
                          <a:solidFill>
                            <a:srgbClr val="111111"/>
                          </a:solidFill>
                          <a:latin typeface="Calibri"/>
                          <a:ea typeface="Calibri"/>
                          <a:cs typeface="Calibri"/>
                        </a:rPr>
                        <a:t>FSDR · no RACE · Dice/Focal</a:t>
                      </a:r>
                    </a:p>
                    <a:p>
                      <a:r>
                        <a:rPr sz="1575" b="0" dirty="0">
                          <a:solidFill>
                            <a:srgbClr val="111111"/>
                          </a:solidFill>
                          <a:latin typeface="Calibri"/>
                          <a:ea typeface="Calibri"/>
                          <a:cs typeface="Calibri"/>
                        </a:rPr>
                        <a:t>80 epochs · single cosine</a:t>
                      </a:r>
                    </a:p>
                  </a:txBody>
                  <a:tcPr marL="95250" marR="76200" marT="19050" marB="19050" anchor="ctr">
                    <a:solidFill>
                      <a:srgbClr val="F3F3F3"/>
                    </a:solidFill>
                  </a:tcPr>
                </a:tc>
                <a:tc>
                  <a:txBody>
                    <a:bodyPr/>
                    <a:lstStyle/>
                    <a:p>
                      <a:r>
                        <a:rPr sz="1575" b="0">
                          <a:solidFill>
                            <a:srgbClr val="111111"/>
                          </a:solidFill>
                          <a:latin typeface="Calibri"/>
                          <a:ea typeface="Calibri"/>
                          <a:cs typeface="Calibri"/>
                        </a:rPr>
                        <a:t>1219</a:t>
                      </a:r>
                    </a:p>
                  </a:txBody>
                  <a:tcPr marL="95250" marR="76200" marT="19050" marB="19050" anchor="ctr">
                    <a:solidFill>
                      <a:srgbClr val="F3F3F3"/>
                    </a:solidFill>
                  </a:tcPr>
                </a:tc>
                <a:tc>
                  <a:txBody>
                    <a:bodyPr/>
                    <a:lstStyle/>
                    <a:p>
                      <a:r>
                        <a:rPr sz="1575" b="0">
                          <a:solidFill>
                            <a:srgbClr val="111111"/>
                          </a:solidFill>
                          <a:latin typeface="Calibri"/>
                          <a:ea typeface="Calibri"/>
                          <a:cs typeface="Calibri"/>
                        </a:rPr>
                        <a:t>75.8098%</a:t>
                      </a:r>
                    </a:p>
                  </a:txBody>
                  <a:tcPr marL="95250" marR="76200" marT="19050" marB="19050" anchor="ctr">
                    <a:solidFill>
                      <a:srgbClr val="F3F3F3"/>
                    </a:solidFill>
                  </a:tcPr>
                </a:tc>
                <a:tc>
                  <a:txBody>
                    <a:bodyPr/>
                    <a:lstStyle/>
                    <a:p>
                      <a:r>
                        <a:rPr sz="1575" b="0" dirty="0">
                          <a:solidFill>
                            <a:srgbClr val="111111"/>
                          </a:solidFill>
                          <a:latin typeface="Calibri"/>
                          <a:ea typeface="Calibri"/>
                          <a:cs typeface="Calibri"/>
                        </a:rPr>
                        <a:t>+1.0022</a:t>
                      </a:r>
                    </a:p>
                  </a:txBody>
                  <a:tcPr marL="95250" marR="76200" marT="19050" marB="19050" anchor="ctr">
                    <a:solidFill>
                      <a:srgbClr val="F3F3F3"/>
                    </a:solidFill>
                  </a:tcPr>
                </a:tc>
                <a:extLst>
                  <a:ext uri="{0D108BD9-81ED-4DB2-BD59-A6C34878D82A}">
                    <a16:rowId xmlns:a16="http://schemas.microsoft.com/office/drawing/2014/main" val="10002"/>
                  </a:ext>
                </a:extLst>
              </a:tr>
              <a:tr h="533400">
                <a:tc>
                  <a:txBody>
                    <a:bodyPr/>
                    <a:lstStyle/>
                    <a:p>
                      <a:r>
                        <a:rPr sz="1575" b="0" dirty="0">
                          <a:solidFill>
                            <a:srgbClr val="FF0000"/>
                          </a:solidFill>
                          <a:latin typeface="Calibri"/>
                          <a:ea typeface="Calibri"/>
                          <a:cs typeface="Calibri"/>
                        </a:rPr>
                        <a:t>FSDR · no RACE · Dice/Focal</a:t>
                      </a:r>
                    </a:p>
                    <a:p>
                      <a:r>
                        <a:rPr sz="1575" b="0" dirty="0">
                          <a:solidFill>
                            <a:srgbClr val="FF0000"/>
                          </a:solidFill>
                          <a:latin typeface="Calibri"/>
                          <a:ea typeface="Calibri"/>
                          <a:cs typeface="Calibri"/>
                        </a:rPr>
                        <a:t>80 epochs · single cosine</a:t>
                      </a:r>
                    </a:p>
                  </a:txBody>
                  <a:tcPr marL="95250" marR="76200" marT="19050" marB="19050" anchor="ctr">
                    <a:solidFill>
                      <a:srgbClr val="FFFFFF"/>
                    </a:solidFill>
                  </a:tcPr>
                </a:tc>
                <a:tc>
                  <a:txBody>
                    <a:bodyPr/>
                    <a:lstStyle/>
                    <a:p>
                      <a:r>
                        <a:rPr sz="1575" b="0" dirty="0">
                          <a:solidFill>
                            <a:srgbClr val="FF0000"/>
                          </a:solidFill>
                          <a:latin typeface="Calibri"/>
                          <a:ea typeface="Calibri"/>
                          <a:cs typeface="Calibri"/>
                        </a:rPr>
                        <a:t>2027</a:t>
                      </a:r>
                    </a:p>
                  </a:txBody>
                  <a:tcPr marL="95250" marR="76200" marT="19050" marB="19050" anchor="ctr">
                    <a:solidFill>
                      <a:srgbClr val="FFFFFF"/>
                    </a:solidFill>
                  </a:tcPr>
                </a:tc>
                <a:tc>
                  <a:txBody>
                    <a:bodyPr/>
                    <a:lstStyle/>
                    <a:p>
                      <a:r>
                        <a:rPr sz="1575" b="0" dirty="0">
                          <a:solidFill>
                            <a:srgbClr val="FF0000"/>
                          </a:solidFill>
                          <a:latin typeface="Calibri"/>
                          <a:ea typeface="Calibri"/>
                          <a:cs typeface="Calibri"/>
                        </a:rPr>
                        <a:t>76.0859%</a:t>
                      </a:r>
                    </a:p>
                  </a:txBody>
                  <a:tcPr marL="95250" marR="76200" marT="19050" marB="19050" anchor="ctr">
                    <a:solidFill>
                      <a:srgbClr val="FFFFFF"/>
                    </a:solidFill>
                  </a:tcPr>
                </a:tc>
                <a:tc>
                  <a:txBody>
                    <a:bodyPr/>
                    <a:lstStyle/>
                    <a:p>
                      <a:r>
                        <a:rPr sz="1575" b="0" dirty="0">
                          <a:solidFill>
                            <a:srgbClr val="FF0000"/>
                          </a:solidFill>
                          <a:latin typeface="Calibri"/>
                          <a:ea typeface="Calibri"/>
                          <a:cs typeface="Calibri"/>
                        </a:rPr>
                        <a:t>+1.2783</a:t>
                      </a:r>
                    </a:p>
                  </a:txBody>
                  <a:tcPr marL="95250" marR="76200" marT="19050" marB="19050" anchor="ctr">
                    <a:solidFill>
                      <a:srgbClr val="FFFFFF"/>
                    </a:solidFill>
                  </a:tcPr>
                </a:tc>
                <a:extLst>
                  <a:ext uri="{0D108BD9-81ED-4DB2-BD59-A6C34878D82A}">
                    <a16:rowId xmlns:a16="http://schemas.microsoft.com/office/drawing/2014/main" val="10003"/>
                  </a:ext>
                </a:extLst>
              </a:tr>
              <a:tr h="533400">
                <a:tc>
                  <a:txBody>
                    <a:bodyPr/>
                    <a:lstStyle/>
                    <a:p>
                      <a:r>
                        <a:rPr sz="1575" b="0" dirty="0">
                          <a:solidFill>
                            <a:srgbClr val="111111"/>
                          </a:solidFill>
                          <a:latin typeface="Calibri"/>
                          <a:ea typeface="Calibri"/>
                          <a:cs typeface="Calibri"/>
                        </a:rPr>
                        <a:t>FSDR · no RACE · Dice/Focal</a:t>
                      </a:r>
                    </a:p>
                    <a:p>
                      <a:r>
                        <a:rPr sz="1575" b="0" dirty="0">
                          <a:solidFill>
                            <a:srgbClr val="111111"/>
                          </a:solidFill>
                          <a:latin typeface="Calibri"/>
                          <a:ea typeface="Calibri"/>
                          <a:cs typeface="Calibri"/>
                        </a:rPr>
                        <a:t>80 epochs · single cosine</a:t>
                      </a:r>
                    </a:p>
                  </a:txBody>
                  <a:tcPr marL="95250" marR="76200" marT="19050" marB="19050" anchor="ctr">
                    <a:solidFill>
                      <a:srgbClr val="F3F3F3"/>
                    </a:solidFill>
                  </a:tcPr>
                </a:tc>
                <a:tc>
                  <a:txBody>
                    <a:bodyPr/>
                    <a:lstStyle/>
                    <a:p>
                      <a:r>
                        <a:rPr sz="1575" b="0" dirty="0">
                          <a:solidFill>
                            <a:srgbClr val="111111"/>
                          </a:solidFill>
                          <a:latin typeface="Calibri"/>
                          <a:ea typeface="Calibri"/>
                          <a:cs typeface="Calibri"/>
                        </a:rPr>
                        <a:t>3407</a:t>
                      </a:r>
                    </a:p>
                  </a:txBody>
                  <a:tcPr marL="95250" marR="76200" marT="19050" marB="19050" anchor="ctr">
                    <a:solidFill>
                      <a:srgbClr val="F3F3F3"/>
                    </a:solidFill>
                  </a:tcPr>
                </a:tc>
                <a:tc>
                  <a:txBody>
                    <a:bodyPr/>
                    <a:lstStyle/>
                    <a:p>
                      <a:r>
                        <a:rPr sz="1575" b="0" dirty="0">
                          <a:solidFill>
                            <a:srgbClr val="111111"/>
                          </a:solidFill>
                          <a:latin typeface="Calibri"/>
                          <a:ea typeface="Calibri"/>
                          <a:cs typeface="Calibri"/>
                        </a:rPr>
                        <a:t>76.0544%</a:t>
                      </a:r>
                    </a:p>
                  </a:txBody>
                  <a:tcPr marL="95250" marR="76200" marT="19050" marB="19050" anchor="ctr">
                    <a:solidFill>
                      <a:srgbClr val="F3F3F3"/>
                    </a:solidFill>
                  </a:tcPr>
                </a:tc>
                <a:tc>
                  <a:txBody>
                    <a:bodyPr/>
                    <a:lstStyle/>
                    <a:p>
                      <a:r>
                        <a:rPr sz="1575" b="0" dirty="0">
                          <a:solidFill>
                            <a:srgbClr val="111111"/>
                          </a:solidFill>
                          <a:latin typeface="Calibri"/>
                          <a:ea typeface="Calibri"/>
                          <a:cs typeface="Calibri"/>
                        </a:rPr>
                        <a:t>+1.2468</a:t>
                      </a:r>
                    </a:p>
                  </a:txBody>
                  <a:tcPr marL="95250" marR="76200" marT="19050" marB="19050" anchor="ctr">
                    <a:solidFill>
                      <a:srgbClr val="F3F3F3"/>
                    </a:solidFill>
                  </a:tcPr>
                </a:tc>
                <a:extLst>
                  <a:ext uri="{0D108BD9-81ED-4DB2-BD59-A6C34878D82A}">
                    <a16:rowId xmlns:a16="http://schemas.microsoft.com/office/drawing/2014/main" val="10004"/>
                  </a:ext>
                </a:extLst>
              </a:tr>
              <a:tr h="609600">
                <a:tc>
                  <a:txBody>
                    <a:bodyPr/>
                    <a:lstStyle/>
                    <a:p>
                      <a:r>
                        <a:rPr sz="1575" b="0" dirty="0">
                          <a:solidFill>
                            <a:srgbClr val="111111"/>
                          </a:solidFill>
                          <a:latin typeface="Calibri"/>
                          <a:ea typeface="Calibri"/>
                          <a:cs typeface="Calibri"/>
                        </a:rPr>
                        <a:t>FSDR + corrected-binding auxiliary supervision; routing off</a:t>
                      </a:r>
                    </a:p>
                    <a:p>
                      <a:r>
                        <a:rPr sz="1575" b="0" dirty="0">
                          <a:solidFill>
                            <a:srgbClr val="111111"/>
                          </a:solidFill>
                          <a:latin typeface="Calibri"/>
                          <a:ea typeface="Calibri"/>
                          <a:cs typeface="Calibri"/>
                        </a:rPr>
                        <a:t>Dice/Focal + auxiliary loss · 80 epochs · single cosine</a:t>
                      </a:r>
                    </a:p>
                  </a:txBody>
                  <a:tcPr marL="95250" marR="76200" marT="19050" marB="19050" anchor="ctr">
                    <a:solidFill>
                      <a:srgbClr val="FFFFFF"/>
                    </a:solidFill>
                  </a:tcPr>
                </a:tc>
                <a:tc>
                  <a:txBody>
                    <a:bodyPr/>
                    <a:lstStyle/>
                    <a:p>
                      <a:r>
                        <a:rPr sz="1575" b="0" dirty="0">
                          <a:solidFill>
                            <a:srgbClr val="111111"/>
                          </a:solidFill>
                          <a:latin typeface="Calibri"/>
                          <a:ea typeface="Calibri"/>
                          <a:cs typeface="Calibri"/>
                        </a:rPr>
                        <a:t>1219</a:t>
                      </a:r>
                    </a:p>
                  </a:txBody>
                  <a:tcPr marL="95250" marR="76200" marT="19050" marB="19050" anchor="ctr">
                    <a:solidFill>
                      <a:srgbClr val="FFFFFF"/>
                    </a:solidFill>
                  </a:tcPr>
                </a:tc>
                <a:tc>
                  <a:txBody>
                    <a:bodyPr/>
                    <a:lstStyle/>
                    <a:p>
                      <a:r>
                        <a:rPr sz="1575" b="0" dirty="0">
                          <a:solidFill>
                            <a:srgbClr val="111111"/>
                          </a:solidFill>
                          <a:latin typeface="Calibri"/>
                          <a:ea typeface="Calibri"/>
                          <a:cs typeface="Calibri"/>
                        </a:rPr>
                        <a:t>76.0013%</a:t>
                      </a:r>
                    </a:p>
                  </a:txBody>
                  <a:tcPr marL="95250" marR="76200" marT="19050" marB="19050" anchor="ctr">
                    <a:solidFill>
                      <a:srgbClr val="FFFFFF"/>
                    </a:solidFill>
                  </a:tcPr>
                </a:tc>
                <a:tc>
                  <a:txBody>
                    <a:bodyPr/>
                    <a:lstStyle/>
                    <a:p>
                      <a:r>
                        <a:rPr sz="1575" b="0" dirty="0">
                          <a:solidFill>
                            <a:srgbClr val="111111"/>
                          </a:solidFill>
                          <a:latin typeface="Calibri"/>
                          <a:ea typeface="Calibri"/>
                          <a:cs typeface="Calibri"/>
                        </a:rPr>
                        <a:t>+1.1938</a:t>
                      </a:r>
                    </a:p>
                  </a:txBody>
                  <a:tcPr marL="95250" marR="76200" marT="19050" marB="19050" anchor="ctr">
                    <a:solidFill>
                      <a:srgbClr val="FFFFFF"/>
                    </a:solidFill>
                  </a:tcPr>
                </a:tc>
                <a:extLst>
                  <a:ext uri="{0D108BD9-81ED-4DB2-BD59-A6C34878D82A}">
                    <a16:rowId xmlns:a16="http://schemas.microsoft.com/office/drawing/2014/main" val="10005"/>
                  </a:ext>
                </a:extLst>
              </a:tr>
              <a:tr h="609600">
                <a:tc>
                  <a:txBody>
                    <a:bodyPr/>
                    <a:lstStyle/>
                    <a:p>
                      <a:r>
                        <a:rPr sz="1575" b="1" dirty="0">
                          <a:solidFill>
                            <a:srgbClr val="111111"/>
                          </a:solidFill>
                          <a:latin typeface="Calibri"/>
                          <a:ea typeface="Calibri"/>
                          <a:cs typeface="Calibri"/>
                        </a:rPr>
                        <a:t>FSDR + RACE routing + corrected-binding auxiliary supervision</a:t>
                      </a:r>
                    </a:p>
                    <a:p>
                      <a:r>
                        <a:rPr sz="1575" b="1" dirty="0">
                          <a:solidFill>
                            <a:srgbClr val="111111"/>
                          </a:solidFill>
                          <a:latin typeface="Calibri"/>
                          <a:ea typeface="Calibri"/>
                          <a:cs typeface="Calibri"/>
                        </a:rPr>
                        <a:t>Dice/Focal + auxiliary loss · 80 epochs · single cosine</a:t>
                      </a:r>
                    </a:p>
                  </a:txBody>
                  <a:tcPr marL="95250" marR="76200" marT="19050" marB="19050" anchor="ctr">
                    <a:solidFill>
                      <a:srgbClr val="F3F3F3"/>
                    </a:solidFill>
                  </a:tcPr>
                </a:tc>
                <a:tc>
                  <a:txBody>
                    <a:bodyPr/>
                    <a:lstStyle/>
                    <a:p>
                      <a:r>
                        <a:rPr sz="1575" b="1">
                          <a:solidFill>
                            <a:srgbClr val="111111"/>
                          </a:solidFill>
                          <a:latin typeface="Calibri"/>
                          <a:ea typeface="Calibri"/>
                          <a:cs typeface="Calibri"/>
                        </a:rPr>
                        <a:t>1219</a:t>
                      </a:r>
                    </a:p>
                  </a:txBody>
                  <a:tcPr marL="95250" marR="76200" marT="19050" marB="19050" anchor="ctr">
                    <a:solidFill>
                      <a:srgbClr val="F3F3F3"/>
                    </a:solidFill>
                  </a:tcPr>
                </a:tc>
                <a:tc>
                  <a:txBody>
                    <a:bodyPr/>
                    <a:lstStyle/>
                    <a:p>
                      <a:r>
                        <a:rPr sz="1575" b="1" dirty="0">
                          <a:solidFill>
                            <a:srgbClr val="111111"/>
                          </a:solidFill>
                          <a:latin typeface="Calibri"/>
                          <a:ea typeface="Calibri"/>
                          <a:cs typeface="Calibri"/>
                        </a:rPr>
                        <a:t>76.2485%</a:t>
                      </a:r>
                    </a:p>
                  </a:txBody>
                  <a:tcPr marL="95250" marR="76200" marT="19050" marB="19050" anchor="ctr">
                    <a:solidFill>
                      <a:srgbClr val="F3F3F3"/>
                    </a:solidFill>
                  </a:tcPr>
                </a:tc>
                <a:tc>
                  <a:txBody>
                    <a:bodyPr/>
                    <a:lstStyle/>
                    <a:p>
                      <a:r>
                        <a:rPr sz="1575" b="1" dirty="0">
                          <a:solidFill>
                            <a:srgbClr val="111111"/>
                          </a:solidFill>
                          <a:latin typeface="Calibri"/>
                          <a:ea typeface="Calibri"/>
                          <a:cs typeface="Calibri"/>
                        </a:rPr>
                        <a:t>+1.4410</a:t>
                      </a:r>
                    </a:p>
                  </a:txBody>
                  <a:tcPr marL="95250" marR="76200" marT="19050" marB="19050" anchor="ctr">
                    <a:solidFill>
                      <a:srgbClr val="F3F3F3"/>
                    </a:solidFill>
                  </a:tcPr>
                </a:tc>
                <a:extLst>
                  <a:ext uri="{0D108BD9-81ED-4DB2-BD59-A6C34878D82A}">
                    <a16:rowId xmlns:a16="http://schemas.microsoft.com/office/drawing/2014/main" val="10006"/>
                  </a:ext>
                </a:extLst>
              </a:tr>
            </a:tbl>
          </a:graphicData>
        </a:graphic>
      </p:graphicFrame>
      <p:sp>
        <p:nvSpPr>
          <p:cNvPr id="4" name="Differences from this historical reference combine architect">
            <a:extLst>
              <a:ext uri="{FF2B5EF4-FFF2-40B4-BE49-F238E27FC236}">
                <a16:creationId xmlns:a16="http://schemas.microsoft.com/office/drawing/2014/main" id="{AA01FAB7-A8F4-41C6-BC02-34A8EA1A1C3A}"/>
              </a:ext>
            </a:extLst>
          </p:cNvPr>
          <p:cNvSpPr>
            <a:spLocks noGrp="1"/>
          </p:cNvSpPr>
          <p:nvPr/>
        </p:nvSpPr>
        <p:spPr>
          <a:xfrm>
            <a:off x="638175" y="5876925"/>
            <a:ext cx="10915650" cy="466725"/>
          </a:xfrm>
          <a:prstGeom prst="rect">
            <a:avLst/>
          </a:prstGeom>
          <a:noFill/>
          <a:ln w="0">
            <a:noFill/>
          </a:ln>
        </p:spPr>
        <p:txBody>
          <a:bodyPr wrap="square" lIns="0" tIns="0" rIns="0" bIns="0" anchor="ctr">
            <a:noAutofit/>
          </a:bodyPr>
          <a:lstStyle/>
          <a:p>
            <a:pPr>
              <a:defRPr sz="1650" b="0">
                <a:solidFill>
                  <a:srgbClr val="606060"/>
                </a:solidFill>
                <a:latin typeface="Calibri"/>
                <a:ea typeface="Calibri"/>
                <a:cs typeface="Calibri"/>
              </a:defRPr>
            </a:pPr>
            <a:r>
              <a:rPr lang="zh-CN" altLang="en-US" b="1" dirty="0">
                <a:solidFill>
                  <a:srgbClr val="FF0000"/>
                </a:solidFill>
                <a:latin typeface="Calibri"/>
                <a:ea typeface="Calibri"/>
                <a:cs typeface="Calibri"/>
              </a:rPr>
              <a:t>单</a:t>
            </a:r>
            <a:r>
              <a:rPr lang="en-US" altLang="zh-CN" b="1" dirty="0">
                <a:solidFill>
                  <a:srgbClr val="FF0000"/>
                </a:solidFill>
                <a:latin typeface="Calibri"/>
                <a:ea typeface="Calibri"/>
                <a:cs typeface="Calibri"/>
              </a:rPr>
              <a:t>RACE</a:t>
            </a:r>
            <a:r>
              <a:rPr lang="zh-CN" altLang="en-US" b="1" dirty="0">
                <a:solidFill>
                  <a:srgbClr val="FF0000"/>
                </a:solidFill>
                <a:latin typeface="Calibri"/>
                <a:ea typeface="Calibri"/>
                <a:cs typeface="Calibri"/>
              </a:rPr>
              <a:t>消融</a:t>
            </a:r>
            <a:endParaRPr sz="1650" b="0" dirty="0">
              <a:solidFill>
                <a:srgbClr val="FF0000"/>
              </a:solidFill>
              <a:latin typeface="Calibri"/>
              <a:ea typeface="Calibri"/>
              <a:cs typeface="Calibri"/>
            </a:endParaRPr>
          </a:p>
        </p:txBody>
      </p:sp>
      <p:sp>
        <p:nvSpPr>
          <p:cNvPr id="5" name="Test results: historical reference">
            <a:extLst>
              <a:ext uri="{FF2B5EF4-FFF2-40B4-BE49-F238E27FC236}">
                <a16:creationId xmlns:a16="http://schemas.microsoft.com/office/drawing/2014/main" id="{D71B8F39-EFF4-4B90-BA43-100EB486886D}"/>
              </a:ext>
            </a:extLst>
          </p:cNvPr>
          <p:cNvSpPr>
            <a:spLocks noGrp="1"/>
          </p:cNvSpPr>
          <p:nvPr/>
        </p:nvSpPr>
        <p:spPr>
          <a:xfrm>
            <a:off x="638175" y="6467475"/>
            <a:ext cx="10001250" cy="190500"/>
          </a:xfrm>
          <a:prstGeom prst="rect">
            <a:avLst/>
          </a:prstGeom>
          <a:noFill/>
          <a:ln w="0">
            <a:noFill/>
          </a:ln>
        </p:spPr>
        <p:txBody>
          <a:bodyPr wrap="square" lIns="0" tIns="0" rIns="0" bIns="0" anchor="ctr">
            <a:noAutofit/>
          </a:bodyPr>
          <a:lstStyle/>
          <a:p>
            <a:pPr algn="l">
              <a:defRPr sz="900" b="0">
                <a:solidFill>
                  <a:srgbClr val="999999"/>
                </a:solidFill>
                <a:latin typeface="Calibri"/>
                <a:ea typeface="Calibri"/>
                <a:cs typeface="Calibri"/>
              </a:defRPr>
            </a:pPr>
            <a:r>
              <a:rPr sz="900" b="0">
                <a:solidFill>
                  <a:srgbClr val="999999"/>
                </a:solidFill>
                <a:latin typeface="Calibri"/>
                <a:ea typeface="Calibri"/>
                <a:cs typeface="Calibri"/>
              </a:rPr>
              <a:t>Test results: historical reference</a:t>
            </a:r>
          </a:p>
        </p:txBody>
      </p:sp>
      <p:sp>
        <p:nvSpPr>
          <p:cNvPr id="6" name="8">
            <a:extLst>
              <a:ext uri="{FF2B5EF4-FFF2-40B4-BE49-F238E27FC236}">
                <a16:creationId xmlns:a16="http://schemas.microsoft.com/office/drawing/2014/main" id="{891CDCBC-6DE1-48DF-8FED-96CC4E9B94F5}"/>
              </a:ext>
            </a:extLst>
          </p:cNvPr>
          <p:cNvSpPr>
            <a:spLocks noGrp="1"/>
          </p:cNvSpPr>
          <p:nvPr/>
        </p:nvSpPr>
        <p:spPr>
          <a:xfrm>
            <a:off x="11144250" y="6467475"/>
            <a:ext cx="409575" cy="190500"/>
          </a:xfrm>
          <a:prstGeom prst="rect">
            <a:avLst/>
          </a:prstGeom>
          <a:noFill/>
          <a:ln w="0">
            <a:noFill/>
          </a:ln>
        </p:spPr>
        <p:txBody>
          <a:bodyPr wrap="square" lIns="0" tIns="0" rIns="0" bIns="0" anchor="ctr">
            <a:noAutofit/>
          </a:bodyPr>
          <a:lstStyle/>
          <a:p>
            <a:pPr algn="r">
              <a:defRPr sz="900" b="0">
                <a:solidFill>
                  <a:srgbClr val="999999"/>
                </a:solidFill>
                <a:latin typeface="Calibri"/>
                <a:ea typeface="Calibri"/>
                <a:cs typeface="Calibri"/>
              </a:defRPr>
            </a:pPr>
            <a:r>
              <a:rPr sz="900" b="0">
                <a:solidFill>
                  <a:srgbClr val="999999"/>
                </a:solidFill>
                <a:latin typeface="Calibri"/>
                <a:ea typeface="Calibri"/>
                <a:cs typeface="Calibri"/>
              </a:rPr>
              <a:t>8</a:t>
            </a:r>
          </a:p>
        </p:txBody>
      </p:sp>
    </p:spTree>
    <p:extLst>
      <p:ext uri="{BB962C8B-B14F-4D97-AF65-F5344CB8AC3E}">
        <p14:creationId xmlns:p14="http://schemas.microsoft.com/office/powerpoint/2010/main" val="19354370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E85D8B2-92CF-4F1B-B9AE-85D404C529CE}"/>
              </a:ext>
            </a:extLst>
          </p:cNvPr>
          <p:cNvSpPr>
            <a:spLocks noGrp="1"/>
          </p:cNvSpPr>
          <p:nvPr/>
        </p:nvSpPr>
        <p:spPr>
          <a:xfrm>
            <a:off x="640080" y="361950"/>
            <a:ext cx="10915650" cy="952500"/>
          </a:xfrm>
          <a:prstGeom prst="rect">
            <a:avLst/>
          </a:prstGeom>
          <a:noFill/>
        </p:spPr>
        <p:txBody>
          <a:bodyPr wrap="square" lIns="0" tIns="0" rIns="0" bIns="0" anchor="ctr">
            <a:noAutofit/>
          </a:bodyPr>
          <a:lstStyle/>
          <a:p>
            <a:pPr marL="0" indent="0">
              <a:buNone/>
              <a:defRPr sz="3000" b="1">
                <a:solidFill>
                  <a:srgbClr val="111111"/>
                </a:solidFill>
                <a:latin typeface="Cambria"/>
                <a:ea typeface="Cambria"/>
                <a:cs typeface="Cambria"/>
              </a:defRPr>
            </a:pPr>
            <a:r>
              <a:rPr sz="3000" b="1" dirty="0">
                <a:solidFill>
                  <a:srgbClr val="111111"/>
                </a:solidFill>
                <a:latin typeface="Cambria"/>
                <a:ea typeface="Cambria"/>
                <a:cs typeface="Cambria"/>
              </a:rPr>
              <a:t>RACE: source of the measured gain</a:t>
            </a:r>
            <a:endParaRPr sz="2800" dirty="0"/>
          </a:p>
        </p:txBody>
      </p:sp>
      <p:graphicFrame>
        <p:nvGraphicFramePr>
          <p:cNvPr id="10" name="表格 9"/>
          <p:cNvGraphicFramePr/>
          <p:nvPr/>
        </p:nvGraphicFramePr>
        <p:xfrm>
          <a:off x="638175" y="1743075"/>
          <a:ext cx="10915650" cy="3200400"/>
        </p:xfrm>
        <a:graphic>
          <a:graphicData uri="http://schemas.openxmlformats.org/drawingml/2006/table">
            <a:tbl>
              <a:tblPr/>
              <a:tblGrid>
                <a:gridCol w="4533900">
                  <a:extLst>
                    <a:ext uri="{9D8B030D-6E8A-4147-A177-3AD203B41FA5}">
                      <a16:colId xmlns:a16="http://schemas.microsoft.com/office/drawing/2014/main" val="20000"/>
                    </a:ext>
                  </a:extLst>
                </a:gridCol>
                <a:gridCol w="2400300">
                  <a:extLst>
                    <a:ext uri="{9D8B030D-6E8A-4147-A177-3AD203B41FA5}">
                      <a16:colId xmlns:a16="http://schemas.microsoft.com/office/drawing/2014/main" val="20001"/>
                    </a:ext>
                  </a:extLst>
                </a:gridCol>
                <a:gridCol w="3981450">
                  <a:extLst>
                    <a:ext uri="{9D8B030D-6E8A-4147-A177-3AD203B41FA5}">
                      <a16:colId xmlns:a16="http://schemas.microsoft.com/office/drawing/2014/main" val="20002"/>
                    </a:ext>
                  </a:extLst>
                </a:gridCol>
              </a:tblGrid>
              <a:tr h="800100">
                <a:tc>
                  <a:txBody>
                    <a:bodyPr/>
                    <a:lstStyle/>
                    <a:p>
                      <a:r>
                        <a:rPr sz="1950" b="1">
                          <a:solidFill>
                            <a:srgbClr val="FFFFFF"/>
                          </a:solidFill>
                          <a:latin typeface="Calibri"/>
                          <a:ea typeface="Calibri"/>
                          <a:cs typeface="Calibri"/>
                        </a:rPr>
                        <a:t>Change</a:t>
                      </a:r>
                    </a:p>
                  </a:txBody>
                  <a:tcPr marL="114300" marR="95250" marT="66675" marB="47625" anchor="ctr">
                    <a:solidFill>
                      <a:srgbClr val="111111"/>
                    </a:solidFill>
                  </a:tcPr>
                </a:tc>
                <a:tc>
                  <a:txBody>
                    <a:bodyPr/>
                    <a:lstStyle/>
                    <a:p>
                      <a:r>
                        <a:rPr sz="1950" b="1">
                          <a:solidFill>
                            <a:srgbClr val="FFFFFF"/>
                          </a:solidFill>
                          <a:latin typeface="Calibri"/>
                          <a:ea typeface="Calibri"/>
                          <a:cs typeface="Calibri"/>
                        </a:rPr>
                        <a:t>Δ Test IoU (pp)</a:t>
                      </a:r>
                    </a:p>
                  </a:txBody>
                  <a:tcPr marL="114300" marR="95250" marT="66675" marB="47625" anchor="ctr">
                    <a:solidFill>
                      <a:srgbClr val="111111"/>
                    </a:solidFill>
                  </a:tcPr>
                </a:tc>
                <a:tc>
                  <a:txBody>
                    <a:bodyPr/>
                    <a:lstStyle/>
                    <a:p>
                      <a:r>
                        <a:rPr sz="1950" b="1" dirty="0">
                          <a:solidFill>
                            <a:srgbClr val="FFFFFF"/>
                          </a:solidFill>
                          <a:latin typeface="Calibri"/>
                          <a:ea typeface="Calibri"/>
                          <a:cs typeface="Calibri"/>
                        </a:rPr>
                        <a:t>Image-paired 95% CI (pp)</a:t>
                      </a:r>
                    </a:p>
                  </a:txBody>
                  <a:tcPr marL="114300" marR="95250" marT="66675" marB="47625" anchor="ctr">
                    <a:solidFill>
                      <a:srgbClr val="111111"/>
                    </a:solidFill>
                  </a:tcPr>
                </a:tc>
                <a:extLst>
                  <a:ext uri="{0D108BD9-81ED-4DB2-BD59-A6C34878D82A}">
                    <a16:rowId xmlns:a16="http://schemas.microsoft.com/office/drawing/2014/main" val="10000"/>
                  </a:ext>
                </a:extLst>
              </a:tr>
              <a:tr h="800100">
                <a:tc>
                  <a:txBody>
                    <a:bodyPr/>
                    <a:lstStyle/>
                    <a:p>
                      <a:r>
                        <a:rPr sz="1950" b="0" dirty="0">
                          <a:solidFill>
                            <a:srgbClr val="111111"/>
                          </a:solidFill>
                          <a:latin typeface="Calibri"/>
                          <a:ea typeface="Calibri"/>
                          <a:cs typeface="Calibri"/>
                        </a:rPr>
                        <a:t>Auxiliary objectives</a:t>
                      </a:r>
                    </a:p>
                  </a:txBody>
                  <a:tcPr marL="114300" marR="95250" marT="66675" marB="47625" anchor="ctr">
                    <a:solidFill>
                      <a:srgbClr val="FFFFFF"/>
                    </a:solidFill>
                  </a:tcPr>
                </a:tc>
                <a:tc>
                  <a:txBody>
                    <a:bodyPr/>
                    <a:lstStyle/>
                    <a:p>
                      <a:r>
                        <a:rPr sz="1950" b="0">
                          <a:solidFill>
                            <a:srgbClr val="111111"/>
                          </a:solidFill>
                          <a:latin typeface="Calibri"/>
                          <a:ea typeface="Calibri"/>
                          <a:cs typeface="Calibri"/>
                        </a:rPr>
                        <a:t>+0.1915</a:t>
                      </a:r>
                    </a:p>
                  </a:txBody>
                  <a:tcPr marL="114300" marR="95250" marT="66675" marB="47625" anchor="ctr">
                    <a:solidFill>
                      <a:srgbClr val="FFFFFF"/>
                    </a:solidFill>
                  </a:tcPr>
                </a:tc>
                <a:tc>
                  <a:txBody>
                    <a:bodyPr/>
                    <a:lstStyle/>
                    <a:p>
                      <a:r>
                        <a:rPr sz="1950" b="0" dirty="0">
                          <a:solidFill>
                            <a:srgbClr val="111111"/>
                          </a:solidFill>
                          <a:latin typeface="Calibri"/>
                          <a:ea typeface="Calibri"/>
                          <a:cs typeface="Calibri"/>
                        </a:rPr>
                        <a:t>[-0.0498, +0.4340]</a:t>
                      </a:r>
                    </a:p>
                  </a:txBody>
                  <a:tcPr marL="114300" marR="95250" marT="66675" marB="47625" anchor="ctr">
                    <a:solidFill>
                      <a:srgbClr val="FFFFFF"/>
                    </a:solidFill>
                  </a:tcPr>
                </a:tc>
                <a:extLst>
                  <a:ext uri="{0D108BD9-81ED-4DB2-BD59-A6C34878D82A}">
                    <a16:rowId xmlns:a16="http://schemas.microsoft.com/office/drawing/2014/main" val="10001"/>
                  </a:ext>
                </a:extLst>
              </a:tr>
              <a:tr h="800100">
                <a:tc>
                  <a:txBody>
                    <a:bodyPr/>
                    <a:lstStyle/>
                    <a:p>
                      <a:r>
                        <a:rPr sz="1950" b="0" dirty="0">
                          <a:solidFill>
                            <a:srgbClr val="111111"/>
                          </a:solidFill>
                          <a:latin typeface="Calibri"/>
                          <a:ea typeface="Calibri"/>
                          <a:cs typeface="Calibri"/>
                        </a:rPr>
                        <a:t>Routing, with auxiliary fixed</a:t>
                      </a:r>
                    </a:p>
                  </a:txBody>
                  <a:tcPr marL="114300" marR="95250" marT="66675" marB="47625" anchor="ctr">
                    <a:solidFill>
                      <a:srgbClr val="F3F3F3"/>
                    </a:solidFill>
                  </a:tcPr>
                </a:tc>
                <a:tc>
                  <a:txBody>
                    <a:bodyPr/>
                    <a:lstStyle/>
                    <a:p>
                      <a:r>
                        <a:rPr sz="1950" b="0" dirty="0">
                          <a:solidFill>
                            <a:srgbClr val="111111"/>
                          </a:solidFill>
                          <a:latin typeface="Calibri"/>
                          <a:ea typeface="Calibri"/>
                          <a:cs typeface="Calibri"/>
                        </a:rPr>
                        <a:t>+0.2472</a:t>
                      </a:r>
                    </a:p>
                  </a:txBody>
                  <a:tcPr marL="114300" marR="95250" marT="66675" marB="47625" anchor="ctr">
                    <a:solidFill>
                      <a:srgbClr val="F3F3F3"/>
                    </a:solidFill>
                  </a:tcPr>
                </a:tc>
                <a:tc>
                  <a:txBody>
                    <a:bodyPr/>
                    <a:lstStyle/>
                    <a:p>
                      <a:r>
                        <a:rPr sz="1950" b="0" dirty="0">
                          <a:solidFill>
                            <a:srgbClr val="111111"/>
                          </a:solidFill>
                          <a:latin typeface="Calibri"/>
                          <a:ea typeface="Calibri"/>
                          <a:cs typeface="Calibri"/>
                        </a:rPr>
                        <a:t>[-0.0348, +0.5211]</a:t>
                      </a:r>
                    </a:p>
                  </a:txBody>
                  <a:tcPr marL="114300" marR="95250" marT="66675" marB="47625" anchor="ctr">
                    <a:solidFill>
                      <a:srgbClr val="F3F3F3"/>
                    </a:solidFill>
                  </a:tcPr>
                </a:tc>
                <a:extLst>
                  <a:ext uri="{0D108BD9-81ED-4DB2-BD59-A6C34878D82A}">
                    <a16:rowId xmlns:a16="http://schemas.microsoft.com/office/drawing/2014/main" val="10002"/>
                  </a:ext>
                </a:extLst>
              </a:tr>
              <a:tr h="800100">
                <a:tc>
                  <a:txBody>
                    <a:bodyPr/>
                    <a:lstStyle/>
                    <a:p>
                      <a:r>
                        <a:rPr sz="1950" b="0" dirty="0">
                          <a:solidFill>
                            <a:srgbClr val="111111"/>
                          </a:solidFill>
                          <a:latin typeface="Calibri"/>
                          <a:ea typeface="Calibri"/>
                          <a:cs typeface="Calibri"/>
                        </a:rPr>
                        <a:t>Complete RACE configuration</a:t>
                      </a:r>
                    </a:p>
                  </a:txBody>
                  <a:tcPr marL="114300" marR="95250" marT="66675" marB="47625" anchor="ctr">
                    <a:solidFill>
                      <a:srgbClr val="FFFFFF"/>
                    </a:solidFill>
                  </a:tcPr>
                </a:tc>
                <a:tc>
                  <a:txBody>
                    <a:bodyPr/>
                    <a:lstStyle/>
                    <a:p>
                      <a:r>
                        <a:rPr sz="1950" b="0" dirty="0">
                          <a:solidFill>
                            <a:srgbClr val="111111"/>
                          </a:solidFill>
                          <a:latin typeface="Calibri"/>
                          <a:ea typeface="Calibri"/>
                          <a:cs typeface="Calibri"/>
                        </a:rPr>
                        <a:t>+0.4387</a:t>
                      </a:r>
                    </a:p>
                  </a:txBody>
                  <a:tcPr marL="114300" marR="95250" marT="66675" marB="47625" anchor="ctr">
                    <a:solidFill>
                      <a:srgbClr val="FFFFFF"/>
                    </a:solidFill>
                  </a:tcPr>
                </a:tc>
                <a:tc>
                  <a:txBody>
                    <a:bodyPr/>
                    <a:lstStyle/>
                    <a:p>
                      <a:r>
                        <a:rPr sz="1950" b="0" dirty="0">
                          <a:solidFill>
                            <a:srgbClr val="111111"/>
                          </a:solidFill>
                          <a:latin typeface="Calibri"/>
                          <a:ea typeface="Calibri"/>
                          <a:cs typeface="Calibri"/>
                        </a:rPr>
                        <a:t>[+0.1405, +0.7276]</a:t>
                      </a:r>
                    </a:p>
                  </a:txBody>
                  <a:tcPr marL="114300" marR="95250" marT="66675" marB="47625" anchor="ctr">
                    <a:solidFill>
                      <a:srgbClr val="FFFFFF"/>
                    </a:solidFill>
                  </a:tcPr>
                </a:tc>
                <a:extLst>
                  <a:ext uri="{0D108BD9-81ED-4DB2-BD59-A6C34878D82A}">
                    <a16:rowId xmlns:a16="http://schemas.microsoft.com/office/drawing/2014/main" val="10003"/>
                  </a:ext>
                </a:extLst>
              </a:tr>
            </a:tbl>
          </a:graphicData>
        </a:graphic>
      </p:graphicFrame>
      <p:sp>
        <p:nvSpPr>
          <p:cNvPr id="4" name="The matched auxiliary-only control separates the r">
            <a:extLst>
              <a:ext uri="{FF2B5EF4-FFF2-40B4-BE49-F238E27FC236}">
                <a16:creationId xmlns:a16="http://schemas.microsoft.com/office/drawing/2014/main" id="{DB476303-4C93-4709-94DD-E2384BBF6B0C}"/>
              </a:ext>
            </a:extLst>
          </p:cNvPr>
          <p:cNvSpPr>
            <a:spLocks noGrp="1"/>
          </p:cNvSpPr>
          <p:nvPr/>
        </p:nvSpPr>
        <p:spPr>
          <a:xfrm>
            <a:off x="638175" y="5191125"/>
            <a:ext cx="10915650" cy="590550"/>
          </a:xfrm>
          <a:prstGeom prst="rect">
            <a:avLst/>
          </a:prstGeom>
          <a:noFill/>
          <a:ln w="0">
            <a:noFill/>
          </a:ln>
        </p:spPr>
        <p:txBody>
          <a:bodyPr wrap="square" lIns="0" tIns="0" rIns="0" bIns="0" anchor="t">
            <a:noAutofit/>
          </a:bodyPr>
          <a:lstStyle/>
          <a:p>
            <a:pPr algn="l">
              <a:buNone/>
              <a:defRPr sz="1950" b="1">
                <a:solidFill>
                  <a:srgbClr val="111111"/>
                </a:solidFill>
                <a:latin typeface="Calibri"/>
                <a:ea typeface="Calibri"/>
                <a:cs typeface="Calibri"/>
              </a:defRPr>
            </a:pPr>
            <a:r>
              <a:rPr sz="1950" b="1">
                <a:solidFill>
                  <a:srgbClr val="111111"/>
                </a:solidFill>
                <a:latin typeface="Calibri"/>
                <a:ea typeface="Calibri"/>
                <a:cs typeface="Calibri"/>
              </a:rPr>
              <a:t>The matched auxiliary-only control separates the routing increment from auxiliary training.</a:t>
            </a:r>
          </a:p>
        </p:txBody>
      </p:sp>
      <p:sp>
        <p:nvSpPr>
          <p:cNvPr id="5" name="The routing increment is positive, but its interva">
            <a:extLst>
              <a:ext uri="{FF2B5EF4-FFF2-40B4-BE49-F238E27FC236}">
                <a16:creationId xmlns:a16="http://schemas.microsoft.com/office/drawing/2014/main" id="{7B56218D-E9B5-43A8-B336-3318C5615D8F}"/>
              </a:ext>
            </a:extLst>
          </p:cNvPr>
          <p:cNvSpPr>
            <a:spLocks noGrp="1"/>
          </p:cNvSpPr>
          <p:nvPr/>
        </p:nvSpPr>
        <p:spPr>
          <a:xfrm>
            <a:off x="638175" y="5781675"/>
            <a:ext cx="10915650" cy="552450"/>
          </a:xfrm>
          <a:prstGeom prst="rect">
            <a:avLst/>
          </a:prstGeom>
          <a:noFill/>
          <a:ln w="0">
            <a:noFill/>
          </a:ln>
        </p:spPr>
        <p:txBody>
          <a:bodyPr wrap="square" lIns="0" tIns="0" rIns="0" bIns="0" anchor="t">
            <a:noAutofit/>
          </a:bodyPr>
          <a:lstStyle/>
          <a:p>
            <a:pPr algn="l">
              <a:buNone/>
              <a:defRPr sz="1800" b="0">
                <a:solidFill>
                  <a:srgbClr val="606060"/>
                </a:solidFill>
                <a:latin typeface="Calibri"/>
                <a:ea typeface="Calibri"/>
                <a:cs typeface="Calibri"/>
              </a:defRPr>
            </a:pPr>
            <a:r>
              <a:rPr sz="1800" b="0">
                <a:solidFill>
                  <a:srgbClr val="606060"/>
                </a:solidFill>
                <a:latin typeface="Calibri"/>
                <a:ea typeface="Calibri"/>
                <a:cs typeface="Calibri"/>
              </a:rPr>
              <a:t>The routing increment is positive, but its interval crosses zero.</a:t>
            </a:r>
          </a:p>
          <a:p>
            <a:pPr algn="l">
              <a:buNone/>
              <a:defRPr sz="1800" b="0">
                <a:solidFill>
                  <a:srgbClr val="606060"/>
                </a:solidFill>
                <a:latin typeface="Calibri"/>
                <a:ea typeface="Calibri"/>
                <a:cs typeface="Calibri"/>
              </a:defRPr>
            </a:pPr>
            <a:r>
              <a:rPr sz="1800" b="0">
                <a:solidFill>
                  <a:srgbClr val="606060"/>
                </a:solidFill>
                <a:latin typeface="Calibri"/>
                <a:ea typeface="Calibri"/>
                <a:cs typeface="Calibri"/>
              </a:rPr>
              <a:t>The total gain cannot be assigned entirely to the route.</a:t>
            </a:r>
          </a:p>
        </p:txBody>
      </p:sp>
      <p:sp>
        <p:nvSpPr>
          <p:cNvPr id="6" name="RACE ablation">
            <a:extLst>
              <a:ext uri="{FF2B5EF4-FFF2-40B4-BE49-F238E27FC236}">
                <a16:creationId xmlns:a16="http://schemas.microsoft.com/office/drawing/2014/main" id="{05BFDAA4-CB2B-4E33-9226-E564AEFEFF89}"/>
              </a:ext>
            </a:extLst>
          </p:cNvPr>
          <p:cNvSpPr>
            <a:spLocks noGrp="1"/>
          </p:cNvSpPr>
          <p:nvPr/>
        </p:nvSpPr>
        <p:spPr>
          <a:xfrm>
            <a:off x="638175" y="6467475"/>
            <a:ext cx="9906000" cy="190500"/>
          </a:xfrm>
          <a:prstGeom prst="rect">
            <a:avLst/>
          </a:prstGeom>
          <a:noFill/>
          <a:ln w="0">
            <a:noFill/>
          </a:ln>
        </p:spPr>
        <p:txBody>
          <a:bodyPr wrap="square" lIns="0" tIns="0" rIns="0" bIns="0" anchor="t">
            <a:noAutofit/>
          </a:bodyPr>
          <a:lstStyle/>
          <a:p>
            <a:pPr algn="l">
              <a:buNone/>
              <a:defRPr sz="900" b="0">
                <a:solidFill>
                  <a:srgbClr val="999999"/>
                </a:solidFill>
                <a:latin typeface="Calibri"/>
                <a:ea typeface="Calibri"/>
                <a:cs typeface="Calibri"/>
              </a:defRPr>
            </a:pPr>
            <a:r>
              <a:rPr sz="900" b="0">
                <a:solidFill>
                  <a:srgbClr val="999999"/>
                </a:solidFill>
                <a:latin typeface="Calibri"/>
                <a:ea typeface="Calibri"/>
                <a:cs typeface="Calibri"/>
              </a:rPr>
              <a:t>RACE ablation</a:t>
            </a:r>
          </a:p>
        </p:txBody>
      </p:sp>
      <p:sp>
        <p:nvSpPr>
          <p:cNvPr id="7" name="9">
            <a:extLst>
              <a:ext uri="{FF2B5EF4-FFF2-40B4-BE49-F238E27FC236}">
                <a16:creationId xmlns:a16="http://schemas.microsoft.com/office/drawing/2014/main" id="{D2E519F7-6602-49D0-A736-5F467991CDB4}"/>
              </a:ext>
            </a:extLst>
          </p:cNvPr>
          <p:cNvSpPr>
            <a:spLocks noGrp="1"/>
          </p:cNvSpPr>
          <p:nvPr/>
        </p:nvSpPr>
        <p:spPr>
          <a:xfrm>
            <a:off x="11144250" y="6467475"/>
            <a:ext cx="409575" cy="190500"/>
          </a:xfrm>
          <a:prstGeom prst="rect">
            <a:avLst/>
          </a:prstGeom>
          <a:noFill/>
          <a:ln w="0">
            <a:noFill/>
          </a:ln>
        </p:spPr>
        <p:txBody>
          <a:bodyPr wrap="square" lIns="0" tIns="0" rIns="0" bIns="0" anchor="t">
            <a:noAutofit/>
          </a:bodyPr>
          <a:lstStyle/>
          <a:p>
            <a:pPr algn="r">
              <a:buNone/>
              <a:defRPr sz="900" b="0">
                <a:solidFill>
                  <a:srgbClr val="999999"/>
                </a:solidFill>
                <a:latin typeface="Calibri"/>
                <a:ea typeface="Calibri"/>
                <a:cs typeface="Calibri"/>
              </a:defRPr>
            </a:pPr>
            <a:r>
              <a:rPr sz="900" b="0">
                <a:solidFill>
                  <a:srgbClr val="999999"/>
                </a:solidFill>
                <a:latin typeface="Calibri"/>
                <a:ea typeface="Calibri"/>
                <a:cs typeface="Calibri"/>
              </a:rPr>
              <a:t>9</a:t>
            </a:r>
          </a:p>
        </p:txBody>
      </p:sp>
    </p:spTree>
    <p:extLst>
      <p:ext uri="{BB962C8B-B14F-4D97-AF65-F5344CB8AC3E}">
        <p14:creationId xmlns:p14="http://schemas.microsoft.com/office/powerpoint/2010/main" val="12264182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0A6560FF-8F5F-4501-A017-C799DDBC63E3}"/>
              </a:ext>
            </a:extLst>
          </p:cNvPr>
          <p:cNvSpPr>
            <a:spLocks noGrp="1"/>
          </p:cNvSpPr>
          <p:nvPr/>
        </p:nvSpPr>
        <p:spPr>
          <a:xfrm>
            <a:off x="640080" y="361950"/>
            <a:ext cx="10915650" cy="952500"/>
          </a:xfrm>
          <a:prstGeom prst="rect">
            <a:avLst/>
          </a:prstGeom>
          <a:noFill/>
        </p:spPr>
        <p:txBody>
          <a:bodyPr wrap="square" lIns="0" tIns="0" rIns="0" bIns="0" anchor="ctr">
            <a:noAutofit/>
          </a:bodyPr>
          <a:lstStyle/>
          <a:p>
            <a:pPr marL="0" indent="0">
              <a:buNone/>
              <a:defRPr sz="3000" b="1">
                <a:solidFill>
                  <a:srgbClr val="111111"/>
                </a:solidFill>
                <a:latin typeface="Cambria"/>
                <a:ea typeface="Cambria"/>
                <a:cs typeface="Cambria"/>
              </a:defRPr>
            </a:pPr>
            <a:r>
              <a:rPr sz="3000" b="1">
                <a:solidFill>
                  <a:srgbClr val="111111"/>
                </a:solidFill>
                <a:latin typeface="Cambria"/>
                <a:ea typeface="Cambria"/>
                <a:cs typeface="Cambria"/>
              </a:rPr>
              <a:t>Validation and limits of the evidence</a:t>
            </a:r>
            <a:endParaRPr sz="2800"/>
          </a:p>
        </p:txBody>
      </p:sp>
      <p:graphicFrame>
        <p:nvGraphicFramePr>
          <p:cNvPr id="10" name="表格 9"/>
          <p:cNvGraphicFramePr/>
          <p:nvPr>
            <p:extLst>
              <p:ext uri="{D42A27DB-BD31-4B8C-83A1-F6EECF244321}">
                <p14:modId xmlns:p14="http://schemas.microsoft.com/office/powerpoint/2010/main" val="78770340"/>
              </p:ext>
            </p:extLst>
          </p:nvPr>
        </p:nvGraphicFramePr>
        <p:xfrm>
          <a:off x="638175" y="1638300"/>
          <a:ext cx="10915650" cy="2514600"/>
        </p:xfrm>
        <a:graphic>
          <a:graphicData uri="http://schemas.openxmlformats.org/drawingml/2006/table">
            <a:tbl>
              <a:tblPr/>
              <a:tblGrid>
                <a:gridCol w="5391150">
                  <a:extLst>
                    <a:ext uri="{9D8B030D-6E8A-4147-A177-3AD203B41FA5}">
                      <a16:colId xmlns:a16="http://schemas.microsoft.com/office/drawing/2014/main" val="20000"/>
                    </a:ext>
                  </a:extLst>
                </a:gridCol>
                <a:gridCol w="2762250">
                  <a:extLst>
                    <a:ext uri="{9D8B030D-6E8A-4147-A177-3AD203B41FA5}">
                      <a16:colId xmlns:a16="http://schemas.microsoft.com/office/drawing/2014/main" val="20001"/>
                    </a:ext>
                  </a:extLst>
                </a:gridCol>
                <a:gridCol w="2762250">
                  <a:extLst>
                    <a:ext uri="{9D8B030D-6E8A-4147-A177-3AD203B41FA5}">
                      <a16:colId xmlns:a16="http://schemas.microsoft.com/office/drawing/2014/main" val="20002"/>
                    </a:ext>
                  </a:extLst>
                </a:gridCol>
              </a:tblGrid>
              <a:tr h="628650">
                <a:tc>
                  <a:txBody>
                    <a:bodyPr/>
                    <a:lstStyle/>
                    <a:p>
                      <a:r>
                        <a:rPr sz="1950" b="1">
                          <a:solidFill>
                            <a:srgbClr val="FFFFFF"/>
                          </a:solidFill>
                          <a:latin typeface="Calibri"/>
                          <a:ea typeface="Calibri"/>
                          <a:cs typeface="Calibri"/>
                        </a:rPr>
                        <a:t>Configuration</a:t>
                      </a:r>
                    </a:p>
                  </a:txBody>
                  <a:tcPr marL="114300" marR="95250" marT="66675" marB="47625" anchor="ctr">
                    <a:solidFill>
                      <a:srgbClr val="111111"/>
                    </a:solidFill>
                  </a:tcPr>
                </a:tc>
                <a:tc>
                  <a:txBody>
                    <a:bodyPr/>
                    <a:lstStyle/>
                    <a:p>
                      <a:r>
                        <a:rPr sz="1950" b="1">
                          <a:solidFill>
                            <a:srgbClr val="FFFFFF"/>
                          </a:solidFill>
                          <a:latin typeface="Calibri"/>
                          <a:ea typeface="Calibri"/>
                          <a:cs typeface="Calibri"/>
                        </a:rPr>
                        <a:t>Val IoU</a:t>
                      </a:r>
                    </a:p>
                  </a:txBody>
                  <a:tcPr marL="114300" marR="95250" marT="66675" marB="47625" anchor="ctr">
                    <a:solidFill>
                      <a:srgbClr val="111111"/>
                    </a:solidFill>
                  </a:tcPr>
                </a:tc>
                <a:tc>
                  <a:txBody>
                    <a:bodyPr/>
                    <a:lstStyle/>
                    <a:p>
                      <a:r>
                        <a:rPr sz="1950" b="1">
                          <a:solidFill>
                            <a:srgbClr val="FFFFFF"/>
                          </a:solidFill>
                          <a:latin typeface="Calibri"/>
                          <a:ea typeface="Calibri"/>
                          <a:cs typeface="Calibri"/>
                        </a:rPr>
                        <a:t>Test IoU</a:t>
                      </a:r>
                    </a:p>
                  </a:txBody>
                  <a:tcPr marL="114300" marR="95250" marT="66675" marB="47625" anchor="ctr">
                    <a:solidFill>
                      <a:srgbClr val="111111"/>
                    </a:solidFill>
                  </a:tcPr>
                </a:tc>
                <a:extLst>
                  <a:ext uri="{0D108BD9-81ED-4DB2-BD59-A6C34878D82A}">
                    <a16:rowId xmlns:a16="http://schemas.microsoft.com/office/drawing/2014/main" val="10000"/>
                  </a:ext>
                </a:extLst>
              </a:tr>
              <a:tr h="628650">
                <a:tc>
                  <a:txBody>
                    <a:bodyPr/>
                    <a:lstStyle/>
                    <a:p>
                      <a:r>
                        <a:rPr sz="1950" b="0" dirty="0">
                          <a:solidFill>
                            <a:srgbClr val="111111"/>
                          </a:solidFill>
                          <a:latin typeface="Calibri"/>
                          <a:ea typeface="Calibri"/>
                          <a:cs typeface="Calibri"/>
                        </a:rPr>
                        <a:t>FSDR</a:t>
                      </a:r>
                    </a:p>
                  </a:txBody>
                  <a:tcPr marL="114300" marR="95250" marT="66675" marB="47625" anchor="ctr">
                    <a:solidFill>
                      <a:srgbClr val="FFFFFF"/>
                    </a:solidFill>
                  </a:tcPr>
                </a:tc>
                <a:tc>
                  <a:txBody>
                    <a:bodyPr/>
                    <a:lstStyle/>
                    <a:p>
                      <a:r>
                        <a:rPr sz="1950" b="0">
                          <a:solidFill>
                            <a:srgbClr val="111111"/>
                          </a:solidFill>
                          <a:latin typeface="Calibri"/>
                          <a:ea typeface="Calibri"/>
                          <a:cs typeface="Calibri"/>
                        </a:rPr>
                        <a:t>72.6654%</a:t>
                      </a:r>
                    </a:p>
                  </a:txBody>
                  <a:tcPr marL="114300" marR="95250" marT="66675" marB="47625" anchor="ctr">
                    <a:solidFill>
                      <a:srgbClr val="FFFFFF"/>
                    </a:solidFill>
                  </a:tcPr>
                </a:tc>
                <a:tc>
                  <a:txBody>
                    <a:bodyPr/>
                    <a:lstStyle/>
                    <a:p>
                      <a:r>
                        <a:rPr sz="1950" b="0" dirty="0">
                          <a:solidFill>
                            <a:srgbClr val="111111"/>
                          </a:solidFill>
                          <a:latin typeface="Calibri"/>
                          <a:ea typeface="Calibri"/>
                          <a:cs typeface="Calibri"/>
                        </a:rPr>
                        <a:t>75.8098%</a:t>
                      </a:r>
                    </a:p>
                  </a:txBody>
                  <a:tcPr marL="114300" marR="95250" marT="66675" marB="47625" anchor="ctr">
                    <a:solidFill>
                      <a:srgbClr val="FFFFFF"/>
                    </a:solidFill>
                  </a:tcPr>
                </a:tc>
                <a:extLst>
                  <a:ext uri="{0D108BD9-81ED-4DB2-BD59-A6C34878D82A}">
                    <a16:rowId xmlns:a16="http://schemas.microsoft.com/office/drawing/2014/main" val="10001"/>
                  </a:ext>
                </a:extLst>
              </a:tr>
              <a:tr h="628650">
                <a:tc>
                  <a:txBody>
                    <a:bodyPr/>
                    <a:lstStyle/>
                    <a:p>
                      <a:r>
                        <a:rPr sz="1950" b="0" dirty="0">
                          <a:solidFill>
                            <a:srgbClr val="111111"/>
                          </a:solidFill>
                          <a:latin typeface="Calibri"/>
                          <a:ea typeface="Calibri"/>
                          <a:cs typeface="Calibri"/>
                        </a:rPr>
                        <a:t>FSDR + RACE auxiliary only</a:t>
                      </a:r>
                    </a:p>
                  </a:txBody>
                  <a:tcPr marL="114300" marR="95250" marT="66675" marB="47625" anchor="ctr">
                    <a:solidFill>
                      <a:srgbClr val="F3F3F3"/>
                    </a:solidFill>
                  </a:tcPr>
                </a:tc>
                <a:tc>
                  <a:txBody>
                    <a:bodyPr/>
                    <a:lstStyle/>
                    <a:p>
                      <a:r>
                        <a:rPr sz="1950" b="0">
                          <a:solidFill>
                            <a:srgbClr val="111111"/>
                          </a:solidFill>
                          <a:latin typeface="Calibri"/>
                          <a:ea typeface="Calibri"/>
                          <a:cs typeface="Calibri"/>
                        </a:rPr>
                        <a:t>72.7506%</a:t>
                      </a:r>
                    </a:p>
                  </a:txBody>
                  <a:tcPr marL="114300" marR="95250" marT="66675" marB="47625" anchor="ctr">
                    <a:solidFill>
                      <a:srgbClr val="F3F3F3"/>
                    </a:solidFill>
                  </a:tcPr>
                </a:tc>
                <a:tc>
                  <a:txBody>
                    <a:bodyPr/>
                    <a:lstStyle/>
                    <a:p>
                      <a:r>
                        <a:rPr sz="1950" b="0" dirty="0">
                          <a:solidFill>
                            <a:srgbClr val="111111"/>
                          </a:solidFill>
                          <a:latin typeface="Calibri"/>
                          <a:ea typeface="Calibri"/>
                          <a:cs typeface="Calibri"/>
                        </a:rPr>
                        <a:t>76.0013%</a:t>
                      </a:r>
                    </a:p>
                  </a:txBody>
                  <a:tcPr marL="114300" marR="95250" marT="66675" marB="47625" anchor="ctr">
                    <a:solidFill>
                      <a:srgbClr val="F3F3F3"/>
                    </a:solidFill>
                  </a:tcPr>
                </a:tc>
                <a:extLst>
                  <a:ext uri="{0D108BD9-81ED-4DB2-BD59-A6C34878D82A}">
                    <a16:rowId xmlns:a16="http://schemas.microsoft.com/office/drawing/2014/main" val="10002"/>
                  </a:ext>
                </a:extLst>
              </a:tr>
              <a:tr h="628650">
                <a:tc>
                  <a:txBody>
                    <a:bodyPr/>
                    <a:lstStyle/>
                    <a:p>
                      <a:r>
                        <a:rPr sz="1950" b="0" dirty="0">
                          <a:solidFill>
                            <a:srgbClr val="111111"/>
                          </a:solidFill>
                          <a:latin typeface="Calibri"/>
                          <a:ea typeface="Calibri"/>
                          <a:cs typeface="Calibri"/>
                        </a:rPr>
                        <a:t>FSDR + full RACE</a:t>
                      </a:r>
                    </a:p>
                  </a:txBody>
                  <a:tcPr marL="114300" marR="95250" marT="66675" marB="47625" anchor="ctr">
                    <a:solidFill>
                      <a:srgbClr val="FFFFFF"/>
                    </a:solidFill>
                  </a:tcPr>
                </a:tc>
                <a:tc>
                  <a:txBody>
                    <a:bodyPr/>
                    <a:lstStyle/>
                    <a:p>
                      <a:r>
                        <a:rPr sz="1950" b="0">
                          <a:solidFill>
                            <a:srgbClr val="111111"/>
                          </a:solidFill>
                          <a:latin typeface="Calibri"/>
                          <a:ea typeface="Calibri"/>
                          <a:cs typeface="Calibri"/>
                        </a:rPr>
                        <a:t>72.8115%</a:t>
                      </a:r>
                    </a:p>
                  </a:txBody>
                  <a:tcPr marL="114300" marR="95250" marT="66675" marB="47625" anchor="ctr">
                    <a:solidFill>
                      <a:srgbClr val="FFFFFF"/>
                    </a:solidFill>
                  </a:tcPr>
                </a:tc>
                <a:tc>
                  <a:txBody>
                    <a:bodyPr/>
                    <a:lstStyle/>
                    <a:p>
                      <a:r>
                        <a:rPr sz="1950" b="0" dirty="0">
                          <a:solidFill>
                            <a:srgbClr val="111111"/>
                          </a:solidFill>
                          <a:latin typeface="Calibri"/>
                          <a:ea typeface="Calibri"/>
                          <a:cs typeface="Calibri"/>
                        </a:rPr>
                        <a:t>76.2485%</a:t>
                      </a:r>
                    </a:p>
                  </a:txBody>
                  <a:tcPr marL="114300" marR="95250" marT="66675" marB="47625" anchor="ctr">
                    <a:solidFill>
                      <a:srgbClr val="FFFFFF"/>
                    </a:solidFill>
                  </a:tcPr>
                </a:tc>
                <a:extLst>
                  <a:ext uri="{0D108BD9-81ED-4DB2-BD59-A6C34878D82A}">
                    <a16:rowId xmlns:a16="http://schemas.microsoft.com/office/drawing/2014/main" val="10003"/>
                  </a:ext>
                </a:extLst>
              </a:tr>
            </a:tbl>
          </a:graphicData>
        </a:graphic>
      </p:graphicFrame>
      <p:sp>
        <p:nvSpPr>
          <p:cNvPr id="4" name="Validation: full RACE gains +0.1462 pp; its 95% in">
            <a:extLst>
              <a:ext uri="{FF2B5EF4-FFF2-40B4-BE49-F238E27FC236}">
                <a16:creationId xmlns:a16="http://schemas.microsoft.com/office/drawing/2014/main" id="{440C00F6-693B-4ECC-815A-3F93DD69E577}"/>
              </a:ext>
            </a:extLst>
          </p:cNvPr>
          <p:cNvSpPr>
            <a:spLocks noGrp="1"/>
          </p:cNvSpPr>
          <p:nvPr/>
        </p:nvSpPr>
        <p:spPr>
          <a:xfrm>
            <a:off x="638175" y="4448175"/>
            <a:ext cx="10915650" cy="762000"/>
          </a:xfrm>
          <a:prstGeom prst="rect">
            <a:avLst/>
          </a:prstGeom>
          <a:noFill/>
          <a:ln w="0">
            <a:noFill/>
          </a:ln>
        </p:spPr>
        <p:txBody>
          <a:bodyPr wrap="square" lIns="0" tIns="0" rIns="0" bIns="0" anchor="t">
            <a:noAutofit/>
          </a:bodyPr>
          <a:lstStyle/>
          <a:p>
            <a:pPr algn="l">
              <a:buNone/>
              <a:defRPr sz="2025" b="1">
                <a:solidFill>
                  <a:srgbClr val="111111"/>
                </a:solidFill>
                <a:latin typeface="Calibri"/>
                <a:ea typeface="Calibri"/>
                <a:cs typeface="Calibri"/>
              </a:defRPr>
            </a:pPr>
            <a:r>
              <a:rPr sz="2025" b="1">
                <a:solidFill>
                  <a:srgbClr val="111111"/>
                </a:solidFill>
                <a:latin typeface="Calibri"/>
                <a:ea typeface="Calibri"/>
                <a:cs typeface="Calibri"/>
              </a:rPr>
              <a:t>Validation: full RACE gains +0.1462 pp; its 95% interval crosses zero.</a:t>
            </a:r>
          </a:p>
          <a:p>
            <a:pPr algn="l">
              <a:buNone/>
              <a:defRPr sz="2025" b="1">
                <a:solidFill>
                  <a:srgbClr val="111111"/>
                </a:solidFill>
                <a:latin typeface="Calibri"/>
                <a:ea typeface="Calibri"/>
                <a:cs typeface="Calibri"/>
              </a:defRPr>
            </a:pPr>
            <a:r>
              <a:rPr sz="2025" b="1">
                <a:solidFill>
                  <a:srgbClr val="111111"/>
                </a:solidFill>
                <a:latin typeface="Calibri"/>
                <a:ea typeface="Calibri"/>
                <a:cs typeface="Calibri"/>
              </a:rPr>
              <a:t>The predeclared discovery criterion was not met.</a:t>
            </a:r>
          </a:p>
        </p:txBody>
      </p:sp>
      <p:sp>
        <p:nvSpPr>
          <p:cNvPr id="5" name="One training seed; image-level uncertainty; prior ">
            <a:extLst>
              <a:ext uri="{FF2B5EF4-FFF2-40B4-BE49-F238E27FC236}">
                <a16:creationId xmlns:a16="http://schemas.microsoft.com/office/drawing/2014/main" id="{F50746EC-B25B-49BC-9F67-648ABBB5ED5D}"/>
              </a:ext>
            </a:extLst>
          </p:cNvPr>
          <p:cNvSpPr>
            <a:spLocks noGrp="1"/>
          </p:cNvSpPr>
          <p:nvPr/>
        </p:nvSpPr>
        <p:spPr>
          <a:xfrm>
            <a:off x="638175" y="5486400"/>
            <a:ext cx="10915650" cy="752475"/>
          </a:xfrm>
          <a:prstGeom prst="rect">
            <a:avLst/>
          </a:prstGeom>
          <a:noFill/>
          <a:ln w="0">
            <a:noFill/>
          </a:ln>
        </p:spPr>
        <p:txBody>
          <a:bodyPr wrap="square" lIns="0" tIns="0" rIns="0" bIns="0" anchor="t">
            <a:noAutofit/>
          </a:bodyPr>
          <a:lstStyle/>
          <a:p>
            <a:pPr algn="l">
              <a:buNone/>
              <a:defRPr sz="1950" b="0">
                <a:solidFill>
                  <a:srgbClr val="606060"/>
                </a:solidFill>
                <a:latin typeface="Calibri"/>
                <a:ea typeface="Calibri"/>
                <a:cs typeface="Calibri"/>
              </a:defRPr>
            </a:pPr>
            <a:r>
              <a:rPr sz="1950" b="0">
                <a:solidFill>
                  <a:srgbClr val="606060"/>
                </a:solidFill>
                <a:latin typeface="Calibri"/>
                <a:ea typeface="Calibri"/>
                <a:cs typeface="Calibri"/>
              </a:rPr>
              <a:t>One training seed; image-level uncertainty; prior Test access.</a:t>
            </a:r>
          </a:p>
          <a:p>
            <a:pPr algn="l">
              <a:buNone/>
              <a:defRPr sz="1950" b="0">
                <a:solidFill>
                  <a:srgbClr val="606060"/>
                </a:solidFill>
                <a:latin typeface="Calibri"/>
                <a:ea typeface="Calibri"/>
                <a:cs typeface="Calibri"/>
              </a:defRPr>
            </a:pPr>
            <a:r>
              <a:rPr sz="1950" b="0">
                <a:solidFill>
                  <a:srgbClr val="606060"/>
                </a:solidFill>
                <a:latin typeface="Calibri"/>
                <a:ea typeface="Calibri"/>
                <a:cs typeface="Calibri"/>
              </a:rPr>
              <a:t>Thresholds and checkpoints were not changed using these Test results.</a:t>
            </a:r>
          </a:p>
        </p:txBody>
      </p:sp>
      <p:sp>
        <p:nvSpPr>
          <p:cNvPr id="6" name="Interpretation">
            <a:extLst>
              <a:ext uri="{FF2B5EF4-FFF2-40B4-BE49-F238E27FC236}">
                <a16:creationId xmlns:a16="http://schemas.microsoft.com/office/drawing/2014/main" id="{A61FDA5E-2E62-4B76-9583-3FBCE1AC13C1}"/>
              </a:ext>
            </a:extLst>
          </p:cNvPr>
          <p:cNvSpPr>
            <a:spLocks noGrp="1"/>
          </p:cNvSpPr>
          <p:nvPr/>
        </p:nvSpPr>
        <p:spPr>
          <a:xfrm>
            <a:off x="638175" y="6467475"/>
            <a:ext cx="9906000" cy="190500"/>
          </a:xfrm>
          <a:prstGeom prst="rect">
            <a:avLst/>
          </a:prstGeom>
          <a:noFill/>
          <a:ln w="0">
            <a:noFill/>
          </a:ln>
        </p:spPr>
        <p:txBody>
          <a:bodyPr wrap="square" lIns="0" tIns="0" rIns="0" bIns="0" anchor="t">
            <a:noAutofit/>
          </a:bodyPr>
          <a:lstStyle/>
          <a:p>
            <a:pPr algn="l">
              <a:buNone/>
              <a:defRPr sz="900" b="0">
                <a:solidFill>
                  <a:srgbClr val="999999"/>
                </a:solidFill>
                <a:latin typeface="Calibri"/>
                <a:ea typeface="Calibri"/>
                <a:cs typeface="Calibri"/>
              </a:defRPr>
            </a:pPr>
            <a:r>
              <a:rPr sz="900" b="0">
                <a:solidFill>
                  <a:srgbClr val="999999"/>
                </a:solidFill>
                <a:latin typeface="Calibri"/>
                <a:ea typeface="Calibri"/>
                <a:cs typeface="Calibri"/>
              </a:rPr>
              <a:t>Interpretation</a:t>
            </a:r>
          </a:p>
        </p:txBody>
      </p:sp>
      <p:sp>
        <p:nvSpPr>
          <p:cNvPr id="7" name="10">
            <a:extLst>
              <a:ext uri="{FF2B5EF4-FFF2-40B4-BE49-F238E27FC236}">
                <a16:creationId xmlns:a16="http://schemas.microsoft.com/office/drawing/2014/main" id="{83DFFC2F-A06E-45C3-BE07-3F465ADCA71B}"/>
              </a:ext>
            </a:extLst>
          </p:cNvPr>
          <p:cNvSpPr>
            <a:spLocks noGrp="1"/>
          </p:cNvSpPr>
          <p:nvPr/>
        </p:nvSpPr>
        <p:spPr>
          <a:xfrm>
            <a:off x="11144250" y="6467475"/>
            <a:ext cx="409575" cy="190500"/>
          </a:xfrm>
          <a:prstGeom prst="rect">
            <a:avLst/>
          </a:prstGeom>
          <a:noFill/>
          <a:ln w="0">
            <a:noFill/>
          </a:ln>
        </p:spPr>
        <p:txBody>
          <a:bodyPr wrap="square" lIns="0" tIns="0" rIns="0" bIns="0" anchor="t">
            <a:noAutofit/>
          </a:bodyPr>
          <a:lstStyle/>
          <a:p>
            <a:pPr algn="r">
              <a:buNone/>
              <a:defRPr sz="900" b="0">
                <a:solidFill>
                  <a:srgbClr val="999999"/>
                </a:solidFill>
                <a:latin typeface="Calibri"/>
                <a:ea typeface="Calibri"/>
                <a:cs typeface="Calibri"/>
              </a:defRPr>
            </a:pPr>
            <a:r>
              <a:rPr sz="900" b="0">
                <a:solidFill>
                  <a:srgbClr val="999999"/>
                </a:solidFill>
                <a:latin typeface="Calibri"/>
                <a:ea typeface="Calibri"/>
                <a:cs typeface="Calibri"/>
              </a:rPr>
              <a:t>10</a:t>
            </a:r>
          </a:p>
        </p:txBody>
      </p:sp>
    </p:spTree>
    <p:extLst>
      <p:ext uri="{BB962C8B-B14F-4D97-AF65-F5344CB8AC3E}">
        <p14:creationId xmlns:p14="http://schemas.microsoft.com/office/powerpoint/2010/main" val="17385357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7EA9472-EE5F-41A1-BB37-6D3E09363AC0}"/>
              </a:ext>
            </a:extLst>
          </p:cNvPr>
          <p:cNvSpPr>
            <a:spLocks noGrp="1"/>
          </p:cNvSpPr>
          <p:nvPr/>
        </p:nvSpPr>
        <p:spPr>
          <a:xfrm>
            <a:off x="640080" y="361950"/>
            <a:ext cx="10915650" cy="952500"/>
          </a:xfrm>
          <a:prstGeom prst="rect">
            <a:avLst/>
          </a:prstGeom>
          <a:noFill/>
        </p:spPr>
        <p:txBody>
          <a:bodyPr wrap="square" lIns="0" tIns="0" rIns="0" bIns="0" anchor="ctr">
            <a:noAutofit/>
          </a:bodyPr>
          <a:lstStyle/>
          <a:p>
            <a:pPr marL="0" indent="0">
              <a:buNone/>
              <a:defRPr sz="3000" b="1">
                <a:solidFill>
                  <a:srgbClr val="111111"/>
                </a:solidFill>
                <a:latin typeface="Cambria"/>
                <a:ea typeface="Cambria"/>
                <a:cs typeface="Cambria"/>
              </a:defRPr>
            </a:pPr>
            <a:r>
              <a:rPr sz="3000" b="1">
                <a:solidFill>
                  <a:srgbClr val="111111"/>
                </a:solidFill>
                <a:latin typeface="Cambria"/>
                <a:ea typeface="Cambria"/>
                <a:cs typeface="Cambria"/>
              </a:rPr>
              <a:t>Conclusions</a:t>
            </a:r>
            <a:endParaRPr sz="2800"/>
          </a:p>
        </p:txBody>
      </p:sp>
      <p:sp>
        <p:nvSpPr>
          <p:cNvPr id="3" name="FSDR">
            <a:extLst>
              <a:ext uri="{FF2B5EF4-FFF2-40B4-BE49-F238E27FC236}">
                <a16:creationId xmlns:a16="http://schemas.microsoft.com/office/drawing/2014/main" id="{BAE9F7B0-FD9B-4233-87E9-68AFD97127CA}"/>
              </a:ext>
            </a:extLst>
          </p:cNvPr>
          <p:cNvSpPr>
            <a:spLocks noGrp="1"/>
          </p:cNvSpPr>
          <p:nvPr/>
        </p:nvSpPr>
        <p:spPr>
          <a:xfrm>
            <a:off x="638175" y="1714500"/>
            <a:ext cx="2333625" cy="428625"/>
          </a:xfrm>
          <a:prstGeom prst="rect">
            <a:avLst/>
          </a:prstGeom>
          <a:noFill/>
          <a:ln w="0">
            <a:noFill/>
          </a:ln>
        </p:spPr>
        <p:txBody>
          <a:bodyPr wrap="square" lIns="0" tIns="0" rIns="0" bIns="0" anchor="t">
            <a:noAutofit/>
          </a:bodyPr>
          <a:lstStyle/>
          <a:p>
            <a:pPr algn="l">
              <a:buNone/>
              <a:defRPr sz="2175" b="1">
                <a:solidFill>
                  <a:srgbClr val="111111"/>
                </a:solidFill>
                <a:latin typeface="Calibri"/>
                <a:ea typeface="Calibri"/>
                <a:cs typeface="Calibri"/>
              </a:defRPr>
            </a:pPr>
            <a:r>
              <a:rPr sz="2175" b="1">
                <a:solidFill>
                  <a:srgbClr val="111111"/>
                </a:solidFill>
                <a:latin typeface="Calibri"/>
                <a:ea typeface="Calibri"/>
                <a:cs typeface="Calibri"/>
              </a:rPr>
              <a:t>FSDR</a:t>
            </a:r>
          </a:p>
        </p:txBody>
      </p:sp>
      <p:sp>
        <p:nvSpPr>
          <p:cNvPr id="4" name="Separate semantic and detail refinement improves L">
            <a:extLst>
              <a:ext uri="{FF2B5EF4-FFF2-40B4-BE49-F238E27FC236}">
                <a16:creationId xmlns:a16="http://schemas.microsoft.com/office/drawing/2014/main" id="{303BC94F-D084-4E69-92EF-FF72BB6B7B29}"/>
              </a:ext>
            </a:extLst>
          </p:cNvPr>
          <p:cNvSpPr>
            <a:spLocks noGrp="1"/>
          </p:cNvSpPr>
          <p:nvPr/>
        </p:nvSpPr>
        <p:spPr>
          <a:xfrm>
            <a:off x="3124200" y="1714500"/>
            <a:ext cx="8429625" cy="838200"/>
          </a:xfrm>
          <a:prstGeom prst="rect">
            <a:avLst/>
          </a:prstGeom>
          <a:noFill/>
          <a:ln w="0">
            <a:noFill/>
          </a:ln>
        </p:spPr>
        <p:txBody>
          <a:bodyPr wrap="square" lIns="0" tIns="0" rIns="0" bIns="0" anchor="t">
            <a:noAutofit/>
          </a:bodyPr>
          <a:lstStyle/>
          <a:p>
            <a:pPr algn="l">
              <a:buNone/>
              <a:defRPr sz="2025" b="0">
                <a:solidFill>
                  <a:srgbClr val="111111"/>
                </a:solidFill>
                <a:latin typeface="Calibri"/>
                <a:ea typeface="Calibri"/>
                <a:cs typeface="Calibri"/>
              </a:defRPr>
            </a:pPr>
            <a:r>
              <a:rPr sz="2025" b="0">
                <a:solidFill>
                  <a:srgbClr val="111111"/>
                </a:solidFill>
                <a:latin typeface="Calibri"/>
                <a:ea typeface="Calibri"/>
                <a:cs typeface="Calibri"/>
              </a:rPr>
              <a:t>Separate semantic and detail refinement improves LViT skip fusion</a:t>
            </a:r>
          </a:p>
          <a:p>
            <a:pPr algn="l">
              <a:buNone/>
              <a:defRPr sz="2025" b="0">
                <a:solidFill>
                  <a:srgbClr val="111111"/>
                </a:solidFill>
                <a:latin typeface="Calibri"/>
                <a:ea typeface="Calibri"/>
                <a:cs typeface="Calibri"/>
              </a:defRPr>
            </a:pPr>
            <a:r>
              <a:rPr sz="2025" b="0">
                <a:solidFill>
                  <a:srgbClr val="111111"/>
                </a:solidFill>
                <a:latin typeface="Calibri"/>
                <a:ea typeface="Calibri"/>
                <a:cs typeface="Calibri"/>
              </a:rPr>
              <a:t>in matched internal comparisons.</a:t>
            </a:r>
          </a:p>
        </p:txBody>
      </p:sp>
      <p:sp>
        <p:nvSpPr>
          <p:cNvPr id="5" name="RACE">
            <a:extLst>
              <a:ext uri="{FF2B5EF4-FFF2-40B4-BE49-F238E27FC236}">
                <a16:creationId xmlns:a16="http://schemas.microsoft.com/office/drawing/2014/main" id="{2DC72114-9C60-4EDC-A6C2-175B70B68E11}"/>
              </a:ext>
            </a:extLst>
          </p:cNvPr>
          <p:cNvSpPr>
            <a:spLocks noGrp="1"/>
          </p:cNvSpPr>
          <p:nvPr/>
        </p:nvSpPr>
        <p:spPr>
          <a:xfrm>
            <a:off x="638175" y="3038475"/>
            <a:ext cx="2333625" cy="428625"/>
          </a:xfrm>
          <a:prstGeom prst="rect">
            <a:avLst/>
          </a:prstGeom>
          <a:noFill/>
          <a:ln w="0">
            <a:noFill/>
          </a:ln>
        </p:spPr>
        <p:txBody>
          <a:bodyPr wrap="square" lIns="0" tIns="0" rIns="0" bIns="0" anchor="t">
            <a:noAutofit/>
          </a:bodyPr>
          <a:lstStyle/>
          <a:p>
            <a:pPr algn="l">
              <a:buNone/>
              <a:defRPr sz="2175" b="1">
                <a:solidFill>
                  <a:srgbClr val="111111"/>
                </a:solidFill>
                <a:latin typeface="Calibri"/>
                <a:ea typeface="Calibri"/>
                <a:cs typeface="Calibri"/>
              </a:defRPr>
            </a:pPr>
            <a:r>
              <a:rPr sz="2175" b="1">
                <a:solidFill>
                  <a:srgbClr val="111111"/>
                </a:solidFill>
                <a:latin typeface="Calibri"/>
                <a:ea typeface="Calibri"/>
                <a:cs typeface="Calibri"/>
              </a:rPr>
              <a:t>RACE</a:t>
            </a:r>
          </a:p>
        </p:txBody>
      </p:sp>
      <p:sp>
        <p:nvSpPr>
          <p:cNvPr id="6" name="Report–anatomy–visual agreement guides four CNN sk">
            <a:extLst>
              <a:ext uri="{FF2B5EF4-FFF2-40B4-BE49-F238E27FC236}">
                <a16:creationId xmlns:a16="http://schemas.microsoft.com/office/drawing/2014/main" id="{79FF013A-1D66-458E-92FC-05EE9D6FE773}"/>
              </a:ext>
            </a:extLst>
          </p:cNvPr>
          <p:cNvSpPr>
            <a:spLocks noGrp="1"/>
          </p:cNvSpPr>
          <p:nvPr/>
        </p:nvSpPr>
        <p:spPr>
          <a:xfrm>
            <a:off x="3124200" y="3038475"/>
            <a:ext cx="8429625" cy="838200"/>
          </a:xfrm>
          <a:prstGeom prst="rect">
            <a:avLst/>
          </a:prstGeom>
          <a:noFill/>
          <a:ln w="0">
            <a:noFill/>
          </a:ln>
        </p:spPr>
        <p:txBody>
          <a:bodyPr wrap="square" lIns="0" tIns="0" rIns="0" bIns="0" anchor="t">
            <a:noAutofit/>
          </a:bodyPr>
          <a:lstStyle/>
          <a:p>
            <a:pPr algn="l">
              <a:buNone/>
              <a:defRPr sz="2025" b="0">
                <a:solidFill>
                  <a:srgbClr val="111111"/>
                </a:solidFill>
                <a:latin typeface="Calibri"/>
                <a:ea typeface="Calibri"/>
                <a:cs typeface="Calibri"/>
              </a:defRPr>
            </a:pPr>
            <a:r>
              <a:rPr sz="2025" b="0">
                <a:solidFill>
                  <a:srgbClr val="111111"/>
                </a:solidFill>
                <a:latin typeface="Calibri"/>
                <a:ea typeface="Calibri"/>
                <a:cs typeface="Calibri"/>
              </a:rPr>
              <a:t>Report–anatomy–visual agreement guides four CNN skip routes</a:t>
            </a:r>
          </a:p>
          <a:p>
            <a:pPr algn="l">
              <a:buNone/>
              <a:defRPr sz="2025" b="0">
                <a:solidFill>
                  <a:srgbClr val="111111"/>
                </a:solidFill>
                <a:latin typeface="Calibri"/>
                <a:ea typeface="Calibri"/>
                <a:cs typeface="Calibri"/>
              </a:defRPr>
            </a:pPr>
            <a:r>
              <a:rPr sz="2025" b="0">
                <a:solidFill>
                  <a:srgbClr val="111111"/>
                </a:solidFill>
                <a:latin typeface="Calibri"/>
                <a:ea typeface="Calibri"/>
                <a:cs typeface="Calibri"/>
              </a:rPr>
              <a:t>before FSDR.</a:t>
            </a:r>
          </a:p>
        </p:txBody>
      </p:sp>
      <p:sp>
        <p:nvSpPr>
          <p:cNvPr id="7" name="Final result">
            <a:extLst>
              <a:ext uri="{FF2B5EF4-FFF2-40B4-BE49-F238E27FC236}">
                <a16:creationId xmlns:a16="http://schemas.microsoft.com/office/drawing/2014/main" id="{172602B1-E6D6-4AB6-8799-852BFC10B679}"/>
              </a:ext>
            </a:extLst>
          </p:cNvPr>
          <p:cNvSpPr>
            <a:spLocks noGrp="1"/>
          </p:cNvSpPr>
          <p:nvPr/>
        </p:nvSpPr>
        <p:spPr>
          <a:xfrm>
            <a:off x="638175" y="4362450"/>
            <a:ext cx="2333625" cy="428625"/>
          </a:xfrm>
          <a:prstGeom prst="rect">
            <a:avLst/>
          </a:prstGeom>
          <a:noFill/>
          <a:ln w="0">
            <a:noFill/>
          </a:ln>
        </p:spPr>
        <p:txBody>
          <a:bodyPr wrap="square" lIns="0" tIns="0" rIns="0" bIns="0" anchor="t">
            <a:noAutofit/>
          </a:bodyPr>
          <a:lstStyle/>
          <a:p>
            <a:pPr algn="l">
              <a:buNone/>
              <a:defRPr sz="2175" b="1">
                <a:solidFill>
                  <a:srgbClr val="111111"/>
                </a:solidFill>
                <a:latin typeface="Calibri"/>
                <a:ea typeface="Calibri"/>
                <a:cs typeface="Calibri"/>
              </a:defRPr>
            </a:pPr>
            <a:r>
              <a:rPr sz="2175" b="1">
                <a:solidFill>
                  <a:srgbClr val="111111"/>
                </a:solidFill>
                <a:latin typeface="Calibri"/>
                <a:ea typeface="Calibri"/>
                <a:cs typeface="Calibri"/>
              </a:rPr>
              <a:t>Final result</a:t>
            </a:r>
          </a:p>
        </p:txBody>
      </p:sp>
      <p:sp>
        <p:nvSpPr>
          <p:cNvPr id="8" name="FSDR + RACE: Test IoU 76.2485%, Dice 84.7097%.&#10;Gai">
            <a:extLst>
              <a:ext uri="{FF2B5EF4-FFF2-40B4-BE49-F238E27FC236}">
                <a16:creationId xmlns:a16="http://schemas.microsoft.com/office/drawing/2014/main" id="{B7C4DB42-D0FF-4CE7-9BF0-3710CA5833E4}"/>
              </a:ext>
            </a:extLst>
          </p:cNvPr>
          <p:cNvSpPr>
            <a:spLocks noGrp="1"/>
          </p:cNvSpPr>
          <p:nvPr/>
        </p:nvSpPr>
        <p:spPr>
          <a:xfrm>
            <a:off x="3124200" y="4362450"/>
            <a:ext cx="8429625" cy="838200"/>
          </a:xfrm>
          <a:prstGeom prst="rect">
            <a:avLst/>
          </a:prstGeom>
          <a:noFill/>
          <a:ln w="0">
            <a:noFill/>
          </a:ln>
        </p:spPr>
        <p:txBody>
          <a:bodyPr wrap="square" lIns="0" tIns="0" rIns="0" bIns="0" anchor="t">
            <a:noAutofit/>
          </a:bodyPr>
          <a:lstStyle/>
          <a:p>
            <a:pPr algn="l">
              <a:buNone/>
              <a:defRPr sz="2025" b="0">
                <a:solidFill>
                  <a:srgbClr val="111111"/>
                </a:solidFill>
                <a:latin typeface="Calibri"/>
                <a:ea typeface="Calibri"/>
                <a:cs typeface="Calibri"/>
              </a:defRPr>
            </a:pPr>
            <a:r>
              <a:rPr sz="2025" b="0">
                <a:solidFill>
                  <a:srgbClr val="111111"/>
                </a:solidFill>
                <a:latin typeface="Calibri"/>
                <a:ea typeface="Calibri"/>
                <a:cs typeface="Calibri"/>
              </a:rPr>
              <a:t>FSDR + RACE: Test IoU 76.2485%, Dice 84.7097%.</a:t>
            </a:r>
          </a:p>
          <a:p>
            <a:pPr algn="l">
              <a:buNone/>
              <a:defRPr sz="2025" b="0">
                <a:solidFill>
                  <a:srgbClr val="111111"/>
                </a:solidFill>
                <a:latin typeface="Calibri"/>
                <a:ea typeface="Calibri"/>
                <a:cs typeface="Calibri"/>
              </a:defRPr>
            </a:pPr>
            <a:r>
              <a:rPr sz="2025" b="0">
                <a:solidFill>
                  <a:srgbClr val="111111"/>
                </a:solidFill>
                <a:latin typeface="Calibri"/>
                <a:ea typeface="Calibri"/>
                <a:cs typeface="Calibri"/>
              </a:rPr>
              <a:t>Gain over the same-recipe FSDR control: +0.4387 pp IoU.</a:t>
            </a:r>
          </a:p>
        </p:txBody>
      </p:sp>
      <p:sp>
        <p:nvSpPr>
          <p:cNvPr id="9" name="Further validation: paired training seeds, route-s">
            <a:extLst>
              <a:ext uri="{FF2B5EF4-FFF2-40B4-BE49-F238E27FC236}">
                <a16:creationId xmlns:a16="http://schemas.microsoft.com/office/drawing/2014/main" id="{F4023C86-170C-4833-AE27-6CF7E4CCE857}"/>
              </a:ext>
            </a:extLst>
          </p:cNvPr>
          <p:cNvSpPr>
            <a:spLocks noGrp="1"/>
          </p:cNvSpPr>
          <p:nvPr/>
        </p:nvSpPr>
        <p:spPr>
          <a:xfrm>
            <a:off x="638175" y="5895975"/>
            <a:ext cx="10915650" cy="381000"/>
          </a:xfrm>
          <a:prstGeom prst="rect">
            <a:avLst/>
          </a:prstGeom>
          <a:noFill/>
          <a:ln w="0">
            <a:noFill/>
          </a:ln>
        </p:spPr>
        <p:txBody>
          <a:bodyPr wrap="square" lIns="0" tIns="0" rIns="0" bIns="0" anchor="t">
            <a:noAutofit/>
          </a:bodyPr>
          <a:lstStyle/>
          <a:p>
            <a:pPr algn="l">
              <a:buNone/>
              <a:defRPr sz="1800" b="0">
                <a:solidFill>
                  <a:srgbClr val="606060"/>
                </a:solidFill>
                <a:latin typeface="Calibri"/>
                <a:ea typeface="Calibri"/>
                <a:cs typeface="Calibri"/>
              </a:defRPr>
            </a:pPr>
            <a:r>
              <a:rPr sz="1800" b="0">
                <a:solidFill>
                  <a:srgbClr val="606060"/>
                </a:solidFill>
                <a:latin typeface="Calibri"/>
                <a:ea typeface="Calibri"/>
                <a:cs typeface="Calibri"/>
              </a:rPr>
              <a:t>Further validation: paired training seeds, route-specific controls and independent data.</a:t>
            </a:r>
          </a:p>
        </p:txBody>
      </p:sp>
      <p:sp>
        <p:nvSpPr>
          <p:cNvPr id="10" name="Conclusions">
            <a:extLst>
              <a:ext uri="{FF2B5EF4-FFF2-40B4-BE49-F238E27FC236}">
                <a16:creationId xmlns:a16="http://schemas.microsoft.com/office/drawing/2014/main" id="{6111F4BB-B1FE-44A0-BCF1-3AB1A05759C7}"/>
              </a:ext>
            </a:extLst>
          </p:cNvPr>
          <p:cNvSpPr>
            <a:spLocks noGrp="1"/>
          </p:cNvSpPr>
          <p:nvPr/>
        </p:nvSpPr>
        <p:spPr>
          <a:xfrm>
            <a:off x="638175" y="6467475"/>
            <a:ext cx="9906000" cy="190500"/>
          </a:xfrm>
          <a:prstGeom prst="rect">
            <a:avLst/>
          </a:prstGeom>
          <a:noFill/>
          <a:ln w="0">
            <a:noFill/>
          </a:ln>
        </p:spPr>
        <p:txBody>
          <a:bodyPr wrap="square" lIns="0" tIns="0" rIns="0" bIns="0" anchor="t">
            <a:noAutofit/>
          </a:bodyPr>
          <a:lstStyle/>
          <a:p>
            <a:pPr algn="l">
              <a:buNone/>
              <a:defRPr sz="900" b="0">
                <a:solidFill>
                  <a:srgbClr val="999999"/>
                </a:solidFill>
                <a:latin typeface="Calibri"/>
                <a:ea typeface="Calibri"/>
                <a:cs typeface="Calibri"/>
              </a:defRPr>
            </a:pPr>
            <a:r>
              <a:rPr sz="900" b="0">
                <a:solidFill>
                  <a:srgbClr val="999999"/>
                </a:solidFill>
                <a:latin typeface="Calibri"/>
                <a:ea typeface="Calibri"/>
                <a:cs typeface="Calibri"/>
              </a:rPr>
              <a:t>Conclusions</a:t>
            </a:r>
          </a:p>
        </p:txBody>
      </p:sp>
      <p:sp>
        <p:nvSpPr>
          <p:cNvPr id="11" name="11">
            <a:extLst>
              <a:ext uri="{FF2B5EF4-FFF2-40B4-BE49-F238E27FC236}">
                <a16:creationId xmlns:a16="http://schemas.microsoft.com/office/drawing/2014/main" id="{129DA8DB-CAD4-419D-BC6F-0342ABE51859}"/>
              </a:ext>
            </a:extLst>
          </p:cNvPr>
          <p:cNvSpPr>
            <a:spLocks noGrp="1"/>
          </p:cNvSpPr>
          <p:nvPr/>
        </p:nvSpPr>
        <p:spPr>
          <a:xfrm>
            <a:off x="11144250" y="6467475"/>
            <a:ext cx="409575" cy="190500"/>
          </a:xfrm>
          <a:prstGeom prst="rect">
            <a:avLst/>
          </a:prstGeom>
          <a:noFill/>
          <a:ln w="0">
            <a:noFill/>
          </a:ln>
        </p:spPr>
        <p:txBody>
          <a:bodyPr wrap="square" lIns="0" tIns="0" rIns="0" bIns="0" anchor="t">
            <a:noAutofit/>
          </a:bodyPr>
          <a:lstStyle/>
          <a:p>
            <a:pPr algn="r">
              <a:buNone/>
              <a:defRPr sz="900" b="0">
                <a:solidFill>
                  <a:srgbClr val="999999"/>
                </a:solidFill>
                <a:latin typeface="Calibri"/>
                <a:ea typeface="Calibri"/>
                <a:cs typeface="Calibri"/>
              </a:defRPr>
            </a:pPr>
            <a:r>
              <a:rPr sz="900" b="0">
                <a:solidFill>
                  <a:srgbClr val="999999"/>
                </a:solidFill>
                <a:latin typeface="Calibri"/>
                <a:ea typeface="Calibri"/>
                <a:cs typeface="Calibri"/>
              </a:rPr>
              <a:t>11</a:t>
            </a:r>
          </a:p>
        </p:txBody>
      </p:sp>
    </p:spTree>
    <p:extLst>
      <p:ext uri="{BB962C8B-B14F-4D97-AF65-F5344CB8AC3E}">
        <p14:creationId xmlns:p14="http://schemas.microsoft.com/office/powerpoint/2010/main" val="2467144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39952FFB-621F-4F4A-822B-574E85752AF7}"/>
              </a:ext>
            </a:extLst>
          </p:cNvPr>
          <p:cNvSpPr>
            <a:spLocks noGrp="1"/>
          </p:cNvSpPr>
          <p:nvPr/>
        </p:nvSpPr>
        <p:spPr>
          <a:xfrm>
            <a:off x="640080" y="2468880"/>
            <a:ext cx="10058400" cy="914400"/>
          </a:xfrm>
          <a:prstGeom prst="rect">
            <a:avLst/>
          </a:prstGeom>
          <a:noFill/>
        </p:spPr>
        <p:txBody>
          <a:bodyPr wrap="square" lIns="0" tIns="0" rIns="0" bIns="0" anchor="ctr"/>
          <a:lstStyle/>
          <a:p>
            <a:pPr marL="0" indent="0">
              <a:buNone/>
            </a:pPr>
            <a:r>
              <a:rPr sz="4200" b="1">
                <a:solidFill>
                  <a:srgbClr val="FFFFFF"/>
                </a:solidFill>
                <a:latin typeface="Cambria"/>
                <a:ea typeface="Cambria"/>
                <a:cs typeface="Cambria"/>
              </a:rPr>
              <a:t>Thank you</a:t>
            </a:r>
            <a:endParaRPr sz="4200"/>
          </a:p>
        </p:txBody>
      </p:sp>
      <p:sp>
        <p:nvSpPr>
          <p:cNvPr id="3" name="Text 1">
            <a:extLst>
              <a:ext uri="{FF2B5EF4-FFF2-40B4-BE49-F238E27FC236}">
                <a16:creationId xmlns:a16="http://schemas.microsoft.com/office/drawing/2014/main" id="{DA889A4C-F966-4B0E-BC38-BF4928C85913}"/>
              </a:ext>
            </a:extLst>
          </p:cNvPr>
          <p:cNvSpPr>
            <a:spLocks noGrp="1"/>
          </p:cNvSpPr>
          <p:nvPr/>
        </p:nvSpPr>
        <p:spPr>
          <a:xfrm>
            <a:off x="640080" y="3474720"/>
            <a:ext cx="10058400" cy="411480"/>
          </a:xfrm>
          <a:prstGeom prst="rect">
            <a:avLst/>
          </a:prstGeom>
          <a:noFill/>
        </p:spPr>
        <p:txBody>
          <a:bodyPr wrap="square" lIns="0" tIns="0" rIns="0" bIns="0" anchor="ctr"/>
          <a:lstStyle/>
          <a:p>
            <a:pPr marL="0" indent="0">
              <a:buNone/>
            </a:pPr>
            <a:r>
              <a:rPr sz="1600">
                <a:solidFill>
                  <a:srgbClr val="B8B8B8"/>
                </a:solidFill>
                <a:latin typeface="Calibri"/>
                <a:ea typeface="Calibri"/>
                <a:cs typeface="Calibri"/>
              </a:rPr>
              <a:t>Questions welcome. Backup material follows.</a:t>
            </a:r>
            <a:endParaRPr sz="1600"/>
          </a:p>
        </p:txBody>
      </p:sp>
      <p:sp>
        <p:nvSpPr>
          <p:cNvPr id="4" name="Text 2">
            <a:extLst>
              <a:ext uri="{FF2B5EF4-FFF2-40B4-BE49-F238E27FC236}">
                <a16:creationId xmlns:a16="http://schemas.microsoft.com/office/drawing/2014/main" id="{586FF9BE-58B4-41D2-A13C-EA73A6331790}"/>
              </a:ext>
            </a:extLst>
          </p:cNvPr>
          <p:cNvSpPr>
            <a:spLocks noGrp="1"/>
          </p:cNvSpPr>
          <p:nvPr/>
        </p:nvSpPr>
        <p:spPr>
          <a:xfrm>
            <a:off x="640080" y="5943600"/>
            <a:ext cx="10058400" cy="320040"/>
          </a:xfrm>
          <a:prstGeom prst="rect">
            <a:avLst/>
          </a:prstGeom>
          <a:noFill/>
        </p:spPr>
        <p:txBody>
          <a:bodyPr wrap="square" lIns="0" tIns="0" rIns="0" bIns="0" anchor="ctr"/>
          <a:lstStyle/>
          <a:p>
            <a:pPr marL="0" indent="0">
              <a:buNone/>
            </a:pPr>
            <a:r>
              <a:rPr sz="1200">
                <a:solidFill>
                  <a:srgbClr val="767676"/>
                </a:solidFill>
                <a:latin typeface="Calibri"/>
                <a:ea typeface="Calibri"/>
                <a:cs typeface="Calibri"/>
              </a:rPr>
              <a:t>Ruoheng (Ramos) Wang   ·   ELEC5223 Dissertation B   ·   Supervisor: Prof. Yonghui Li</a:t>
            </a:r>
            <a:endParaRPr sz="1200"/>
          </a:p>
        </p:txBody>
      </p:sp>
    </p:spTree>
    <p:extLst>
      <p:ext uri="{BB962C8B-B14F-4D97-AF65-F5344CB8AC3E}">
        <p14:creationId xmlns:p14="http://schemas.microsoft.com/office/powerpoint/2010/main" val="9501917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0E6B08CD-29EB-40DB-9B06-4A364AE68AF1}"/>
              </a:ext>
            </a:extLst>
          </p:cNvPr>
          <p:cNvSpPr>
            <a:spLocks noGrp="1"/>
          </p:cNvSpPr>
          <p:nvPr/>
        </p:nvSpPr>
        <p:spPr>
          <a:xfrm>
            <a:off x="640080" y="2743200"/>
            <a:ext cx="10058400" cy="822960"/>
          </a:xfrm>
          <a:prstGeom prst="rect">
            <a:avLst/>
          </a:prstGeom>
          <a:noFill/>
        </p:spPr>
        <p:txBody>
          <a:bodyPr wrap="square" lIns="0" tIns="0" rIns="0" bIns="0" anchor="ctr"/>
          <a:lstStyle/>
          <a:p>
            <a:pPr marL="0" indent="0">
              <a:buNone/>
            </a:pPr>
            <a:r>
              <a:rPr sz="3400" b="1">
                <a:solidFill>
                  <a:srgbClr val="FFFFFF"/>
                </a:solidFill>
                <a:latin typeface="Cambria"/>
                <a:ea typeface="Cambria"/>
                <a:cs typeface="Cambria"/>
              </a:rPr>
              <a:t>Backup slides</a:t>
            </a:r>
            <a:endParaRPr sz="3400"/>
          </a:p>
        </p:txBody>
      </p:sp>
      <p:sp>
        <p:nvSpPr>
          <p:cNvPr id="3" name="Text 1">
            <a:extLst>
              <a:ext uri="{FF2B5EF4-FFF2-40B4-BE49-F238E27FC236}">
                <a16:creationId xmlns:a16="http://schemas.microsoft.com/office/drawing/2014/main" id="{33ED6595-77E2-4AC4-B288-97108AD879EC}"/>
              </a:ext>
            </a:extLst>
          </p:cNvPr>
          <p:cNvSpPr>
            <a:spLocks noGrp="1"/>
          </p:cNvSpPr>
          <p:nvPr/>
        </p:nvSpPr>
        <p:spPr>
          <a:xfrm>
            <a:off x="640080" y="3611880"/>
            <a:ext cx="10058400" cy="365760"/>
          </a:xfrm>
          <a:prstGeom prst="rect">
            <a:avLst/>
          </a:prstGeom>
          <a:noFill/>
        </p:spPr>
        <p:txBody>
          <a:bodyPr wrap="square" lIns="0" tIns="0" rIns="0" bIns="0" anchor="ctr"/>
          <a:lstStyle/>
          <a:p>
            <a:pPr marL="0" indent="0">
              <a:buNone/>
              <a:defRPr sz="1800">
                <a:solidFill>
                  <a:srgbClr val="BEBEBE"/>
                </a:solidFill>
                <a:latin typeface="Calibri"/>
                <a:ea typeface="Calibri"/>
                <a:cs typeface="Calibri"/>
              </a:defRPr>
            </a:pPr>
            <a:r>
              <a:rPr sz="1800">
                <a:solidFill>
                  <a:srgbClr val="BEBEBE"/>
                </a:solidFill>
                <a:latin typeface="Calibri"/>
                <a:ea typeface="Calibri"/>
                <a:cs typeface="Calibri"/>
              </a:rPr>
              <a:t>Results, formulation, protocol and supporting evidence</a:t>
            </a:r>
            <a:endParaRPr sz="1500"/>
          </a:p>
        </p:txBody>
      </p:sp>
    </p:spTree>
    <p:extLst>
      <p:ext uri="{BB962C8B-B14F-4D97-AF65-F5344CB8AC3E}">
        <p14:creationId xmlns:p14="http://schemas.microsoft.com/office/powerpoint/2010/main" val="13796110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B82AB37-0822-49EE-845B-EDBFB94C64BD}"/>
              </a:ext>
            </a:extLst>
          </p:cNvPr>
          <p:cNvSpPr>
            <a:spLocks noGrp="1"/>
          </p:cNvSpPr>
          <p:nvPr/>
        </p:nvSpPr>
        <p:spPr>
          <a:xfrm>
            <a:off x="640080" y="361950"/>
            <a:ext cx="10382250" cy="952500"/>
          </a:xfrm>
          <a:prstGeom prst="rect">
            <a:avLst/>
          </a:prstGeom>
          <a:noFill/>
        </p:spPr>
        <p:txBody>
          <a:bodyPr wrap="square" lIns="0" tIns="0" rIns="0" bIns="0" anchor="ctr">
            <a:noAutofit/>
          </a:bodyPr>
          <a:lstStyle/>
          <a:p>
            <a:pPr marL="0" indent="0">
              <a:buNone/>
              <a:defRPr sz="3000" b="1">
                <a:solidFill>
                  <a:srgbClr val="111111"/>
                </a:solidFill>
                <a:latin typeface="Cambria"/>
                <a:ea typeface="Cambria"/>
                <a:cs typeface="Cambria"/>
              </a:defRPr>
            </a:pPr>
            <a:r>
              <a:rPr sz="3000" b="1">
                <a:solidFill>
                  <a:srgbClr val="111111"/>
                </a:solidFill>
                <a:latin typeface="Cambria"/>
                <a:ea typeface="Cambria"/>
                <a:cs typeface="Cambria"/>
              </a:rPr>
              <a:t>Selected completed formal fusion comparisons</a:t>
            </a:r>
            <a:endParaRPr sz="2800"/>
          </a:p>
        </p:txBody>
      </p:sp>
      <p:graphicFrame>
        <p:nvGraphicFramePr>
          <p:cNvPr id="14" name="表格 13"/>
          <p:cNvGraphicFramePr/>
          <p:nvPr/>
        </p:nvGraphicFramePr>
        <p:xfrm>
          <a:off x="638175" y="1552575"/>
          <a:ext cx="10915650" cy="4114800"/>
        </p:xfrm>
        <a:graphic>
          <a:graphicData uri="http://schemas.openxmlformats.org/drawingml/2006/table">
            <a:tbl>
              <a:tblPr/>
              <a:tblGrid>
                <a:gridCol w="3333750">
                  <a:extLst>
                    <a:ext uri="{9D8B030D-6E8A-4147-A177-3AD203B41FA5}">
                      <a16:colId xmlns:a16="http://schemas.microsoft.com/office/drawing/2014/main" val="20000"/>
                    </a:ext>
                  </a:extLst>
                </a:gridCol>
                <a:gridCol w="2190750">
                  <a:extLst>
                    <a:ext uri="{9D8B030D-6E8A-4147-A177-3AD203B41FA5}">
                      <a16:colId xmlns:a16="http://schemas.microsoft.com/office/drawing/2014/main" val="20001"/>
                    </a:ext>
                  </a:extLst>
                </a:gridCol>
                <a:gridCol w="1581150">
                  <a:extLst>
                    <a:ext uri="{9D8B030D-6E8A-4147-A177-3AD203B41FA5}">
                      <a16:colId xmlns:a16="http://schemas.microsoft.com/office/drawing/2014/main" val="20002"/>
                    </a:ext>
                  </a:extLst>
                </a:gridCol>
                <a:gridCol w="1905000">
                  <a:extLst>
                    <a:ext uri="{9D8B030D-6E8A-4147-A177-3AD203B41FA5}">
                      <a16:colId xmlns:a16="http://schemas.microsoft.com/office/drawing/2014/main" val="20003"/>
                    </a:ext>
                  </a:extLst>
                </a:gridCol>
                <a:gridCol w="1905000">
                  <a:extLst>
                    <a:ext uri="{9D8B030D-6E8A-4147-A177-3AD203B41FA5}">
                      <a16:colId xmlns:a16="http://schemas.microsoft.com/office/drawing/2014/main" val="20004"/>
                    </a:ext>
                  </a:extLst>
                </a:gridCol>
              </a:tblGrid>
              <a:tr h="457200">
                <a:tc>
                  <a:txBody>
                    <a:bodyPr/>
                    <a:lstStyle/>
                    <a:p>
                      <a:r>
                        <a:rPr sz="1650" b="1">
                          <a:solidFill>
                            <a:srgbClr val="FFFFFF"/>
                          </a:solidFill>
                          <a:latin typeface="Calibri"/>
                          <a:ea typeface="Calibri"/>
                          <a:cs typeface="Calibri"/>
                        </a:rPr>
                        <a:t>Text / fixed components</a:t>
                      </a:r>
                    </a:p>
                  </a:txBody>
                  <a:tcPr marL="114300" marR="95250" marT="66675" marB="47625" anchor="ctr">
                    <a:solidFill>
                      <a:srgbClr val="111111"/>
                    </a:solidFill>
                  </a:tcPr>
                </a:tc>
                <a:tc>
                  <a:txBody>
                    <a:bodyPr/>
                    <a:lstStyle/>
                    <a:p>
                      <a:r>
                        <a:rPr sz="1650" b="1">
                          <a:solidFill>
                            <a:srgbClr val="FFFFFF"/>
                          </a:solidFill>
                          <a:latin typeface="Calibri"/>
                          <a:ea typeface="Calibri"/>
                          <a:cs typeface="Calibri"/>
                        </a:rPr>
                        <a:t>Loss</a:t>
                      </a:r>
                    </a:p>
                  </a:txBody>
                  <a:tcPr marL="114300" marR="95250" marT="66675" marB="47625" anchor="ctr">
                    <a:solidFill>
                      <a:srgbClr val="111111"/>
                    </a:solidFill>
                  </a:tcPr>
                </a:tc>
                <a:tc>
                  <a:txBody>
                    <a:bodyPr/>
                    <a:lstStyle/>
                    <a:p>
                      <a:r>
                        <a:rPr sz="1650" b="1">
                          <a:solidFill>
                            <a:srgbClr val="FFFFFF"/>
                          </a:solidFill>
                          <a:latin typeface="Calibri"/>
                          <a:ea typeface="Calibri"/>
                          <a:cs typeface="Calibri"/>
                        </a:rPr>
                        <a:t>Fusion</a:t>
                      </a:r>
                    </a:p>
                  </a:txBody>
                  <a:tcPr marL="114300" marR="95250" marT="66675" marB="47625" anchor="ctr">
                    <a:solidFill>
                      <a:srgbClr val="111111"/>
                    </a:solidFill>
                  </a:tcPr>
                </a:tc>
                <a:tc>
                  <a:txBody>
                    <a:bodyPr/>
                    <a:lstStyle/>
                    <a:p>
                      <a:r>
                        <a:rPr sz="1650" b="1">
                          <a:solidFill>
                            <a:srgbClr val="FFFFFF"/>
                          </a:solidFill>
                          <a:latin typeface="Calibri"/>
                          <a:ea typeface="Calibri"/>
                          <a:cs typeface="Calibri"/>
                        </a:rPr>
                        <a:t>Dice</a:t>
                      </a:r>
                    </a:p>
                  </a:txBody>
                  <a:tcPr marL="114300" marR="95250" marT="66675" marB="47625" anchor="ctr">
                    <a:solidFill>
                      <a:srgbClr val="111111"/>
                    </a:solidFill>
                  </a:tcPr>
                </a:tc>
                <a:tc>
                  <a:txBody>
                    <a:bodyPr/>
                    <a:lstStyle/>
                    <a:p>
                      <a:r>
                        <a:rPr sz="1650" b="1">
                          <a:solidFill>
                            <a:srgbClr val="FFFFFF"/>
                          </a:solidFill>
                          <a:latin typeface="Calibri"/>
                          <a:ea typeface="Calibri"/>
                          <a:cs typeface="Calibri"/>
                        </a:rPr>
                        <a:t>IoU</a:t>
                      </a:r>
                    </a:p>
                  </a:txBody>
                  <a:tcPr marL="114300" marR="95250" marT="66675" marB="47625" anchor="ctr">
                    <a:solidFill>
                      <a:srgbClr val="111111"/>
                    </a:solidFill>
                  </a:tcPr>
                </a:tc>
                <a:extLst>
                  <a:ext uri="{0D108BD9-81ED-4DB2-BD59-A6C34878D82A}">
                    <a16:rowId xmlns:a16="http://schemas.microsoft.com/office/drawing/2014/main" val="10000"/>
                  </a:ext>
                </a:extLst>
              </a:tr>
              <a:tr h="457200">
                <a:tc>
                  <a:txBody>
                    <a:bodyPr/>
                    <a:lstStyle/>
                    <a:p>
                      <a:r>
                        <a:rPr sz="1650" b="0">
                          <a:solidFill>
                            <a:srgbClr val="111111"/>
                          </a:solidFill>
                          <a:latin typeface="Calibri"/>
                          <a:ea typeface="Calibri"/>
                          <a:cs typeface="Calibri"/>
                        </a:rPr>
                        <a:t>Frozen</a:t>
                      </a:r>
                    </a:p>
                  </a:txBody>
                  <a:tcPr marL="114300" marR="95250" marT="66675" marB="47625" anchor="ctr">
                    <a:solidFill>
                      <a:srgbClr val="FFFFFF"/>
                    </a:solidFill>
                  </a:tcPr>
                </a:tc>
                <a:tc>
                  <a:txBody>
                    <a:bodyPr/>
                    <a:lstStyle/>
                    <a:p>
                      <a:r>
                        <a:rPr sz="1650" b="0">
                          <a:solidFill>
                            <a:srgbClr val="111111"/>
                          </a:solidFill>
                          <a:latin typeface="Calibri"/>
                          <a:ea typeface="Calibri"/>
                          <a:cs typeface="Calibri"/>
                        </a:rPr>
                        <a:t>Dice/BCE</a:t>
                      </a:r>
                    </a:p>
                  </a:txBody>
                  <a:tcPr marL="114300" marR="95250" marT="66675" marB="47625" anchor="ctr">
                    <a:solidFill>
                      <a:srgbClr val="FFFFFF"/>
                    </a:solidFill>
                  </a:tcPr>
                </a:tc>
                <a:tc>
                  <a:txBody>
                    <a:bodyPr/>
                    <a:lstStyle/>
                    <a:p>
                      <a:r>
                        <a:rPr sz="1650" b="0">
                          <a:solidFill>
                            <a:srgbClr val="111111"/>
                          </a:solidFill>
                          <a:latin typeface="Calibri"/>
                          <a:ea typeface="Calibri"/>
                          <a:cs typeface="Calibri"/>
                        </a:rPr>
                        <a:t>PLAM</a:t>
                      </a:r>
                    </a:p>
                  </a:txBody>
                  <a:tcPr marL="114300" marR="95250" marT="66675" marB="47625" anchor="ctr">
                    <a:solidFill>
                      <a:srgbClr val="FFFFFF"/>
                    </a:solidFill>
                  </a:tcPr>
                </a:tc>
                <a:tc>
                  <a:txBody>
                    <a:bodyPr/>
                    <a:lstStyle/>
                    <a:p>
                      <a:r>
                        <a:rPr sz="1650" b="0">
                          <a:solidFill>
                            <a:srgbClr val="111111"/>
                          </a:solidFill>
                          <a:latin typeface="Calibri"/>
                          <a:ea typeface="Calibri"/>
                          <a:cs typeface="Calibri"/>
                        </a:rPr>
                        <a:t>83.527%</a:t>
                      </a:r>
                    </a:p>
                  </a:txBody>
                  <a:tcPr marL="114300" marR="95250" marT="66675" marB="47625" anchor="ctr">
                    <a:solidFill>
                      <a:srgbClr val="FFFFFF"/>
                    </a:solidFill>
                  </a:tcPr>
                </a:tc>
                <a:tc>
                  <a:txBody>
                    <a:bodyPr/>
                    <a:lstStyle/>
                    <a:p>
                      <a:r>
                        <a:rPr sz="1650" b="0">
                          <a:solidFill>
                            <a:srgbClr val="111111"/>
                          </a:solidFill>
                          <a:latin typeface="Calibri"/>
                          <a:ea typeface="Calibri"/>
                          <a:cs typeface="Calibri"/>
                        </a:rPr>
                        <a:t>74.808%</a:t>
                      </a:r>
                    </a:p>
                  </a:txBody>
                  <a:tcPr marL="114300" marR="95250" marT="66675" marB="47625" anchor="ctr">
                    <a:solidFill>
                      <a:srgbClr val="FFFFFF"/>
                    </a:solidFill>
                  </a:tcPr>
                </a:tc>
                <a:extLst>
                  <a:ext uri="{0D108BD9-81ED-4DB2-BD59-A6C34878D82A}">
                    <a16:rowId xmlns:a16="http://schemas.microsoft.com/office/drawing/2014/main" val="10001"/>
                  </a:ext>
                </a:extLst>
              </a:tr>
              <a:tr h="457200">
                <a:tc>
                  <a:txBody>
                    <a:bodyPr/>
                    <a:lstStyle/>
                    <a:p>
                      <a:r>
                        <a:rPr sz="1650" b="0">
                          <a:solidFill>
                            <a:srgbClr val="111111"/>
                          </a:solidFill>
                          <a:latin typeface="Calibri"/>
                          <a:ea typeface="Calibri"/>
                          <a:cs typeface="Calibri"/>
                        </a:rPr>
                        <a:t>LoRA</a:t>
                      </a:r>
                    </a:p>
                  </a:txBody>
                  <a:tcPr marL="114300" marR="95250" marT="66675" marB="47625" anchor="ctr">
                    <a:solidFill>
                      <a:srgbClr val="F3F3F3"/>
                    </a:solidFill>
                  </a:tcPr>
                </a:tc>
                <a:tc>
                  <a:txBody>
                    <a:bodyPr/>
                    <a:lstStyle/>
                    <a:p>
                      <a:r>
                        <a:rPr sz="1650" b="0">
                          <a:solidFill>
                            <a:srgbClr val="111111"/>
                          </a:solidFill>
                          <a:latin typeface="Calibri"/>
                          <a:ea typeface="Calibri"/>
                          <a:cs typeface="Calibri"/>
                        </a:rPr>
                        <a:t>Dice/BCE</a:t>
                      </a:r>
                    </a:p>
                  </a:txBody>
                  <a:tcPr marL="114300" marR="95250" marT="66675" marB="47625" anchor="ctr">
                    <a:solidFill>
                      <a:srgbClr val="F3F3F3"/>
                    </a:solidFill>
                  </a:tcPr>
                </a:tc>
                <a:tc>
                  <a:txBody>
                    <a:bodyPr/>
                    <a:lstStyle/>
                    <a:p>
                      <a:r>
                        <a:rPr sz="1650" b="0">
                          <a:solidFill>
                            <a:srgbClr val="111111"/>
                          </a:solidFill>
                          <a:latin typeface="Calibri"/>
                          <a:ea typeface="Calibri"/>
                          <a:cs typeface="Calibri"/>
                        </a:rPr>
                        <a:t>PLAM</a:t>
                      </a:r>
                    </a:p>
                  </a:txBody>
                  <a:tcPr marL="114300" marR="95250" marT="66675" marB="47625" anchor="ctr">
                    <a:solidFill>
                      <a:srgbClr val="F3F3F3"/>
                    </a:solidFill>
                  </a:tcPr>
                </a:tc>
                <a:tc>
                  <a:txBody>
                    <a:bodyPr/>
                    <a:lstStyle/>
                    <a:p>
                      <a:r>
                        <a:rPr sz="1650" b="0">
                          <a:solidFill>
                            <a:srgbClr val="111111"/>
                          </a:solidFill>
                          <a:latin typeface="Calibri"/>
                          <a:ea typeface="Calibri"/>
                          <a:cs typeface="Calibri"/>
                        </a:rPr>
                        <a:t>83.157%</a:t>
                      </a:r>
                    </a:p>
                  </a:txBody>
                  <a:tcPr marL="114300" marR="95250" marT="66675" marB="47625" anchor="ctr">
                    <a:solidFill>
                      <a:srgbClr val="F3F3F3"/>
                    </a:solidFill>
                  </a:tcPr>
                </a:tc>
                <a:tc>
                  <a:txBody>
                    <a:bodyPr/>
                    <a:lstStyle/>
                    <a:p>
                      <a:r>
                        <a:rPr sz="1650" b="0">
                          <a:solidFill>
                            <a:srgbClr val="111111"/>
                          </a:solidFill>
                          <a:latin typeface="Calibri"/>
                          <a:ea typeface="Calibri"/>
                          <a:cs typeface="Calibri"/>
                        </a:rPr>
                        <a:t>74.328%</a:t>
                      </a:r>
                    </a:p>
                  </a:txBody>
                  <a:tcPr marL="114300" marR="95250" marT="66675" marB="47625" anchor="ctr">
                    <a:solidFill>
                      <a:srgbClr val="F3F3F3"/>
                    </a:solidFill>
                  </a:tcPr>
                </a:tc>
                <a:extLst>
                  <a:ext uri="{0D108BD9-81ED-4DB2-BD59-A6C34878D82A}">
                    <a16:rowId xmlns:a16="http://schemas.microsoft.com/office/drawing/2014/main" val="10002"/>
                  </a:ext>
                </a:extLst>
              </a:tr>
              <a:tr h="457200">
                <a:tc>
                  <a:txBody>
                    <a:bodyPr/>
                    <a:lstStyle/>
                    <a:p>
                      <a:r>
                        <a:rPr sz="1650" b="0">
                          <a:solidFill>
                            <a:srgbClr val="111111"/>
                          </a:solidFill>
                          <a:latin typeface="Calibri"/>
                          <a:ea typeface="Calibri"/>
                          <a:cs typeface="Calibri"/>
                        </a:rPr>
                        <a:t>LoRA</a:t>
                      </a:r>
                    </a:p>
                  </a:txBody>
                  <a:tcPr marL="114300" marR="95250" marT="66675" marB="47625" anchor="ctr">
                    <a:solidFill>
                      <a:srgbClr val="FFFFFF"/>
                    </a:solidFill>
                  </a:tcPr>
                </a:tc>
                <a:tc>
                  <a:txBody>
                    <a:bodyPr/>
                    <a:lstStyle/>
                    <a:p>
                      <a:r>
                        <a:rPr sz="1650" b="0">
                          <a:solidFill>
                            <a:srgbClr val="111111"/>
                          </a:solidFill>
                          <a:latin typeface="Calibri"/>
                          <a:ea typeface="Calibri"/>
                          <a:cs typeface="Calibri"/>
                        </a:rPr>
                        <a:t>Dice/BCE</a:t>
                      </a:r>
                    </a:p>
                  </a:txBody>
                  <a:tcPr marL="114300" marR="95250" marT="66675" marB="47625" anchor="ctr">
                    <a:solidFill>
                      <a:srgbClr val="FFFFFF"/>
                    </a:solidFill>
                  </a:tcPr>
                </a:tc>
                <a:tc>
                  <a:txBody>
                    <a:bodyPr/>
                    <a:lstStyle/>
                    <a:p>
                      <a:r>
                        <a:rPr sz="1650" b="0">
                          <a:solidFill>
                            <a:srgbClr val="111111"/>
                          </a:solidFill>
                          <a:latin typeface="Calibri"/>
                          <a:ea typeface="Calibri"/>
                          <a:cs typeface="Calibri"/>
                        </a:rPr>
                        <a:t>FSDR</a:t>
                      </a:r>
                    </a:p>
                  </a:txBody>
                  <a:tcPr marL="114300" marR="95250" marT="66675" marB="47625" anchor="ctr">
                    <a:solidFill>
                      <a:srgbClr val="FFFFFF"/>
                    </a:solidFill>
                  </a:tcPr>
                </a:tc>
                <a:tc>
                  <a:txBody>
                    <a:bodyPr/>
                    <a:lstStyle/>
                    <a:p>
                      <a:r>
                        <a:rPr sz="1650" b="0">
                          <a:solidFill>
                            <a:srgbClr val="111111"/>
                          </a:solidFill>
                          <a:latin typeface="Calibri"/>
                          <a:ea typeface="Calibri"/>
                          <a:cs typeface="Calibri"/>
                        </a:rPr>
                        <a:t>84.410%</a:t>
                      </a:r>
                    </a:p>
                  </a:txBody>
                  <a:tcPr marL="114300" marR="95250" marT="66675" marB="47625" anchor="ctr">
                    <a:solidFill>
                      <a:srgbClr val="FFFFFF"/>
                    </a:solidFill>
                  </a:tcPr>
                </a:tc>
                <a:tc>
                  <a:txBody>
                    <a:bodyPr/>
                    <a:lstStyle/>
                    <a:p>
                      <a:r>
                        <a:rPr sz="1650" b="0">
                          <a:solidFill>
                            <a:srgbClr val="111111"/>
                          </a:solidFill>
                          <a:latin typeface="Calibri"/>
                          <a:ea typeface="Calibri"/>
                          <a:cs typeface="Calibri"/>
                        </a:rPr>
                        <a:t>75.790%</a:t>
                      </a:r>
                    </a:p>
                  </a:txBody>
                  <a:tcPr marL="114300" marR="95250" marT="66675" marB="47625" anchor="ctr">
                    <a:solidFill>
                      <a:srgbClr val="FFFFFF"/>
                    </a:solidFill>
                  </a:tcPr>
                </a:tc>
                <a:extLst>
                  <a:ext uri="{0D108BD9-81ED-4DB2-BD59-A6C34878D82A}">
                    <a16:rowId xmlns:a16="http://schemas.microsoft.com/office/drawing/2014/main" val="10003"/>
                  </a:ext>
                </a:extLst>
              </a:tr>
              <a:tr h="457200">
                <a:tc>
                  <a:txBody>
                    <a:bodyPr/>
                    <a:lstStyle/>
                    <a:p>
                      <a:r>
                        <a:rPr sz="1650" b="0">
                          <a:solidFill>
                            <a:srgbClr val="111111"/>
                          </a:solidFill>
                          <a:latin typeface="Calibri"/>
                          <a:ea typeface="Calibri"/>
                          <a:cs typeface="Calibri"/>
                        </a:rPr>
                        <a:t>LoRA</a:t>
                      </a:r>
                    </a:p>
                  </a:txBody>
                  <a:tcPr marL="114300" marR="95250" marT="66675" marB="47625" anchor="ctr">
                    <a:solidFill>
                      <a:srgbClr val="F3F3F3"/>
                    </a:solidFill>
                  </a:tcPr>
                </a:tc>
                <a:tc>
                  <a:txBody>
                    <a:bodyPr/>
                    <a:lstStyle/>
                    <a:p>
                      <a:r>
                        <a:rPr sz="1650" b="0">
                          <a:solidFill>
                            <a:srgbClr val="111111"/>
                          </a:solidFill>
                          <a:latin typeface="Calibri"/>
                          <a:ea typeface="Calibri"/>
                          <a:cs typeface="Calibri"/>
                        </a:rPr>
                        <a:t>Dice/Focal</a:t>
                      </a:r>
                    </a:p>
                  </a:txBody>
                  <a:tcPr marL="114300" marR="95250" marT="66675" marB="47625" anchor="ctr">
                    <a:solidFill>
                      <a:srgbClr val="F3F3F3"/>
                    </a:solidFill>
                  </a:tcPr>
                </a:tc>
                <a:tc>
                  <a:txBody>
                    <a:bodyPr/>
                    <a:lstStyle/>
                    <a:p>
                      <a:r>
                        <a:rPr sz="1650" b="0">
                          <a:solidFill>
                            <a:srgbClr val="111111"/>
                          </a:solidFill>
                          <a:latin typeface="Calibri"/>
                          <a:ea typeface="Calibri"/>
                          <a:cs typeface="Calibri"/>
                        </a:rPr>
                        <a:t>PLAM</a:t>
                      </a:r>
                    </a:p>
                  </a:txBody>
                  <a:tcPr marL="114300" marR="95250" marT="66675" marB="47625" anchor="ctr">
                    <a:solidFill>
                      <a:srgbClr val="F3F3F3"/>
                    </a:solidFill>
                  </a:tcPr>
                </a:tc>
                <a:tc>
                  <a:txBody>
                    <a:bodyPr/>
                    <a:lstStyle/>
                    <a:p>
                      <a:r>
                        <a:rPr sz="1650" b="0">
                          <a:solidFill>
                            <a:srgbClr val="111111"/>
                          </a:solidFill>
                          <a:latin typeface="Calibri"/>
                          <a:ea typeface="Calibri"/>
                          <a:cs typeface="Calibri"/>
                        </a:rPr>
                        <a:t>83.523%</a:t>
                      </a:r>
                    </a:p>
                  </a:txBody>
                  <a:tcPr marL="114300" marR="95250" marT="66675" marB="47625" anchor="ctr">
                    <a:solidFill>
                      <a:srgbClr val="F3F3F3"/>
                    </a:solidFill>
                  </a:tcPr>
                </a:tc>
                <a:tc>
                  <a:txBody>
                    <a:bodyPr/>
                    <a:lstStyle/>
                    <a:p>
                      <a:r>
                        <a:rPr sz="1650" b="0">
                          <a:solidFill>
                            <a:srgbClr val="111111"/>
                          </a:solidFill>
                          <a:latin typeface="Calibri"/>
                          <a:ea typeface="Calibri"/>
                          <a:cs typeface="Calibri"/>
                        </a:rPr>
                        <a:t>74.713%</a:t>
                      </a:r>
                    </a:p>
                  </a:txBody>
                  <a:tcPr marL="114300" marR="95250" marT="66675" marB="47625" anchor="ctr">
                    <a:solidFill>
                      <a:srgbClr val="F3F3F3"/>
                    </a:solidFill>
                  </a:tcPr>
                </a:tc>
                <a:extLst>
                  <a:ext uri="{0D108BD9-81ED-4DB2-BD59-A6C34878D82A}">
                    <a16:rowId xmlns:a16="http://schemas.microsoft.com/office/drawing/2014/main" val="10004"/>
                  </a:ext>
                </a:extLst>
              </a:tr>
              <a:tr h="457200">
                <a:tc>
                  <a:txBody>
                    <a:bodyPr/>
                    <a:lstStyle/>
                    <a:p>
                      <a:r>
                        <a:rPr sz="1650" b="0">
                          <a:solidFill>
                            <a:srgbClr val="111111"/>
                          </a:solidFill>
                          <a:latin typeface="Calibri"/>
                          <a:ea typeface="Calibri"/>
                          <a:cs typeface="Calibri"/>
                        </a:rPr>
                        <a:t>LoRA</a:t>
                      </a:r>
                    </a:p>
                  </a:txBody>
                  <a:tcPr marL="114300" marR="95250" marT="66675" marB="47625" anchor="ctr">
                    <a:solidFill>
                      <a:srgbClr val="FFFFFF"/>
                    </a:solidFill>
                  </a:tcPr>
                </a:tc>
                <a:tc>
                  <a:txBody>
                    <a:bodyPr/>
                    <a:lstStyle/>
                    <a:p>
                      <a:r>
                        <a:rPr sz="1650" b="0">
                          <a:solidFill>
                            <a:srgbClr val="111111"/>
                          </a:solidFill>
                          <a:latin typeface="Calibri"/>
                          <a:ea typeface="Calibri"/>
                          <a:cs typeface="Calibri"/>
                        </a:rPr>
                        <a:t>Dice/Focal</a:t>
                      </a:r>
                    </a:p>
                  </a:txBody>
                  <a:tcPr marL="114300" marR="95250" marT="66675" marB="47625" anchor="ctr">
                    <a:solidFill>
                      <a:srgbClr val="FFFFFF"/>
                    </a:solidFill>
                  </a:tcPr>
                </a:tc>
                <a:tc>
                  <a:txBody>
                    <a:bodyPr/>
                    <a:lstStyle/>
                    <a:p>
                      <a:r>
                        <a:rPr sz="1650" b="0">
                          <a:solidFill>
                            <a:srgbClr val="111111"/>
                          </a:solidFill>
                          <a:latin typeface="Calibri"/>
                          <a:ea typeface="Calibri"/>
                          <a:cs typeface="Calibri"/>
                        </a:rPr>
                        <a:t>FSDR</a:t>
                      </a:r>
                    </a:p>
                  </a:txBody>
                  <a:tcPr marL="114300" marR="95250" marT="66675" marB="47625" anchor="ctr">
                    <a:solidFill>
                      <a:srgbClr val="FFFFFF"/>
                    </a:solidFill>
                  </a:tcPr>
                </a:tc>
                <a:tc>
                  <a:txBody>
                    <a:bodyPr/>
                    <a:lstStyle/>
                    <a:p>
                      <a:r>
                        <a:rPr sz="1650" b="0">
                          <a:solidFill>
                            <a:srgbClr val="111111"/>
                          </a:solidFill>
                          <a:latin typeface="Calibri"/>
                          <a:ea typeface="Calibri"/>
                          <a:cs typeface="Calibri"/>
                        </a:rPr>
                        <a:t>84.493%</a:t>
                      </a:r>
                    </a:p>
                  </a:txBody>
                  <a:tcPr marL="114300" marR="95250" marT="66675" marB="47625" anchor="ctr">
                    <a:solidFill>
                      <a:srgbClr val="FFFFFF"/>
                    </a:solidFill>
                  </a:tcPr>
                </a:tc>
                <a:tc>
                  <a:txBody>
                    <a:bodyPr/>
                    <a:lstStyle/>
                    <a:p>
                      <a:r>
                        <a:rPr sz="1650" b="0">
                          <a:solidFill>
                            <a:srgbClr val="111111"/>
                          </a:solidFill>
                          <a:latin typeface="Calibri"/>
                          <a:ea typeface="Calibri"/>
                          <a:cs typeface="Calibri"/>
                        </a:rPr>
                        <a:t>75.991%</a:t>
                      </a:r>
                    </a:p>
                  </a:txBody>
                  <a:tcPr marL="114300" marR="95250" marT="66675" marB="47625" anchor="ctr">
                    <a:solidFill>
                      <a:srgbClr val="FFFFFF"/>
                    </a:solidFill>
                  </a:tcPr>
                </a:tc>
                <a:extLst>
                  <a:ext uri="{0D108BD9-81ED-4DB2-BD59-A6C34878D82A}">
                    <a16:rowId xmlns:a16="http://schemas.microsoft.com/office/drawing/2014/main" val="10005"/>
                  </a:ext>
                </a:extLst>
              </a:tr>
              <a:tr h="457200">
                <a:tc>
                  <a:txBody>
                    <a:bodyPr/>
                    <a:lstStyle/>
                    <a:p>
                      <a:r>
                        <a:rPr sz="1650" b="0">
                          <a:solidFill>
                            <a:srgbClr val="111111"/>
                          </a:solidFill>
                          <a:latin typeface="Calibri"/>
                          <a:ea typeface="Calibri"/>
                          <a:cs typeface="Calibri"/>
                        </a:rPr>
                        <a:t>Frozen + fixed router</a:t>
                      </a:r>
                    </a:p>
                  </a:txBody>
                  <a:tcPr marL="114300" marR="95250" marT="66675" marB="47625" anchor="ctr">
                    <a:solidFill>
                      <a:srgbClr val="F3F3F3"/>
                    </a:solidFill>
                  </a:tcPr>
                </a:tc>
                <a:tc>
                  <a:txBody>
                    <a:bodyPr/>
                    <a:lstStyle/>
                    <a:p>
                      <a:r>
                        <a:rPr sz="1650" b="0">
                          <a:solidFill>
                            <a:srgbClr val="111111"/>
                          </a:solidFill>
                          <a:latin typeface="Calibri"/>
                          <a:ea typeface="Calibri"/>
                          <a:cs typeface="Calibri"/>
                        </a:rPr>
                        <a:t>Dice/BCE</a:t>
                      </a:r>
                    </a:p>
                  </a:txBody>
                  <a:tcPr marL="114300" marR="95250" marT="66675" marB="47625" anchor="ctr">
                    <a:solidFill>
                      <a:srgbClr val="F3F3F3"/>
                    </a:solidFill>
                  </a:tcPr>
                </a:tc>
                <a:tc>
                  <a:txBody>
                    <a:bodyPr/>
                    <a:lstStyle/>
                    <a:p>
                      <a:r>
                        <a:rPr sz="1650" b="0">
                          <a:solidFill>
                            <a:srgbClr val="111111"/>
                          </a:solidFill>
                          <a:latin typeface="Calibri"/>
                          <a:ea typeface="Calibri"/>
                          <a:cs typeface="Calibri"/>
                        </a:rPr>
                        <a:t>PLAM</a:t>
                      </a:r>
                    </a:p>
                  </a:txBody>
                  <a:tcPr marL="114300" marR="95250" marT="66675" marB="47625" anchor="ctr">
                    <a:solidFill>
                      <a:srgbClr val="F3F3F3"/>
                    </a:solidFill>
                  </a:tcPr>
                </a:tc>
                <a:tc>
                  <a:txBody>
                    <a:bodyPr/>
                    <a:lstStyle/>
                    <a:p>
                      <a:r>
                        <a:rPr sz="1650" b="0">
                          <a:solidFill>
                            <a:srgbClr val="111111"/>
                          </a:solidFill>
                          <a:latin typeface="Calibri"/>
                          <a:ea typeface="Calibri"/>
                          <a:cs typeface="Calibri"/>
                        </a:rPr>
                        <a:t>83.481%</a:t>
                      </a:r>
                    </a:p>
                  </a:txBody>
                  <a:tcPr marL="114300" marR="95250" marT="66675" marB="47625" anchor="ctr">
                    <a:solidFill>
                      <a:srgbClr val="F3F3F3"/>
                    </a:solidFill>
                  </a:tcPr>
                </a:tc>
                <a:tc>
                  <a:txBody>
                    <a:bodyPr/>
                    <a:lstStyle/>
                    <a:p>
                      <a:r>
                        <a:rPr sz="1650" b="0">
                          <a:solidFill>
                            <a:srgbClr val="111111"/>
                          </a:solidFill>
                          <a:latin typeface="Calibri"/>
                          <a:ea typeface="Calibri"/>
                          <a:cs typeface="Calibri"/>
                        </a:rPr>
                        <a:t>74.739%</a:t>
                      </a:r>
                    </a:p>
                  </a:txBody>
                  <a:tcPr marL="114300" marR="95250" marT="66675" marB="47625" anchor="ctr">
                    <a:solidFill>
                      <a:srgbClr val="F3F3F3"/>
                    </a:solidFill>
                  </a:tcPr>
                </a:tc>
                <a:extLst>
                  <a:ext uri="{0D108BD9-81ED-4DB2-BD59-A6C34878D82A}">
                    <a16:rowId xmlns:a16="http://schemas.microsoft.com/office/drawing/2014/main" val="10006"/>
                  </a:ext>
                </a:extLst>
              </a:tr>
              <a:tr h="457200">
                <a:tc>
                  <a:txBody>
                    <a:bodyPr/>
                    <a:lstStyle/>
                    <a:p>
                      <a:r>
                        <a:rPr sz="1650" b="0">
                          <a:solidFill>
                            <a:srgbClr val="111111"/>
                          </a:solidFill>
                          <a:latin typeface="Calibri"/>
                          <a:ea typeface="Calibri"/>
                          <a:cs typeface="Calibri"/>
                        </a:rPr>
                        <a:t>Frozen + fixed router</a:t>
                      </a:r>
                    </a:p>
                  </a:txBody>
                  <a:tcPr marL="114300" marR="95250" marT="66675" marB="47625" anchor="ctr">
                    <a:solidFill>
                      <a:srgbClr val="FFFFFF"/>
                    </a:solidFill>
                  </a:tcPr>
                </a:tc>
                <a:tc>
                  <a:txBody>
                    <a:bodyPr/>
                    <a:lstStyle/>
                    <a:p>
                      <a:r>
                        <a:rPr sz="1650" b="0">
                          <a:solidFill>
                            <a:srgbClr val="111111"/>
                          </a:solidFill>
                          <a:latin typeface="Calibri"/>
                          <a:ea typeface="Calibri"/>
                          <a:cs typeface="Calibri"/>
                        </a:rPr>
                        <a:t>Dice/BCE</a:t>
                      </a:r>
                    </a:p>
                  </a:txBody>
                  <a:tcPr marL="114300" marR="95250" marT="66675" marB="47625" anchor="ctr">
                    <a:solidFill>
                      <a:srgbClr val="FFFFFF"/>
                    </a:solidFill>
                  </a:tcPr>
                </a:tc>
                <a:tc>
                  <a:txBody>
                    <a:bodyPr/>
                    <a:lstStyle/>
                    <a:p>
                      <a:r>
                        <a:rPr sz="1650" b="0">
                          <a:solidFill>
                            <a:srgbClr val="111111"/>
                          </a:solidFill>
                          <a:latin typeface="Calibri"/>
                          <a:ea typeface="Calibri"/>
                          <a:cs typeface="Calibri"/>
                        </a:rPr>
                        <a:t>FSDR</a:t>
                      </a:r>
                    </a:p>
                  </a:txBody>
                  <a:tcPr marL="114300" marR="95250" marT="66675" marB="47625" anchor="ctr">
                    <a:solidFill>
                      <a:srgbClr val="FFFFFF"/>
                    </a:solidFill>
                  </a:tcPr>
                </a:tc>
                <a:tc>
                  <a:txBody>
                    <a:bodyPr/>
                    <a:lstStyle/>
                    <a:p>
                      <a:r>
                        <a:rPr sz="1650" b="0">
                          <a:solidFill>
                            <a:srgbClr val="111111"/>
                          </a:solidFill>
                          <a:latin typeface="Calibri"/>
                          <a:ea typeface="Calibri"/>
                          <a:cs typeface="Calibri"/>
                        </a:rPr>
                        <a:t>84.321%</a:t>
                      </a:r>
                    </a:p>
                  </a:txBody>
                  <a:tcPr marL="114300" marR="95250" marT="66675" marB="47625" anchor="ctr">
                    <a:solidFill>
                      <a:srgbClr val="FFFFFF"/>
                    </a:solidFill>
                  </a:tcPr>
                </a:tc>
                <a:tc>
                  <a:txBody>
                    <a:bodyPr/>
                    <a:lstStyle/>
                    <a:p>
                      <a:r>
                        <a:rPr sz="1650" b="0">
                          <a:solidFill>
                            <a:srgbClr val="111111"/>
                          </a:solidFill>
                          <a:latin typeface="Calibri"/>
                          <a:ea typeface="Calibri"/>
                          <a:cs typeface="Calibri"/>
                        </a:rPr>
                        <a:t>75.721%</a:t>
                      </a:r>
                    </a:p>
                  </a:txBody>
                  <a:tcPr marL="114300" marR="95250" marT="66675" marB="47625" anchor="ctr">
                    <a:solidFill>
                      <a:srgbClr val="FFFFFF"/>
                    </a:solidFill>
                  </a:tcPr>
                </a:tc>
                <a:extLst>
                  <a:ext uri="{0D108BD9-81ED-4DB2-BD59-A6C34878D82A}">
                    <a16:rowId xmlns:a16="http://schemas.microsoft.com/office/drawing/2014/main" val="10007"/>
                  </a:ext>
                </a:extLst>
              </a:tr>
              <a:tr h="457200">
                <a:tc>
                  <a:txBody>
                    <a:bodyPr/>
                    <a:lstStyle/>
                    <a:p>
                      <a:r>
                        <a:rPr sz="1650" b="0">
                          <a:solidFill>
                            <a:srgbClr val="111111"/>
                          </a:solidFill>
                          <a:latin typeface="Calibri"/>
                          <a:ea typeface="Calibri"/>
                          <a:cs typeface="Calibri"/>
                        </a:rPr>
                        <a:t>Frozen</a:t>
                      </a:r>
                    </a:p>
                  </a:txBody>
                  <a:tcPr marL="114300" marR="95250" marT="66675" marB="47625" anchor="ctr">
                    <a:solidFill>
                      <a:srgbClr val="F3F3F3"/>
                    </a:solidFill>
                  </a:tcPr>
                </a:tc>
                <a:tc>
                  <a:txBody>
                    <a:bodyPr/>
                    <a:lstStyle/>
                    <a:p>
                      <a:r>
                        <a:rPr sz="1650" b="0">
                          <a:solidFill>
                            <a:srgbClr val="111111"/>
                          </a:solidFill>
                          <a:latin typeface="Calibri"/>
                          <a:ea typeface="Calibri"/>
                          <a:cs typeface="Calibri"/>
                        </a:rPr>
                        <a:t>Dice/Focal</a:t>
                      </a:r>
                    </a:p>
                  </a:txBody>
                  <a:tcPr marL="114300" marR="95250" marT="66675" marB="47625" anchor="ctr">
                    <a:solidFill>
                      <a:srgbClr val="F3F3F3"/>
                    </a:solidFill>
                  </a:tcPr>
                </a:tc>
                <a:tc>
                  <a:txBody>
                    <a:bodyPr/>
                    <a:lstStyle/>
                    <a:p>
                      <a:r>
                        <a:rPr sz="1650" b="0">
                          <a:solidFill>
                            <a:srgbClr val="111111"/>
                          </a:solidFill>
                          <a:latin typeface="Calibri"/>
                          <a:ea typeface="Calibri"/>
                          <a:cs typeface="Calibri"/>
                        </a:rPr>
                        <a:t>FSDR</a:t>
                      </a:r>
                    </a:p>
                  </a:txBody>
                  <a:tcPr marL="114300" marR="95250" marT="66675" marB="47625" anchor="ctr">
                    <a:solidFill>
                      <a:srgbClr val="F3F3F3"/>
                    </a:solidFill>
                  </a:tcPr>
                </a:tc>
                <a:tc>
                  <a:txBody>
                    <a:bodyPr/>
                    <a:lstStyle/>
                    <a:p>
                      <a:r>
                        <a:rPr sz="1650" b="0">
                          <a:solidFill>
                            <a:srgbClr val="111111"/>
                          </a:solidFill>
                          <a:latin typeface="Calibri"/>
                          <a:ea typeface="Calibri"/>
                          <a:cs typeface="Calibri"/>
                        </a:rPr>
                        <a:t>84.244%</a:t>
                      </a:r>
                    </a:p>
                  </a:txBody>
                  <a:tcPr marL="114300" marR="95250" marT="66675" marB="47625" anchor="ctr">
                    <a:solidFill>
                      <a:srgbClr val="F3F3F3"/>
                    </a:solidFill>
                  </a:tcPr>
                </a:tc>
                <a:tc>
                  <a:txBody>
                    <a:bodyPr/>
                    <a:lstStyle/>
                    <a:p>
                      <a:r>
                        <a:rPr sz="1650" b="0">
                          <a:solidFill>
                            <a:srgbClr val="111111"/>
                          </a:solidFill>
                          <a:latin typeface="Calibri"/>
                          <a:ea typeface="Calibri"/>
                          <a:cs typeface="Calibri"/>
                        </a:rPr>
                        <a:t>75.541%</a:t>
                      </a:r>
                    </a:p>
                  </a:txBody>
                  <a:tcPr marL="114300" marR="95250" marT="66675" marB="47625" anchor="ctr">
                    <a:solidFill>
                      <a:srgbClr val="F3F3F3"/>
                    </a:solidFill>
                  </a:tcPr>
                </a:tc>
                <a:extLst>
                  <a:ext uri="{0D108BD9-81ED-4DB2-BD59-A6C34878D82A}">
                    <a16:rowId xmlns:a16="http://schemas.microsoft.com/office/drawing/2014/main" val="10008"/>
                  </a:ext>
                </a:extLst>
              </a:tr>
            </a:tbl>
          </a:graphicData>
        </a:graphic>
      </p:graphicFrame>
      <p:sp>
        <p:nvSpPr>
          <p:cNvPr id="8" name="150 epochs · seed 1219 · 2,113 Test images · threshold 0.5 ·">
            <a:extLst>
              <a:ext uri="{FF2B5EF4-FFF2-40B4-BE49-F238E27FC236}">
                <a16:creationId xmlns:a16="http://schemas.microsoft.com/office/drawing/2014/main" id="{4B03E7BE-48C0-4976-9E15-E42897676E38}"/>
              </a:ext>
            </a:extLst>
          </p:cNvPr>
          <p:cNvSpPr>
            <a:spLocks noGrp="1"/>
          </p:cNvSpPr>
          <p:nvPr/>
        </p:nvSpPr>
        <p:spPr>
          <a:xfrm>
            <a:off x="638175" y="5924550"/>
            <a:ext cx="10915650" cy="381000"/>
          </a:xfrm>
          <a:prstGeom prst="rect">
            <a:avLst/>
          </a:prstGeom>
          <a:noFill/>
          <a:ln w="0">
            <a:noFill/>
          </a:ln>
        </p:spPr>
        <p:txBody>
          <a:bodyPr wrap="square" lIns="0" tIns="0" rIns="0" bIns="0" anchor="t">
            <a:noAutofit/>
          </a:bodyPr>
          <a:lstStyle/>
          <a:p>
            <a:pPr algn="l">
              <a:buNone/>
              <a:defRPr sz="1650" b="0">
                <a:solidFill>
                  <a:srgbClr val="606060"/>
                </a:solidFill>
                <a:latin typeface="Calibri"/>
                <a:ea typeface="Calibri"/>
                <a:cs typeface="Calibri"/>
              </a:defRPr>
            </a:pPr>
            <a:r>
              <a:rPr sz="1650" b="0">
                <a:solidFill>
                  <a:srgbClr val="606060"/>
                </a:solidFill>
                <a:latin typeface="Calibri"/>
                <a:ea typeface="Calibri"/>
                <a:cs typeface="Calibri"/>
              </a:rPr>
              <a:t>150 epochs · seed 1219 · 2,113 Test images · threshold 0.5 · per-image macro metrics</a:t>
            </a:r>
          </a:p>
        </p:txBody>
      </p:sp>
      <p:sp>
        <p:nvSpPr>
          <p:cNvPr id="10" name="Backup: fusion results">
            <a:extLst>
              <a:ext uri="{FF2B5EF4-FFF2-40B4-BE49-F238E27FC236}">
                <a16:creationId xmlns:a16="http://schemas.microsoft.com/office/drawing/2014/main" id="{F802D3DF-B136-4878-92E4-3CD5A45CEEBD}"/>
              </a:ext>
            </a:extLst>
          </p:cNvPr>
          <p:cNvSpPr>
            <a:spLocks noGrp="1"/>
          </p:cNvSpPr>
          <p:nvPr/>
        </p:nvSpPr>
        <p:spPr>
          <a:xfrm>
            <a:off x="638175" y="6467475"/>
            <a:ext cx="9906000" cy="190500"/>
          </a:xfrm>
          <a:prstGeom prst="rect">
            <a:avLst/>
          </a:prstGeom>
          <a:noFill/>
          <a:ln w="0">
            <a:noFill/>
          </a:ln>
        </p:spPr>
        <p:txBody>
          <a:bodyPr wrap="square" lIns="0" tIns="0" rIns="0" bIns="0" anchor="t">
            <a:noAutofit/>
          </a:bodyPr>
          <a:lstStyle/>
          <a:p>
            <a:pPr algn="l">
              <a:buNone/>
              <a:defRPr sz="900" b="0">
                <a:solidFill>
                  <a:srgbClr val="999999"/>
                </a:solidFill>
                <a:latin typeface="Calibri"/>
                <a:ea typeface="Calibri"/>
                <a:cs typeface="Calibri"/>
              </a:defRPr>
            </a:pPr>
            <a:r>
              <a:rPr sz="900" b="0">
                <a:solidFill>
                  <a:srgbClr val="999999"/>
                </a:solidFill>
                <a:latin typeface="Calibri"/>
                <a:ea typeface="Calibri"/>
                <a:cs typeface="Calibri"/>
              </a:rPr>
              <a:t>Backup: fusion results</a:t>
            </a:r>
          </a:p>
        </p:txBody>
      </p:sp>
      <p:sp>
        <p:nvSpPr>
          <p:cNvPr id="11" name="14">
            <a:extLst>
              <a:ext uri="{FF2B5EF4-FFF2-40B4-BE49-F238E27FC236}">
                <a16:creationId xmlns:a16="http://schemas.microsoft.com/office/drawing/2014/main" id="{55022F12-6790-44CA-8699-A6B1721F2F62}"/>
              </a:ext>
            </a:extLst>
          </p:cNvPr>
          <p:cNvSpPr>
            <a:spLocks noGrp="1"/>
          </p:cNvSpPr>
          <p:nvPr/>
        </p:nvSpPr>
        <p:spPr>
          <a:xfrm>
            <a:off x="11144250" y="6467475"/>
            <a:ext cx="409575" cy="190500"/>
          </a:xfrm>
          <a:prstGeom prst="rect">
            <a:avLst/>
          </a:prstGeom>
          <a:noFill/>
          <a:ln w="0">
            <a:noFill/>
          </a:ln>
        </p:spPr>
        <p:txBody>
          <a:bodyPr wrap="square" lIns="0" tIns="0" rIns="0" bIns="0" anchor="t">
            <a:noAutofit/>
          </a:bodyPr>
          <a:lstStyle/>
          <a:p>
            <a:pPr algn="r">
              <a:buNone/>
              <a:defRPr sz="900" b="0">
                <a:solidFill>
                  <a:srgbClr val="999999"/>
                </a:solidFill>
                <a:latin typeface="Calibri"/>
                <a:ea typeface="Calibri"/>
                <a:cs typeface="Calibri"/>
              </a:defRPr>
            </a:pPr>
            <a:r>
              <a:rPr sz="900" b="0">
                <a:solidFill>
                  <a:srgbClr val="999999"/>
                </a:solidFill>
                <a:latin typeface="Calibri"/>
                <a:ea typeface="Calibri"/>
                <a:cs typeface="Calibri"/>
              </a:rPr>
              <a:t>14</a:t>
            </a:r>
          </a:p>
        </p:txBody>
      </p:sp>
    </p:spTree>
    <p:extLst>
      <p:ext uri="{BB962C8B-B14F-4D97-AF65-F5344CB8AC3E}">
        <p14:creationId xmlns:p14="http://schemas.microsoft.com/office/powerpoint/2010/main" val="18970547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D8C1063-8352-4402-8360-1CE2C6E44091}"/>
              </a:ext>
            </a:extLst>
          </p:cNvPr>
          <p:cNvSpPr>
            <a:spLocks noGrp="1"/>
          </p:cNvSpPr>
          <p:nvPr/>
        </p:nvSpPr>
        <p:spPr>
          <a:xfrm>
            <a:off x="640080" y="361950"/>
            <a:ext cx="10382250" cy="952500"/>
          </a:xfrm>
          <a:prstGeom prst="rect">
            <a:avLst/>
          </a:prstGeom>
          <a:noFill/>
        </p:spPr>
        <p:txBody>
          <a:bodyPr wrap="square" lIns="0" tIns="0" rIns="0" bIns="0" anchor="ctr">
            <a:noAutofit/>
          </a:bodyPr>
          <a:lstStyle/>
          <a:p>
            <a:pPr marL="0" indent="0">
              <a:buNone/>
              <a:defRPr sz="3000" b="1">
                <a:solidFill>
                  <a:srgbClr val="111111"/>
                </a:solidFill>
                <a:latin typeface="Cambria"/>
                <a:ea typeface="Cambria"/>
                <a:cs typeface="Cambria"/>
              </a:defRPr>
            </a:pPr>
            <a:r>
              <a:rPr sz="3000" b="1">
                <a:solidFill>
                  <a:srgbClr val="111111"/>
                </a:solidFill>
                <a:latin typeface="Cambria"/>
                <a:ea typeface="Cambria"/>
                <a:cs typeface="Cambria"/>
              </a:rPr>
              <a:t>FSDR output and filter formulation</a:t>
            </a:r>
            <a:endParaRPr sz="2800"/>
          </a:p>
        </p:txBody>
      </p:sp>
      <p:sp>
        <p:nvSpPr>
          <p:cNvPr id="7" name="Box B3">
            <a:extLst>
              <a:ext uri="{FF2B5EF4-FFF2-40B4-BE49-F238E27FC236}">
                <a16:creationId xmlns:a16="http://schemas.microsoft.com/office/drawing/2014/main" id="{7773DC3A-8F27-4AF4-A5CA-B1473CDDCA0D}"/>
              </a:ext>
            </a:extLst>
          </p:cNvPr>
          <p:cNvSpPr>
            <a:spLocks noGrp="1"/>
          </p:cNvSpPr>
          <p:nvPr/>
        </p:nvSpPr>
        <p:spPr>
          <a:xfrm>
            <a:off x="10817352" y="457200"/>
            <a:ext cx="731520" cy="310896"/>
          </a:xfrm>
          <a:prstGeom prst="rect">
            <a:avLst/>
          </a:prstGeom>
          <a:solidFill>
            <a:srgbClr val="111111"/>
          </a:solidFill>
          <a:ln w="9525">
            <a:solidFill>
              <a:srgbClr val="D6D6D6"/>
            </a:solidFill>
          </a:ln>
        </p:spPr>
      </p:sp>
      <p:sp>
        <p:nvSpPr>
          <p:cNvPr id="8" name="B3">
            <a:extLst>
              <a:ext uri="{FF2B5EF4-FFF2-40B4-BE49-F238E27FC236}">
                <a16:creationId xmlns:a16="http://schemas.microsoft.com/office/drawing/2014/main" id="{037A6D1A-1A66-4628-A9C1-EB7C696A98C1}"/>
              </a:ext>
            </a:extLst>
          </p:cNvPr>
          <p:cNvSpPr>
            <a:spLocks noGrp="1"/>
          </p:cNvSpPr>
          <p:nvPr/>
        </p:nvSpPr>
        <p:spPr>
          <a:xfrm>
            <a:off x="10931652" y="542925"/>
            <a:ext cx="502920" cy="139446"/>
          </a:xfrm>
          <a:prstGeom prst="rect">
            <a:avLst/>
          </a:prstGeom>
          <a:noFill/>
          <a:ln w="0">
            <a:noFill/>
          </a:ln>
        </p:spPr>
        <p:txBody>
          <a:bodyPr wrap="square" lIns="0" tIns="0" rIns="0" bIns="0" anchor="ctr">
            <a:noAutofit/>
          </a:bodyPr>
          <a:lstStyle/>
          <a:p>
            <a:pPr algn="ctr">
              <a:buNone/>
              <a:defRPr sz="975" b="1">
                <a:solidFill>
                  <a:srgbClr val="FFFFFF"/>
                </a:solidFill>
                <a:latin typeface="Calibri"/>
                <a:ea typeface="Calibri"/>
                <a:cs typeface="Calibri"/>
              </a:defRPr>
            </a:pPr>
            <a:r>
              <a:rPr sz="975" b="1">
                <a:solidFill>
                  <a:srgbClr val="FFFFFF"/>
                </a:solidFill>
                <a:latin typeface="Calibri"/>
                <a:ea typeface="Calibri"/>
                <a:cs typeface="Calibri"/>
              </a:rPr>
              <a:t>FSDR</a:t>
            </a:r>
          </a:p>
        </p:txBody>
      </p:sp>
      <p:sp>
        <p:nvSpPr>
          <p:cNvPr id="9" name="Y = C + αp V low + R channel + αr R region + αd R ">
            <a:extLst>
              <a:ext uri="{FF2B5EF4-FFF2-40B4-BE49-F238E27FC236}">
                <a16:creationId xmlns:a16="http://schemas.microsoft.com/office/drawing/2014/main" id="{1D06AE48-AC06-4341-9A63-7B8696CC5C66}"/>
              </a:ext>
            </a:extLst>
          </p:cNvPr>
          <p:cNvSpPr>
            <a:spLocks noGrp="1"/>
          </p:cNvSpPr>
          <p:nvPr/>
        </p:nvSpPr>
        <p:spPr>
          <a:xfrm>
            <a:off x="638175" y="1638300"/>
            <a:ext cx="10915650" cy="609600"/>
          </a:xfrm>
          <a:prstGeom prst="rect">
            <a:avLst/>
          </a:prstGeom>
          <a:noFill/>
          <a:ln w="0">
            <a:noFill/>
          </a:ln>
        </p:spPr>
        <p:txBody>
          <a:bodyPr wrap="square" lIns="0" tIns="0" rIns="0" bIns="0" anchor="t">
            <a:noAutofit/>
          </a:bodyPr>
          <a:lstStyle/>
          <a:p>
            <a:pPr algn="l">
              <a:buNone/>
              <a:defRPr sz="2175" b="1">
                <a:solidFill>
                  <a:srgbClr val="111111"/>
                </a:solidFill>
                <a:latin typeface="Cambria"/>
                <a:ea typeface="Cambria"/>
                <a:cs typeface="Cambria"/>
              </a:defRPr>
            </a:pPr>
            <a:r>
              <a:rPr sz="2175" b="1">
                <a:solidFill>
                  <a:srgbClr val="111111"/>
                </a:solidFill>
                <a:latin typeface="Cambria"/>
                <a:ea typeface="Cambria"/>
                <a:cs typeface="Cambria"/>
              </a:rPr>
              <a:t>Y = C + αp V low + R channel + αr R region + αd R detail + R adaptive</a:t>
            </a:r>
          </a:p>
        </p:txBody>
      </p:sp>
      <p:graphicFrame>
        <p:nvGraphicFramePr>
          <p:cNvPr id="21" name="表格 20"/>
          <p:cNvGraphicFramePr/>
          <p:nvPr/>
        </p:nvGraphicFramePr>
        <p:xfrm>
          <a:off x="638175" y="2476500"/>
          <a:ext cx="10915650" cy="2743200"/>
        </p:xfrm>
        <a:graphic>
          <a:graphicData uri="http://schemas.openxmlformats.org/drawingml/2006/table">
            <a:tbl>
              <a:tblPr/>
              <a:tblGrid>
                <a:gridCol w="2619375">
                  <a:extLst>
                    <a:ext uri="{9D8B030D-6E8A-4147-A177-3AD203B41FA5}">
                      <a16:colId xmlns:a16="http://schemas.microsoft.com/office/drawing/2014/main" val="20000"/>
                    </a:ext>
                  </a:extLst>
                </a:gridCol>
                <a:gridCol w="8296275">
                  <a:extLst>
                    <a:ext uri="{9D8B030D-6E8A-4147-A177-3AD203B41FA5}">
                      <a16:colId xmlns:a16="http://schemas.microsoft.com/office/drawing/2014/main" val="20001"/>
                    </a:ext>
                  </a:extLst>
                </a:gridCol>
              </a:tblGrid>
              <a:tr h="548640">
                <a:tc>
                  <a:txBody>
                    <a:bodyPr/>
                    <a:lstStyle/>
                    <a:p>
                      <a:r>
                        <a:rPr sz="1575" b="1">
                          <a:solidFill>
                            <a:srgbClr val="FFFFFF"/>
                          </a:solidFill>
                          <a:latin typeface="Calibri"/>
                          <a:ea typeface="Calibri"/>
                          <a:cs typeface="Calibri"/>
                        </a:rPr>
                        <a:t>Term</a:t>
                      </a:r>
                    </a:p>
                  </a:txBody>
                  <a:tcPr marL="114300" marR="95250" marT="57150" marB="47625" anchor="ctr">
                    <a:solidFill>
                      <a:srgbClr val="111111"/>
                    </a:solidFill>
                  </a:tcPr>
                </a:tc>
                <a:tc>
                  <a:txBody>
                    <a:bodyPr/>
                    <a:lstStyle/>
                    <a:p>
                      <a:r>
                        <a:rPr sz="1575" b="1">
                          <a:solidFill>
                            <a:srgbClr val="FFFFFF"/>
                          </a:solidFill>
                          <a:latin typeface="Calibri"/>
                          <a:ea typeface="Calibri"/>
                          <a:cs typeface="Calibri"/>
                        </a:rPr>
                        <a:t>Implemented operation</a:t>
                      </a:r>
                    </a:p>
                  </a:txBody>
                  <a:tcPr marL="114300" marR="95250" marT="57150" marB="47625" anchor="ctr">
                    <a:solidFill>
                      <a:srgbClr val="111111"/>
                    </a:solidFill>
                  </a:tcPr>
                </a:tc>
                <a:extLst>
                  <a:ext uri="{0D108BD9-81ED-4DB2-BD59-A6C34878D82A}">
                    <a16:rowId xmlns:a16="http://schemas.microsoft.com/office/drawing/2014/main" val="10000"/>
                  </a:ext>
                </a:extLst>
              </a:tr>
              <a:tr h="548640">
                <a:tc>
                  <a:txBody>
                    <a:bodyPr/>
                    <a:lstStyle/>
                    <a:p>
                      <a:r>
                        <a:rPr sz="1575" b="0">
                          <a:solidFill>
                            <a:srgbClr val="111111"/>
                          </a:solidFill>
                          <a:latin typeface="Calibri"/>
                          <a:ea typeface="Calibri"/>
                          <a:cs typeface="Calibri"/>
                        </a:rPr>
                        <a:t>Channel correction</a:t>
                      </a:r>
                    </a:p>
                  </a:txBody>
                  <a:tcPr marL="114300" marR="95250" marT="57150" marB="47625" anchor="ctr">
                    <a:solidFill>
                      <a:srgbClr val="FFFFFF"/>
                    </a:solidFill>
                  </a:tcPr>
                </a:tc>
                <a:tc>
                  <a:txBody>
                    <a:bodyPr/>
                    <a:lstStyle/>
                    <a:p>
                      <a:r>
                        <a:rPr sz="1575" b="0">
                          <a:solidFill>
                            <a:srgbClr val="111111"/>
                          </a:solidFill>
                          <a:latin typeface="Calibri"/>
                          <a:ea typeface="Calibri"/>
                          <a:cs typeface="Calibri"/>
                        </a:rPr>
                        <a:t>R channel = C low × (g − 1),   g = 1 + 0.5 tanh(z)</a:t>
                      </a:r>
                    </a:p>
                  </a:txBody>
                  <a:tcPr marL="114300" marR="95250" marT="57150" marB="47625" anchor="ctr">
                    <a:solidFill>
                      <a:srgbClr val="FFFFFF"/>
                    </a:solidFill>
                  </a:tcPr>
                </a:tc>
                <a:extLst>
                  <a:ext uri="{0D108BD9-81ED-4DB2-BD59-A6C34878D82A}">
                    <a16:rowId xmlns:a16="http://schemas.microsoft.com/office/drawing/2014/main" val="10001"/>
                  </a:ext>
                </a:extLst>
              </a:tr>
              <a:tr h="548640">
                <a:tc>
                  <a:txBody>
                    <a:bodyPr/>
                    <a:lstStyle/>
                    <a:p>
                      <a:r>
                        <a:rPr sz="1575" b="0">
                          <a:solidFill>
                            <a:srgbClr val="111111"/>
                          </a:solidFill>
                          <a:latin typeface="Calibri"/>
                          <a:ea typeface="Calibri"/>
                          <a:cs typeface="Calibri"/>
                        </a:rPr>
                        <a:t>Detail residual</a:t>
                      </a:r>
                    </a:p>
                  </a:txBody>
                  <a:tcPr marL="114300" marR="95250" marT="57150" marB="47625" anchor="ctr">
                    <a:solidFill>
                      <a:srgbClr val="F3F3F3"/>
                    </a:solidFill>
                  </a:tcPr>
                </a:tc>
                <a:tc>
                  <a:txBody>
                    <a:bodyPr/>
                    <a:lstStyle/>
                    <a:p>
                      <a:r>
                        <a:rPr sz="1575" b="0">
                          <a:solidFill>
                            <a:srgbClr val="111111"/>
                          </a:solidFill>
                          <a:latin typeface="Calibri"/>
                          <a:ea typeface="Calibri"/>
                          <a:cs typeface="Calibri"/>
                        </a:rPr>
                        <a:t>R detail = C high × (0.5 + S) + refine(C high)</a:t>
                      </a:r>
                    </a:p>
                  </a:txBody>
                  <a:tcPr marL="114300" marR="95250" marT="57150" marB="47625" anchor="ctr">
                    <a:solidFill>
                      <a:srgbClr val="F3F3F3"/>
                    </a:solidFill>
                  </a:tcPr>
                </a:tc>
                <a:extLst>
                  <a:ext uri="{0D108BD9-81ED-4DB2-BD59-A6C34878D82A}">
                    <a16:rowId xmlns:a16="http://schemas.microsoft.com/office/drawing/2014/main" val="10002"/>
                  </a:ext>
                </a:extLst>
              </a:tr>
              <a:tr h="548640">
                <a:tc>
                  <a:txBody>
                    <a:bodyPr/>
                    <a:lstStyle/>
                    <a:p>
                      <a:r>
                        <a:rPr sz="1575" b="0">
                          <a:solidFill>
                            <a:srgbClr val="111111"/>
                          </a:solidFill>
                          <a:latin typeface="Calibri"/>
                          <a:ea typeface="Calibri"/>
                          <a:cs typeface="Calibri"/>
                        </a:rPr>
                        <a:t>Adaptive filter</a:t>
                      </a:r>
                    </a:p>
                  </a:txBody>
                  <a:tcPr marL="114300" marR="95250" marT="57150" marB="47625" anchor="ctr">
                    <a:solidFill>
                      <a:srgbClr val="FFFFFF"/>
                    </a:solidFill>
                  </a:tcPr>
                </a:tc>
                <a:tc>
                  <a:txBody>
                    <a:bodyPr/>
                    <a:lstStyle/>
                    <a:p>
                      <a:r>
                        <a:rPr sz="1575" b="0">
                          <a:solidFill>
                            <a:srgbClr val="111111"/>
                          </a:solidFill>
                          <a:latin typeface="Calibri"/>
                          <a:ea typeface="Calibri"/>
                          <a:cs typeface="Calibri"/>
                        </a:rPr>
                        <a:t>LP(X) = w0 X + w3 Blur3(X) + w5 Blur5(X)</a:t>
                      </a:r>
                    </a:p>
                  </a:txBody>
                  <a:tcPr marL="114300" marR="95250" marT="57150" marB="47625" anchor="ctr">
                    <a:solidFill>
                      <a:srgbClr val="FFFFFF"/>
                    </a:solidFill>
                  </a:tcPr>
                </a:tc>
                <a:extLst>
                  <a:ext uri="{0D108BD9-81ED-4DB2-BD59-A6C34878D82A}">
                    <a16:rowId xmlns:a16="http://schemas.microsoft.com/office/drawing/2014/main" val="10003"/>
                  </a:ext>
                </a:extLst>
              </a:tr>
              <a:tr h="548640">
                <a:tc>
                  <a:txBody>
                    <a:bodyPr/>
                    <a:lstStyle/>
                    <a:p>
                      <a:r>
                        <a:rPr sz="1575" b="0">
                          <a:solidFill>
                            <a:srgbClr val="111111"/>
                          </a:solidFill>
                          <a:latin typeface="Calibri"/>
                          <a:ea typeface="Calibri"/>
                          <a:cs typeface="Calibri"/>
                        </a:rPr>
                        <a:t>Decoder / skip refinement</a:t>
                      </a:r>
                    </a:p>
                  </a:txBody>
                  <a:tcPr marL="114300" marR="95250" marT="57150" marB="47625" anchor="ctr">
                    <a:solidFill>
                      <a:srgbClr val="F3F3F3"/>
                    </a:solidFill>
                  </a:tcPr>
                </a:tc>
                <a:tc>
                  <a:txBody>
                    <a:bodyPr/>
                    <a:lstStyle/>
                    <a:p>
                      <a:r>
                        <a:rPr sz="1575" b="0">
                          <a:solidFill>
                            <a:srgbClr val="111111"/>
                          </a:solidFill>
                          <a:latin typeface="Calibri"/>
                          <a:ea typeface="Calibri"/>
                          <a:cs typeface="Calibri"/>
                        </a:rPr>
                        <a:t>D′ = D + α [LP low(D) − D],   R adaptive = β [C − LP high(C)]</a:t>
                      </a:r>
                    </a:p>
                  </a:txBody>
                  <a:tcPr marL="114300" marR="95250" marT="57150" marB="47625" anchor="ctr">
                    <a:solidFill>
                      <a:srgbClr val="F3F3F3"/>
                    </a:solidFill>
                  </a:tcPr>
                </a:tc>
                <a:extLst>
                  <a:ext uri="{0D108BD9-81ED-4DB2-BD59-A6C34878D82A}">
                    <a16:rowId xmlns:a16="http://schemas.microsoft.com/office/drawing/2014/main" val="10004"/>
                  </a:ext>
                </a:extLst>
              </a:tr>
            </a:tbl>
          </a:graphicData>
        </a:graphic>
      </p:graphicFrame>
      <p:sp>
        <p:nvSpPr>
          <p:cNvPr id="11" name="C: CNN feature   V: ViT reconstruction   S: semant">
            <a:extLst>
              <a:ext uri="{FF2B5EF4-FFF2-40B4-BE49-F238E27FC236}">
                <a16:creationId xmlns:a16="http://schemas.microsoft.com/office/drawing/2014/main" id="{AC1ECB56-5D63-4327-845C-DFBA2CE4B84F}"/>
              </a:ext>
            </a:extLst>
          </p:cNvPr>
          <p:cNvSpPr>
            <a:spLocks noGrp="1"/>
          </p:cNvSpPr>
          <p:nvPr/>
        </p:nvSpPr>
        <p:spPr>
          <a:xfrm>
            <a:off x="638175" y="5476875"/>
            <a:ext cx="10915650" cy="400050"/>
          </a:xfrm>
          <a:prstGeom prst="rect">
            <a:avLst/>
          </a:prstGeom>
          <a:noFill/>
          <a:ln w="0">
            <a:noFill/>
          </a:ln>
        </p:spPr>
        <p:txBody>
          <a:bodyPr wrap="square" lIns="0" tIns="0" rIns="0" bIns="0" anchor="t">
            <a:noAutofit/>
          </a:bodyPr>
          <a:lstStyle/>
          <a:p>
            <a:pPr algn="l">
              <a:buNone/>
              <a:defRPr sz="1575" b="0">
                <a:solidFill>
                  <a:srgbClr val="606060"/>
                </a:solidFill>
                <a:latin typeface="Calibri"/>
                <a:ea typeface="Calibri"/>
                <a:cs typeface="Calibri"/>
              </a:defRPr>
            </a:pPr>
            <a:r>
              <a:rPr sz="1575" b="0">
                <a:solidFill>
                  <a:srgbClr val="606060"/>
                </a:solidFill>
                <a:latin typeface="Calibri"/>
                <a:ea typeface="Calibri"/>
                <a:cs typeface="Calibri"/>
              </a:rPr>
              <a:t>C: CNN feature   V: ViT reconstruction   S: semantic region support   D: upsampled decoder</a:t>
            </a:r>
          </a:p>
        </p:txBody>
      </p:sp>
      <p:sp>
        <p:nvSpPr>
          <p:cNvPr id="12" name="At up2 / up1: R adaptive = 0 and D′ = D. All stage">
            <a:extLst>
              <a:ext uri="{FF2B5EF4-FFF2-40B4-BE49-F238E27FC236}">
                <a16:creationId xmlns:a16="http://schemas.microsoft.com/office/drawing/2014/main" id="{5C9E1122-9C8A-465D-AA79-A27786A2AB50}"/>
              </a:ext>
            </a:extLst>
          </p:cNvPr>
          <p:cNvSpPr>
            <a:spLocks noGrp="1"/>
          </p:cNvSpPr>
          <p:nvPr/>
        </p:nvSpPr>
        <p:spPr>
          <a:xfrm>
            <a:off x="638175" y="5886450"/>
            <a:ext cx="10915650" cy="304800"/>
          </a:xfrm>
          <a:prstGeom prst="rect">
            <a:avLst/>
          </a:prstGeom>
          <a:noFill/>
          <a:ln w="0">
            <a:noFill/>
          </a:ln>
        </p:spPr>
        <p:txBody>
          <a:bodyPr wrap="square" lIns="0" tIns="0" rIns="0" bIns="0" anchor="t">
            <a:noAutofit/>
          </a:bodyPr>
          <a:lstStyle/>
          <a:p>
            <a:pPr algn="l">
              <a:buNone/>
              <a:defRPr sz="1575" b="0">
                <a:solidFill>
                  <a:srgbClr val="606060"/>
                </a:solidFill>
                <a:latin typeface="Calibri"/>
                <a:ea typeface="Calibri"/>
                <a:cs typeface="Calibri"/>
              </a:defRPr>
            </a:pPr>
            <a:r>
              <a:rPr sz="1575" b="0">
                <a:solidFill>
                  <a:srgbClr val="606060"/>
                </a:solidFill>
                <a:latin typeface="Calibri"/>
                <a:ea typeface="Calibri"/>
                <a:cs typeface="Calibri"/>
              </a:rPr>
              <a:t>At up2 / up1: R adaptive = 0 and D′ = D. All stages retain the base Haar branches.</a:t>
            </a:r>
          </a:p>
        </p:txBody>
      </p:sp>
      <p:sp>
        <p:nvSpPr>
          <p:cNvPr id="14" name="Backup: FSDR formulation">
            <a:extLst>
              <a:ext uri="{FF2B5EF4-FFF2-40B4-BE49-F238E27FC236}">
                <a16:creationId xmlns:a16="http://schemas.microsoft.com/office/drawing/2014/main" id="{287FC33C-DF03-4D15-9EB2-EE6BD426977D}"/>
              </a:ext>
            </a:extLst>
          </p:cNvPr>
          <p:cNvSpPr>
            <a:spLocks noGrp="1"/>
          </p:cNvSpPr>
          <p:nvPr/>
        </p:nvSpPr>
        <p:spPr>
          <a:xfrm>
            <a:off x="638175" y="6467475"/>
            <a:ext cx="9906000" cy="190500"/>
          </a:xfrm>
          <a:prstGeom prst="rect">
            <a:avLst/>
          </a:prstGeom>
          <a:noFill/>
          <a:ln w="0">
            <a:noFill/>
          </a:ln>
        </p:spPr>
        <p:txBody>
          <a:bodyPr wrap="square" lIns="0" tIns="0" rIns="0" bIns="0" anchor="t">
            <a:noAutofit/>
          </a:bodyPr>
          <a:lstStyle/>
          <a:p>
            <a:pPr algn="l">
              <a:buNone/>
              <a:defRPr sz="900" b="0">
                <a:solidFill>
                  <a:srgbClr val="999999"/>
                </a:solidFill>
                <a:latin typeface="Calibri"/>
                <a:ea typeface="Calibri"/>
                <a:cs typeface="Calibri"/>
              </a:defRPr>
            </a:pPr>
            <a:r>
              <a:rPr sz="900" b="0">
                <a:solidFill>
                  <a:srgbClr val="999999"/>
                </a:solidFill>
                <a:latin typeface="Calibri"/>
                <a:ea typeface="Calibri"/>
                <a:cs typeface="Calibri"/>
              </a:rPr>
              <a:t>Backup: FSDR formulation</a:t>
            </a:r>
          </a:p>
        </p:txBody>
      </p:sp>
      <p:sp>
        <p:nvSpPr>
          <p:cNvPr id="15" name="15">
            <a:extLst>
              <a:ext uri="{FF2B5EF4-FFF2-40B4-BE49-F238E27FC236}">
                <a16:creationId xmlns:a16="http://schemas.microsoft.com/office/drawing/2014/main" id="{58FEA7E9-8A67-454D-A2A3-CE6C6E5512C1}"/>
              </a:ext>
            </a:extLst>
          </p:cNvPr>
          <p:cNvSpPr>
            <a:spLocks noGrp="1"/>
          </p:cNvSpPr>
          <p:nvPr/>
        </p:nvSpPr>
        <p:spPr>
          <a:xfrm>
            <a:off x="11144250" y="6467475"/>
            <a:ext cx="409575" cy="190500"/>
          </a:xfrm>
          <a:prstGeom prst="rect">
            <a:avLst/>
          </a:prstGeom>
          <a:noFill/>
          <a:ln w="0">
            <a:noFill/>
          </a:ln>
        </p:spPr>
        <p:txBody>
          <a:bodyPr wrap="square" lIns="0" tIns="0" rIns="0" bIns="0" anchor="t">
            <a:noAutofit/>
          </a:bodyPr>
          <a:lstStyle/>
          <a:p>
            <a:pPr algn="r">
              <a:buNone/>
              <a:defRPr sz="900" b="0">
                <a:solidFill>
                  <a:srgbClr val="999999"/>
                </a:solidFill>
                <a:latin typeface="Calibri"/>
                <a:ea typeface="Calibri"/>
                <a:cs typeface="Calibri"/>
              </a:defRPr>
            </a:pPr>
            <a:r>
              <a:rPr sz="900" b="0">
                <a:solidFill>
                  <a:srgbClr val="999999"/>
                </a:solidFill>
                <a:latin typeface="Calibri"/>
                <a:ea typeface="Calibri"/>
                <a:cs typeface="Calibri"/>
              </a:rPr>
              <a:t>15</a:t>
            </a:r>
          </a:p>
        </p:txBody>
      </p:sp>
    </p:spTree>
    <p:extLst>
      <p:ext uri="{BB962C8B-B14F-4D97-AF65-F5344CB8AC3E}">
        <p14:creationId xmlns:p14="http://schemas.microsoft.com/office/powerpoint/2010/main" val="16044659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412CA95-E41E-447B-9212-5968826AE467}"/>
              </a:ext>
            </a:extLst>
          </p:cNvPr>
          <p:cNvSpPr>
            <a:spLocks noGrp="1"/>
          </p:cNvSpPr>
          <p:nvPr/>
        </p:nvSpPr>
        <p:spPr>
          <a:xfrm>
            <a:off x="640080" y="361950"/>
            <a:ext cx="10382250" cy="952500"/>
          </a:xfrm>
          <a:prstGeom prst="rect">
            <a:avLst/>
          </a:prstGeom>
          <a:noFill/>
        </p:spPr>
        <p:txBody>
          <a:bodyPr wrap="square" lIns="0" tIns="0" rIns="0" bIns="0" anchor="ctr">
            <a:noAutofit/>
          </a:bodyPr>
          <a:lstStyle/>
          <a:p>
            <a:pPr marL="0" indent="0">
              <a:buNone/>
              <a:defRPr sz="3000" b="1">
                <a:solidFill>
                  <a:srgbClr val="111111"/>
                </a:solidFill>
                <a:latin typeface="Cambria"/>
                <a:ea typeface="Cambria"/>
                <a:cs typeface="Cambria"/>
              </a:defRPr>
            </a:pPr>
            <a:r>
              <a:rPr sz="3000" b="1">
                <a:solidFill>
                  <a:srgbClr val="111111"/>
                </a:solidFill>
                <a:latin typeface="Cambria"/>
                <a:ea typeface="Cambria"/>
                <a:cs typeface="Cambria"/>
              </a:rPr>
              <a:t>Training recipe improvement with FSDR held fixed</a:t>
            </a:r>
            <a:endParaRPr sz="2800"/>
          </a:p>
        </p:txBody>
      </p:sp>
      <p:graphicFrame>
        <p:nvGraphicFramePr>
          <p:cNvPr id="15" name="表格 14"/>
          <p:cNvGraphicFramePr/>
          <p:nvPr/>
        </p:nvGraphicFramePr>
        <p:xfrm>
          <a:off x="638175" y="1704975"/>
          <a:ext cx="10915650" cy="3333750"/>
        </p:xfrm>
        <a:graphic>
          <a:graphicData uri="http://schemas.openxmlformats.org/drawingml/2006/table">
            <a:tbl>
              <a:tblPr/>
              <a:tblGrid>
                <a:gridCol w="2000250">
                  <a:extLst>
                    <a:ext uri="{9D8B030D-6E8A-4147-A177-3AD203B41FA5}">
                      <a16:colId xmlns:a16="http://schemas.microsoft.com/office/drawing/2014/main" val="20000"/>
                    </a:ext>
                  </a:extLst>
                </a:gridCol>
                <a:gridCol w="2971800">
                  <a:extLst>
                    <a:ext uri="{9D8B030D-6E8A-4147-A177-3AD203B41FA5}">
                      <a16:colId xmlns:a16="http://schemas.microsoft.com/office/drawing/2014/main" val="20001"/>
                    </a:ext>
                  </a:extLst>
                </a:gridCol>
                <a:gridCol w="3486150">
                  <a:extLst>
                    <a:ext uri="{9D8B030D-6E8A-4147-A177-3AD203B41FA5}">
                      <a16:colId xmlns:a16="http://schemas.microsoft.com/office/drawing/2014/main" val="20002"/>
                    </a:ext>
                  </a:extLst>
                </a:gridCol>
                <a:gridCol w="2457450">
                  <a:extLst>
                    <a:ext uri="{9D8B030D-6E8A-4147-A177-3AD203B41FA5}">
                      <a16:colId xmlns:a16="http://schemas.microsoft.com/office/drawing/2014/main" val="20003"/>
                    </a:ext>
                  </a:extLst>
                </a:gridCol>
              </a:tblGrid>
              <a:tr h="666750">
                <a:tc>
                  <a:txBody>
                    <a:bodyPr/>
                    <a:lstStyle/>
                    <a:p>
                      <a:r>
                        <a:rPr sz="1800" b="1">
                          <a:solidFill>
                            <a:srgbClr val="FFFFFF"/>
                          </a:solidFill>
                          <a:latin typeface="Calibri"/>
                          <a:ea typeface="Calibri"/>
                          <a:cs typeface="Calibri"/>
                        </a:rPr>
                        <a:t>Training seed</a:t>
                      </a:r>
                    </a:p>
                  </a:txBody>
                  <a:tcPr marL="114300" marR="95250" marT="66675" marB="47625" anchor="ctr">
                    <a:solidFill>
                      <a:srgbClr val="111111"/>
                    </a:solidFill>
                  </a:tcPr>
                </a:tc>
                <a:tc>
                  <a:txBody>
                    <a:bodyPr/>
                    <a:lstStyle/>
                    <a:p>
                      <a:r>
                        <a:rPr sz="1800" b="1">
                          <a:solidFill>
                            <a:srgbClr val="FFFFFF"/>
                          </a:solidFill>
                          <a:latin typeface="Calibri"/>
                          <a:ea typeface="Calibri"/>
                          <a:cs typeface="Calibri"/>
                        </a:rPr>
                        <a:t>Restart schedule IoU</a:t>
                      </a:r>
                    </a:p>
                  </a:txBody>
                  <a:tcPr marL="114300" marR="95250" marT="66675" marB="47625" anchor="ctr">
                    <a:solidFill>
                      <a:srgbClr val="111111"/>
                    </a:solidFill>
                  </a:tcPr>
                </a:tc>
                <a:tc>
                  <a:txBody>
                    <a:bodyPr/>
                    <a:lstStyle/>
                    <a:p>
                      <a:r>
                        <a:rPr sz="1800" b="1">
                          <a:solidFill>
                            <a:srgbClr val="FFFFFF"/>
                          </a:solidFill>
                          <a:latin typeface="Calibri"/>
                          <a:ea typeface="Calibri"/>
                          <a:cs typeface="Calibri"/>
                        </a:rPr>
                        <a:t>Single-decay schedule IoU</a:t>
                      </a:r>
                    </a:p>
                  </a:txBody>
                  <a:tcPr marL="114300" marR="95250" marT="66675" marB="47625" anchor="ctr">
                    <a:solidFill>
                      <a:srgbClr val="111111"/>
                    </a:solidFill>
                  </a:tcPr>
                </a:tc>
                <a:tc>
                  <a:txBody>
                    <a:bodyPr/>
                    <a:lstStyle/>
                    <a:p>
                      <a:r>
                        <a:rPr sz="1800" b="1">
                          <a:solidFill>
                            <a:srgbClr val="FFFFFF"/>
                          </a:solidFill>
                          <a:latin typeface="Calibri"/>
                          <a:ea typeface="Calibri"/>
                          <a:cs typeface="Calibri"/>
                        </a:rPr>
                        <a:t>Δ IoU (pp)</a:t>
                      </a:r>
                    </a:p>
                  </a:txBody>
                  <a:tcPr marL="114300" marR="95250" marT="66675" marB="47625" anchor="ctr">
                    <a:solidFill>
                      <a:srgbClr val="111111"/>
                    </a:solidFill>
                  </a:tcPr>
                </a:tc>
                <a:extLst>
                  <a:ext uri="{0D108BD9-81ED-4DB2-BD59-A6C34878D82A}">
                    <a16:rowId xmlns:a16="http://schemas.microsoft.com/office/drawing/2014/main" val="10000"/>
                  </a:ext>
                </a:extLst>
              </a:tr>
              <a:tr h="666750">
                <a:tc>
                  <a:txBody>
                    <a:bodyPr/>
                    <a:lstStyle/>
                    <a:p>
                      <a:r>
                        <a:rPr sz="1800" b="0">
                          <a:solidFill>
                            <a:srgbClr val="111111"/>
                          </a:solidFill>
                          <a:latin typeface="Calibri"/>
                          <a:ea typeface="Calibri"/>
                          <a:cs typeface="Calibri"/>
                        </a:rPr>
                        <a:t>1219</a:t>
                      </a:r>
                    </a:p>
                  </a:txBody>
                  <a:tcPr marL="114300" marR="95250" marT="66675" marB="47625" anchor="ctr">
                    <a:solidFill>
                      <a:srgbClr val="FFFFFF"/>
                    </a:solidFill>
                  </a:tcPr>
                </a:tc>
                <a:tc>
                  <a:txBody>
                    <a:bodyPr/>
                    <a:lstStyle/>
                    <a:p>
                      <a:r>
                        <a:rPr sz="1800" b="0">
                          <a:solidFill>
                            <a:srgbClr val="111111"/>
                          </a:solidFill>
                          <a:latin typeface="Calibri"/>
                          <a:ea typeface="Calibri"/>
                          <a:cs typeface="Calibri"/>
                        </a:rPr>
                        <a:t>75.6396%</a:t>
                      </a:r>
                    </a:p>
                  </a:txBody>
                  <a:tcPr marL="114300" marR="95250" marT="66675" marB="47625" anchor="ctr">
                    <a:solidFill>
                      <a:srgbClr val="FFFFFF"/>
                    </a:solidFill>
                  </a:tcPr>
                </a:tc>
                <a:tc>
                  <a:txBody>
                    <a:bodyPr/>
                    <a:lstStyle/>
                    <a:p>
                      <a:r>
                        <a:rPr sz="1800" b="0">
                          <a:solidFill>
                            <a:srgbClr val="111111"/>
                          </a:solidFill>
                          <a:latin typeface="Calibri"/>
                          <a:ea typeface="Calibri"/>
                          <a:cs typeface="Calibri"/>
                        </a:rPr>
                        <a:t>75.8098%</a:t>
                      </a:r>
                    </a:p>
                  </a:txBody>
                  <a:tcPr marL="114300" marR="95250" marT="66675" marB="47625" anchor="ctr">
                    <a:solidFill>
                      <a:srgbClr val="FFFFFF"/>
                    </a:solidFill>
                  </a:tcPr>
                </a:tc>
                <a:tc>
                  <a:txBody>
                    <a:bodyPr/>
                    <a:lstStyle/>
                    <a:p>
                      <a:r>
                        <a:rPr sz="1800" b="0">
                          <a:solidFill>
                            <a:srgbClr val="111111"/>
                          </a:solidFill>
                          <a:latin typeface="Calibri"/>
                          <a:ea typeface="Calibri"/>
                          <a:cs typeface="Calibri"/>
                        </a:rPr>
                        <a:t>+0.1702</a:t>
                      </a:r>
                    </a:p>
                  </a:txBody>
                  <a:tcPr marL="114300" marR="95250" marT="66675" marB="47625" anchor="ctr">
                    <a:solidFill>
                      <a:srgbClr val="FFFFFF"/>
                    </a:solidFill>
                  </a:tcPr>
                </a:tc>
                <a:extLst>
                  <a:ext uri="{0D108BD9-81ED-4DB2-BD59-A6C34878D82A}">
                    <a16:rowId xmlns:a16="http://schemas.microsoft.com/office/drawing/2014/main" val="10001"/>
                  </a:ext>
                </a:extLst>
              </a:tr>
              <a:tr h="666750">
                <a:tc>
                  <a:txBody>
                    <a:bodyPr/>
                    <a:lstStyle/>
                    <a:p>
                      <a:r>
                        <a:rPr sz="1800" b="0">
                          <a:solidFill>
                            <a:srgbClr val="111111"/>
                          </a:solidFill>
                          <a:latin typeface="Calibri"/>
                          <a:ea typeface="Calibri"/>
                          <a:cs typeface="Calibri"/>
                        </a:rPr>
                        <a:t>2027</a:t>
                      </a:r>
                    </a:p>
                  </a:txBody>
                  <a:tcPr marL="114300" marR="95250" marT="66675" marB="47625" anchor="ctr">
                    <a:solidFill>
                      <a:srgbClr val="F3F3F3"/>
                    </a:solidFill>
                  </a:tcPr>
                </a:tc>
                <a:tc>
                  <a:txBody>
                    <a:bodyPr/>
                    <a:lstStyle/>
                    <a:p>
                      <a:r>
                        <a:rPr sz="1800" b="0">
                          <a:solidFill>
                            <a:srgbClr val="111111"/>
                          </a:solidFill>
                          <a:latin typeface="Calibri"/>
                          <a:ea typeface="Calibri"/>
                          <a:cs typeface="Calibri"/>
                        </a:rPr>
                        <a:t>75.1242%</a:t>
                      </a:r>
                    </a:p>
                  </a:txBody>
                  <a:tcPr marL="114300" marR="95250" marT="66675" marB="47625" anchor="ctr">
                    <a:solidFill>
                      <a:srgbClr val="F3F3F3"/>
                    </a:solidFill>
                  </a:tcPr>
                </a:tc>
                <a:tc>
                  <a:txBody>
                    <a:bodyPr/>
                    <a:lstStyle/>
                    <a:p>
                      <a:r>
                        <a:rPr sz="1800" b="0">
                          <a:solidFill>
                            <a:srgbClr val="111111"/>
                          </a:solidFill>
                          <a:latin typeface="Calibri"/>
                          <a:ea typeface="Calibri"/>
                          <a:cs typeface="Calibri"/>
                        </a:rPr>
                        <a:t>76.0859%</a:t>
                      </a:r>
                    </a:p>
                  </a:txBody>
                  <a:tcPr marL="114300" marR="95250" marT="66675" marB="47625" anchor="ctr">
                    <a:solidFill>
                      <a:srgbClr val="F3F3F3"/>
                    </a:solidFill>
                  </a:tcPr>
                </a:tc>
                <a:tc>
                  <a:txBody>
                    <a:bodyPr/>
                    <a:lstStyle/>
                    <a:p>
                      <a:r>
                        <a:rPr sz="1800" b="0">
                          <a:solidFill>
                            <a:srgbClr val="111111"/>
                          </a:solidFill>
                          <a:latin typeface="Calibri"/>
                          <a:ea typeface="Calibri"/>
                          <a:cs typeface="Calibri"/>
                        </a:rPr>
                        <a:t>+0.9617</a:t>
                      </a:r>
                    </a:p>
                  </a:txBody>
                  <a:tcPr marL="114300" marR="95250" marT="66675" marB="47625" anchor="ctr">
                    <a:solidFill>
                      <a:srgbClr val="F3F3F3"/>
                    </a:solidFill>
                  </a:tcPr>
                </a:tc>
                <a:extLst>
                  <a:ext uri="{0D108BD9-81ED-4DB2-BD59-A6C34878D82A}">
                    <a16:rowId xmlns:a16="http://schemas.microsoft.com/office/drawing/2014/main" val="10002"/>
                  </a:ext>
                </a:extLst>
              </a:tr>
              <a:tr h="666750">
                <a:tc>
                  <a:txBody>
                    <a:bodyPr/>
                    <a:lstStyle/>
                    <a:p>
                      <a:r>
                        <a:rPr sz="1800" b="0">
                          <a:solidFill>
                            <a:srgbClr val="111111"/>
                          </a:solidFill>
                          <a:latin typeface="Calibri"/>
                          <a:ea typeface="Calibri"/>
                          <a:cs typeface="Calibri"/>
                        </a:rPr>
                        <a:t>3407</a:t>
                      </a:r>
                    </a:p>
                  </a:txBody>
                  <a:tcPr marL="114300" marR="95250" marT="66675" marB="47625" anchor="ctr">
                    <a:solidFill>
                      <a:srgbClr val="FFFFFF"/>
                    </a:solidFill>
                  </a:tcPr>
                </a:tc>
                <a:tc>
                  <a:txBody>
                    <a:bodyPr/>
                    <a:lstStyle/>
                    <a:p>
                      <a:r>
                        <a:rPr sz="1800" b="0">
                          <a:solidFill>
                            <a:srgbClr val="111111"/>
                          </a:solidFill>
                          <a:latin typeface="Calibri"/>
                          <a:ea typeface="Calibri"/>
                          <a:cs typeface="Calibri"/>
                        </a:rPr>
                        <a:t>75.4578%</a:t>
                      </a:r>
                    </a:p>
                  </a:txBody>
                  <a:tcPr marL="114300" marR="95250" marT="66675" marB="47625" anchor="ctr">
                    <a:solidFill>
                      <a:srgbClr val="FFFFFF"/>
                    </a:solidFill>
                  </a:tcPr>
                </a:tc>
                <a:tc>
                  <a:txBody>
                    <a:bodyPr/>
                    <a:lstStyle/>
                    <a:p>
                      <a:r>
                        <a:rPr sz="1800" b="0">
                          <a:solidFill>
                            <a:srgbClr val="111111"/>
                          </a:solidFill>
                          <a:latin typeface="Calibri"/>
                          <a:ea typeface="Calibri"/>
                          <a:cs typeface="Calibri"/>
                        </a:rPr>
                        <a:t>76.0544%</a:t>
                      </a:r>
                    </a:p>
                  </a:txBody>
                  <a:tcPr marL="114300" marR="95250" marT="66675" marB="47625" anchor="ctr">
                    <a:solidFill>
                      <a:srgbClr val="FFFFFF"/>
                    </a:solidFill>
                  </a:tcPr>
                </a:tc>
                <a:tc>
                  <a:txBody>
                    <a:bodyPr/>
                    <a:lstStyle/>
                    <a:p>
                      <a:r>
                        <a:rPr sz="1800" b="0">
                          <a:solidFill>
                            <a:srgbClr val="111111"/>
                          </a:solidFill>
                          <a:latin typeface="Calibri"/>
                          <a:ea typeface="Calibri"/>
                          <a:cs typeface="Calibri"/>
                        </a:rPr>
                        <a:t>+0.5966</a:t>
                      </a:r>
                    </a:p>
                  </a:txBody>
                  <a:tcPr marL="114300" marR="95250" marT="66675" marB="47625" anchor="ctr">
                    <a:solidFill>
                      <a:srgbClr val="FFFFFF"/>
                    </a:solidFill>
                  </a:tcPr>
                </a:tc>
                <a:extLst>
                  <a:ext uri="{0D108BD9-81ED-4DB2-BD59-A6C34878D82A}">
                    <a16:rowId xmlns:a16="http://schemas.microsoft.com/office/drawing/2014/main" val="10003"/>
                  </a:ext>
                </a:extLst>
              </a:tr>
              <a:tr h="666750">
                <a:tc>
                  <a:txBody>
                    <a:bodyPr/>
                    <a:lstStyle/>
                    <a:p>
                      <a:r>
                        <a:rPr sz="1800" b="0">
                          <a:solidFill>
                            <a:srgbClr val="111111"/>
                          </a:solidFill>
                          <a:latin typeface="Calibri"/>
                          <a:ea typeface="Calibri"/>
                          <a:cs typeface="Calibri"/>
                        </a:rPr>
                        <a:t>Mean</a:t>
                      </a:r>
                    </a:p>
                  </a:txBody>
                  <a:tcPr marL="114300" marR="95250" marT="66675" marB="47625" anchor="ctr">
                    <a:solidFill>
                      <a:srgbClr val="F3F3F3"/>
                    </a:solidFill>
                  </a:tcPr>
                </a:tc>
                <a:tc>
                  <a:txBody>
                    <a:bodyPr/>
                    <a:lstStyle/>
                    <a:p>
                      <a:r>
                        <a:rPr sz="1800" b="0">
                          <a:solidFill>
                            <a:srgbClr val="111111"/>
                          </a:solidFill>
                          <a:latin typeface="Calibri"/>
                          <a:ea typeface="Calibri"/>
                          <a:cs typeface="Calibri"/>
                        </a:rPr>
                        <a:t>75.4072%</a:t>
                      </a:r>
                    </a:p>
                  </a:txBody>
                  <a:tcPr marL="114300" marR="95250" marT="66675" marB="47625" anchor="ctr">
                    <a:solidFill>
                      <a:srgbClr val="F3F3F3"/>
                    </a:solidFill>
                  </a:tcPr>
                </a:tc>
                <a:tc>
                  <a:txBody>
                    <a:bodyPr/>
                    <a:lstStyle/>
                    <a:p>
                      <a:r>
                        <a:rPr sz="1800" b="0">
                          <a:solidFill>
                            <a:srgbClr val="111111"/>
                          </a:solidFill>
                          <a:latin typeface="Calibri"/>
                          <a:ea typeface="Calibri"/>
                          <a:cs typeface="Calibri"/>
                        </a:rPr>
                        <a:t>75.9833%</a:t>
                      </a:r>
                    </a:p>
                  </a:txBody>
                  <a:tcPr marL="114300" marR="95250" marT="66675" marB="47625" anchor="ctr">
                    <a:solidFill>
                      <a:srgbClr val="F3F3F3"/>
                    </a:solidFill>
                  </a:tcPr>
                </a:tc>
                <a:tc>
                  <a:txBody>
                    <a:bodyPr/>
                    <a:lstStyle/>
                    <a:p>
                      <a:r>
                        <a:rPr sz="1800" b="0">
                          <a:solidFill>
                            <a:srgbClr val="111111"/>
                          </a:solidFill>
                          <a:latin typeface="Calibri"/>
                          <a:ea typeface="Calibri"/>
                          <a:cs typeface="Calibri"/>
                        </a:rPr>
                        <a:t>+0.5762</a:t>
                      </a:r>
                    </a:p>
                  </a:txBody>
                  <a:tcPr marL="114300" marR="95250" marT="66675" marB="47625" anchor="ctr">
                    <a:solidFill>
                      <a:srgbClr val="F3F3F3"/>
                    </a:solidFill>
                  </a:tcPr>
                </a:tc>
                <a:extLst>
                  <a:ext uri="{0D108BD9-81ED-4DB2-BD59-A6C34878D82A}">
                    <a16:rowId xmlns:a16="http://schemas.microsoft.com/office/drawing/2014/main" val="10004"/>
                  </a:ext>
                </a:extLst>
              </a:tr>
            </a:tbl>
          </a:graphicData>
        </a:graphic>
      </p:graphicFrame>
      <p:sp>
        <p:nvSpPr>
          <p:cNvPr id="8" name="Same FSDR architecture, frozen CXR-BERT, Dice/Focal and 80-e">
            <a:extLst>
              <a:ext uri="{FF2B5EF4-FFF2-40B4-BE49-F238E27FC236}">
                <a16:creationId xmlns:a16="http://schemas.microsoft.com/office/drawing/2014/main" id="{403B7253-7CBB-40F6-87DE-80ED5F65A7A7}"/>
              </a:ext>
            </a:extLst>
          </p:cNvPr>
          <p:cNvSpPr>
            <a:spLocks noGrp="1"/>
          </p:cNvSpPr>
          <p:nvPr/>
        </p:nvSpPr>
        <p:spPr>
          <a:xfrm>
            <a:off x="638175" y="5219700"/>
            <a:ext cx="10915650" cy="619125"/>
          </a:xfrm>
          <a:prstGeom prst="rect">
            <a:avLst/>
          </a:prstGeom>
          <a:noFill/>
          <a:ln w="0">
            <a:noFill/>
          </a:ln>
        </p:spPr>
        <p:txBody>
          <a:bodyPr wrap="square" lIns="0" tIns="0" rIns="0" bIns="0" anchor="t">
            <a:noAutofit/>
          </a:bodyPr>
          <a:lstStyle/>
          <a:p>
            <a:pPr algn="l">
              <a:buNone/>
              <a:defRPr sz="1800" b="0">
                <a:solidFill>
                  <a:srgbClr val="111111"/>
                </a:solidFill>
                <a:latin typeface="Calibri"/>
                <a:ea typeface="Calibri"/>
                <a:cs typeface="Calibri"/>
              </a:defRPr>
            </a:pPr>
            <a:r>
              <a:rPr sz="1800" b="0">
                <a:solidFill>
                  <a:srgbClr val="111111"/>
                </a:solidFill>
                <a:latin typeface="Calibri"/>
                <a:ea typeface="Calibri"/>
                <a:cs typeface="Calibri"/>
              </a:rPr>
              <a:t>Same FSDR architecture, frozen CXR-BERT, Dice/Focal and 80-epoch budget.</a:t>
            </a:r>
          </a:p>
          <a:p>
            <a:pPr algn="l">
              <a:buNone/>
              <a:defRPr sz="1800" b="0">
                <a:solidFill>
                  <a:srgbClr val="111111"/>
                </a:solidFill>
                <a:latin typeface="Calibri"/>
                <a:ea typeface="Calibri"/>
                <a:cs typeface="Calibri"/>
              </a:defRPr>
            </a:pPr>
            <a:r>
              <a:rPr sz="1800" b="0">
                <a:solidFill>
                  <a:srgbClr val="111111"/>
                </a:solidFill>
                <a:latin typeface="Calibri"/>
                <a:ea typeface="Calibri"/>
                <a:cs typeface="Calibri"/>
              </a:rPr>
              <a:t>Mean Dice: 84.1247% → 84.5031% (+0.3784 pp).</a:t>
            </a:r>
          </a:p>
        </p:txBody>
      </p:sp>
      <p:sp>
        <p:nvSpPr>
          <p:cNvPr id="9" name="This gain belongs to the learning-rate recipe; it does not m">
            <a:extLst>
              <a:ext uri="{FF2B5EF4-FFF2-40B4-BE49-F238E27FC236}">
                <a16:creationId xmlns:a16="http://schemas.microsoft.com/office/drawing/2014/main" id="{CB88C5B1-3FCD-45C9-B35E-38E19ED44FCD}"/>
              </a:ext>
            </a:extLst>
          </p:cNvPr>
          <p:cNvSpPr>
            <a:spLocks noGrp="1"/>
          </p:cNvSpPr>
          <p:nvPr/>
        </p:nvSpPr>
        <p:spPr>
          <a:xfrm>
            <a:off x="638175" y="6000750"/>
            <a:ext cx="10915650" cy="295275"/>
          </a:xfrm>
          <a:prstGeom prst="rect">
            <a:avLst/>
          </a:prstGeom>
          <a:noFill/>
          <a:ln w="0">
            <a:noFill/>
          </a:ln>
        </p:spPr>
        <p:txBody>
          <a:bodyPr wrap="square" lIns="0" tIns="0" rIns="0" bIns="0" anchor="t">
            <a:noAutofit/>
          </a:bodyPr>
          <a:lstStyle/>
          <a:p>
            <a:pPr algn="l">
              <a:buNone/>
              <a:defRPr sz="1650" b="0">
                <a:solidFill>
                  <a:srgbClr val="606060"/>
                </a:solidFill>
                <a:latin typeface="Calibri"/>
                <a:ea typeface="Calibri"/>
                <a:cs typeface="Calibri"/>
              </a:defRPr>
            </a:pPr>
            <a:r>
              <a:rPr sz="1650" b="0">
                <a:solidFill>
                  <a:srgbClr val="606060"/>
                </a:solidFill>
                <a:latin typeface="Calibri"/>
                <a:ea typeface="Calibri"/>
                <a:cs typeface="Calibri"/>
              </a:rPr>
              <a:t>This gain belongs to the learning-rate recipe; it does not measure an additional FSDR effect.</a:t>
            </a:r>
          </a:p>
        </p:txBody>
      </p:sp>
      <p:sp>
        <p:nvSpPr>
          <p:cNvPr id="11" name="Backup: training recipe">
            <a:extLst>
              <a:ext uri="{FF2B5EF4-FFF2-40B4-BE49-F238E27FC236}">
                <a16:creationId xmlns:a16="http://schemas.microsoft.com/office/drawing/2014/main" id="{C5D4EE57-CBEF-4A45-9789-657CDD0ECA0F}"/>
              </a:ext>
            </a:extLst>
          </p:cNvPr>
          <p:cNvSpPr>
            <a:spLocks noGrp="1"/>
          </p:cNvSpPr>
          <p:nvPr/>
        </p:nvSpPr>
        <p:spPr>
          <a:xfrm>
            <a:off x="638175" y="6467475"/>
            <a:ext cx="9906000" cy="190500"/>
          </a:xfrm>
          <a:prstGeom prst="rect">
            <a:avLst/>
          </a:prstGeom>
          <a:noFill/>
          <a:ln w="0">
            <a:noFill/>
          </a:ln>
        </p:spPr>
        <p:txBody>
          <a:bodyPr wrap="square" lIns="0" tIns="0" rIns="0" bIns="0" anchor="t">
            <a:noAutofit/>
          </a:bodyPr>
          <a:lstStyle/>
          <a:p>
            <a:pPr algn="l">
              <a:buNone/>
              <a:defRPr sz="900" b="0">
                <a:solidFill>
                  <a:srgbClr val="999999"/>
                </a:solidFill>
                <a:latin typeface="Calibri"/>
                <a:ea typeface="Calibri"/>
                <a:cs typeface="Calibri"/>
              </a:defRPr>
            </a:pPr>
            <a:r>
              <a:rPr sz="900" b="0">
                <a:solidFill>
                  <a:srgbClr val="999999"/>
                </a:solidFill>
                <a:latin typeface="Calibri"/>
                <a:ea typeface="Calibri"/>
                <a:cs typeface="Calibri"/>
              </a:rPr>
              <a:t>Backup: training recipe</a:t>
            </a:r>
          </a:p>
        </p:txBody>
      </p:sp>
      <p:sp>
        <p:nvSpPr>
          <p:cNvPr id="12" name="16">
            <a:extLst>
              <a:ext uri="{FF2B5EF4-FFF2-40B4-BE49-F238E27FC236}">
                <a16:creationId xmlns:a16="http://schemas.microsoft.com/office/drawing/2014/main" id="{90210781-07AB-4A52-A435-F52321B95E3A}"/>
              </a:ext>
            </a:extLst>
          </p:cNvPr>
          <p:cNvSpPr>
            <a:spLocks noGrp="1"/>
          </p:cNvSpPr>
          <p:nvPr/>
        </p:nvSpPr>
        <p:spPr>
          <a:xfrm>
            <a:off x="11144250" y="6467475"/>
            <a:ext cx="409575" cy="190500"/>
          </a:xfrm>
          <a:prstGeom prst="rect">
            <a:avLst/>
          </a:prstGeom>
          <a:noFill/>
          <a:ln w="0">
            <a:noFill/>
          </a:ln>
        </p:spPr>
        <p:txBody>
          <a:bodyPr wrap="square" lIns="0" tIns="0" rIns="0" bIns="0" anchor="t">
            <a:noAutofit/>
          </a:bodyPr>
          <a:lstStyle/>
          <a:p>
            <a:pPr algn="r">
              <a:buNone/>
              <a:defRPr sz="900" b="0">
                <a:solidFill>
                  <a:srgbClr val="999999"/>
                </a:solidFill>
                <a:latin typeface="Calibri"/>
                <a:ea typeface="Calibri"/>
                <a:cs typeface="Calibri"/>
              </a:defRPr>
            </a:pPr>
            <a:r>
              <a:rPr sz="900" b="0">
                <a:solidFill>
                  <a:srgbClr val="999999"/>
                </a:solidFill>
                <a:latin typeface="Calibri"/>
                <a:ea typeface="Calibri"/>
                <a:cs typeface="Calibri"/>
              </a:rPr>
              <a:t>16</a:t>
            </a:r>
          </a:p>
        </p:txBody>
      </p:sp>
    </p:spTree>
    <p:extLst>
      <p:ext uri="{BB962C8B-B14F-4D97-AF65-F5344CB8AC3E}">
        <p14:creationId xmlns:p14="http://schemas.microsoft.com/office/powerpoint/2010/main" val="14926666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E2C3B7B-2285-4B98-A4B6-7695855F6552}"/>
              </a:ext>
            </a:extLst>
          </p:cNvPr>
          <p:cNvSpPr>
            <a:spLocks noGrp="1"/>
          </p:cNvSpPr>
          <p:nvPr/>
        </p:nvSpPr>
        <p:spPr>
          <a:xfrm>
            <a:off x="640080" y="361950"/>
            <a:ext cx="10915650" cy="952500"/>
          </a:xfrm>
          <a:prstGeom prst="rect">
            <a:avLst/>
          </a:prstGeom>
          <a:noFill/>
        </p:spPr>
        <p:txBody>
          <a:bodyPr wrap="square" lIns="0" tIns="0" rIns="0" bIns="0" anchor="ctr">
            <a:noAutofit/>
          </a:bodyPr>
          <a:lstStyle/>
          <a:p>
            <a:pPr marL="0" indent="0">
              <a:buNone/>
              <a:defRPr sz="3000" b="1">
                <a:solidFill>
                  <a:srgbClr val="111111"/>
                </a:solidFill>
                <a:latin typeface="Cambria"/>
                <a:ea typeface="Cambria"/>
                <a:cs typeface="Cambria"/>
              </a:defRPr>
            </a:pPr>
            <a:r>
              <a:rPr sz="3000" b="1">
                <a:solidFill>
                  <a:srgbClr val="111111"/>
                </a:solidFill>
                <a:latin typeface="Cambria"/>
                <a:ea typeface="Cambria"/>
                <a:cs typeface="Cambria"/>
              </a:rPr>
              <a:t>RACE: fixed-model dependence diagnostics</a:t>
            </a:r>
            <a:endParaRPr sz="2800"/>
          </a:p>
        </p:txBody>
      </p:sp>
      <p:graphicFrame>
        <p:nvGraphicFramePr>
          <p:cNvPr id="10" name="表格 9"/>
          <p:cNvGraphicFramePr/>
          <p:nvPr/>
        </p:nvGraphicFramePr>
        <p:xfrm>
          <a:off x="638175" y="1695450"/>
          <a:ext cx="10915650" cy="3476625"/>
        </p:xfrm>
        <a:graphic>
          <a:graphicData uri="http://schemas.openxmlformats.org/drawingml/2006/table">
            <a:tbl>
              <a:tblPr/>
              <a:tblGrid>
                <a:gridCol w="5715000">
                  <a:extLst>
                    <a:ext uri="{9D8B030D-6E8A-4147-A177-3AD203B41FA5}">
                      <a16:colId xmlns:a16="http://schemas.microsoft.com/office/drawing/2014/main" val="20000"/>
                    </a:ext>
                  </a:extLst>
                </a:gridCol>
                <a:gridCol w="2571750">
                  <a:extLst>
                    <a:ext uri="{9D8B030D-6E8A-4147-A177-3AD203B41FA5}">
                      <a16:colId xmlns:a16="http://schemas.microsoft.com/office/drawing/2014/main" val="20001"/>
                    </a:ext>
                  </a:extLst>
                </a:gridCol>
                <a:gridCol w="2628900">
                  <a:extLst>
                    <a:ext uri="{9D8B030D-6E8A-4147-A177-3AD203B41FA5}">
                      <a16:colId xmlns:a16="http://schemas.microsoft.com/office/drawing/2014/main" val="20002"/>
                    </a:ext>
                  </a:extLst>
                </a:gridCol>
              </a:tblGrid>
              <a:tr h="695325">
                <a:tc>
                  <a:txBody>
                    <a:bodyPr/>
                    <a:lstStyle/>
                    <a:p>
                      <a:r>
                        <a:rPr sz="2025" b="1">
                          <a:solidFill>
                            <a:srgbClr val="FFFFFF"/>
                          </a:solidFill>
                          <a:latin typeface="Calibri"/>
                          <a:ea typeface="Calibri"/>
                          <a:cs typeface="Calibri"/>
                        </a:rPr>
                        <a:t>Inference condition</a:t>
                      </a:r>
                    </a:p>
                  </a:txBody>
                  <a:tcPr marL="114300" marR="95250" marT="66675" marB="47625" anchor="ctr">
                    <a:solidFill>
                      <a:srgbClr val="111111"/>
                    </a:solidFill>
                  </a:tcPr>
                </a:tc>
                <a:tc>
                  <a:txBody>
                    <a:bodyPr/>
                    <a:lstStyle/>
                    <a:p>
                      <a:r>
                        <a:rPr sz="2025" b="1">
                          <a:solidFill>
                            <a:srgbClr val="FFFFFF"/>
                          </a:solidFill>
                          <a:latin typeface="Calibri"/>
                          <a:ea typeface="Calibri"/>
                          <a:cs typeface="Calibri"/>
                        </a:rPr>
                        <a:t>Val IoU</a:t>
                      </a:r>
                    </a:p>
                  </a:txBody>
                  <a:tcPr marL="114300" marR="95250" marT="66675" marB="47625" anchor="ctr">
                    <a:solidFill>
                      <a:srgbClr val="111111"/>
                    </a:solidFill>
                  </a:tcPr>
                </a:tc>
                <a:tc>
                  <a:txBody>
                    <a:bodyPr/>
                    <a:lstStyle/>
                    <a:p>
                      <a:r>
                        <a:rPr sz="2025" b="1">
                          <a:solidFill>
                            <a:srgbClr val="FFFFFF"/>
                          </a:solidFill>
                          <a:latin typeface="Calibri"/>
                          <a:ea typeface="Calibri"/>
                          <a:cs typeface="Calibri"/>
                        </a:rPr>
                        <a:t>Δ IoU (pp)</a:t>
                      </a:r>
                    </a:p>
                  </a:txBody>
                  <a:tcPr marL="114300" marR="95250" marT="66675" marB="47625" anchor="ctr">
                    <a:solidFill>
                      <a:srgbClr val="111111"/>
                    </a:solidFill>
                  </a:tcPr>
                </a:tc>
                <a:extLst>
                  <a:ext uri="{0D108BD9-81ED-4DB2-BD59-A6C34878D82A}">
                    <a16:rowId xmlns:a16="http://schemas.microsoft.com/office/drawing/2014/main" val="10000"/>
                  </a:ext>
                </a:extLst>
              </a:tr>
              <a:tr h="695325">
                <a:tc>
                  <a:txBody>
                    <a:bodyPr/>
                    <a:lstStyle/>
                    <a:p>
                      <a:r>
                        <a:rPr sz="2025" b="0">
                          <a:solidFill>
                            <a:srgbClr val="111111"/>
                          </a:solidFill>
                          <a:latin typeface="Calibri"/>
                          <a:ea typeface="Calibri"/>
                          <a:cs typeface="Calibri"/>
                        </a:rPr>
                        <a:t>Original inference</a:t>
                      </a:r>
                    </a:p>
                  </a:txBody>
                  <a:tcPr marL="114300" marR="95250" marT="66675" marB="47625" anchor="ctr">
                    <a:solidFill>
                      <a:srgbClr val="FFFFFF"/>
                    </a:solidFill>
                  </a:tcPr>
                </a:tc>
                <a:tc>
                  <a:txBody>
                    <a:bodyPr/>
                    <a:lstStyle/>
                    <a:p>
                      <a:r>
                        <a:rPr sz="2025" b="0">
                          <a:solidFill>
                            <a:srgbClr val="111111"/>
                          </a:solidFill>
                          <a:latin typeface="Calibri"/>
                          <a:ea typeface="Calibri"/>
                          <a:cs typeface="Calibri"/>
                        </a:rPr>
                        <a:t>72.5566%</a:t>
                      </a:r>
                    </a:p>
                  </a:txBody>
                  <a:tcPr marL="114300" marR="95250" marT="66675" marB="47625" anchor="ctr">
                    <a:solidFill>
                      <a:srgbClr val="FFFFFF"/>
                    </a:solidFill>
                  </a:tcPr>
                </a:tc>
                <a:tc>
                  <a:txBody>
                    <a:bodyPr/>
                    <a:lstStyle/>
                    <a:p>
                      <a:r>
                        <a:rPr sz="2025" b="0">
                          <a:solidFill>
                            <a:srgbClr val="111111"/>
                          </a:solidFill>
                          <a:latin typeface="Calibri"/>
                          <a:ea typeface="Calibri"/>
                          <a:cs typeface="Calibri"/>
                        </a:rPr>
                        <a:t>+0.0000</a:t>
                      </a:r>
                    </a:p>
                  </a:txBody>
                  <a:tcPr marL="114300" marR="95250" marT="66675" marB="47625" anchor="ctr">
                    <a:solidFill>
                      <a:srgbClr val="FFFFFF"/>
                    </a:solidFill>
                  </a:tcPr>
                </a:tc>
                <a:extLst>
                  <a:ext uri="{0D108BD9-81ED-4DB2-BD59-A6C34878D82A}">
                    <a16:rowId xmlns:a16="http://schemas.microsoft.com/office/drawing/2014/main" val="10001"/>
                  </a:ext>
                </a:extLst>
              </a:tr>
              <a:tr h="695325">
                <a:tc>
                  <a:txBody>
                    <a:bodyPr/>
                    <a:lstStyle/>
                    <a:p>
                      <a:r>
                        <a:rPr sz="2025" b="0">
                          <a:solidFill>
                            <a:srgbClr val="111111"/>
                          </a:solidFill>
                          <a:latin typeface="Calibri"/>
                          <a:ea typeface="Calibri"/>
                          <a:cs typeface="Calibri"/>
                        </a:rPr>
                        <a:t>RACE routes disabled</a:t>
                      </a:r>
                    </a:p>
                  </a:txBody>
                  <a:tcPr marL="114300" marR="95250" marT="66675" marB="47625" anchor="ctr">
                    <a:solidFill>
                      <a:srgbClr val="F3F3F3"/>
                    </a:solidFill>
                  </a:tcPr>
                </a:tc>
                <a:tc>
                  <a:txBody>
                    <a:bodyPr/>
                    <a:lstStyle/>
                    <a:p>
                      <a:r>
                        <a:rPr sz="2025" b="0">
                          <a:solidFill>
                            <a:srgbClr val="111111"/>
                          </a:solidFill>
                          <a:latin typeface="Calibri"/>
                          <a:ea typeface="Calibri"/>
                          <a:cs typeface="Calibri"/>
                        </a:rPr>
                        <a:t>67.2769%</a:t>
                      </a:r>
                    </a:p>
                  </a:txBody>
                  <a:tcPr marL="114300" marR="95250" marT="66675" marB="47625" anchor="ctr">
                    <a:solidFill>
                      <a:srgbClr val="F3F3F3"/>
                    </a:solidFill>
                  </a:tcPr>
                </a:tc>
                <a:tc>
                  <a:txBody>
                    <a:bodyPr/>
                    <a:lstStyle/>
                    <a:p>
                      <a:r>
                        <a:rPr sz="2025" b="0">
                          <a:solidFill>
                            <a:srgbClr val="111111"/>
                          </a:solidFill>
                          <a:latin typeface="Calibri"/>
                          <a:ea typeface="Calibri"/>
                          <a:cs typeface="Calibri"/>
                        </a:rPr>
                        <a:t>-5.2797</a:t>
                      </a:r>
                    </a:p>
                  </a:txBody>
                  <a:tcPr marL="114300" marR="95250" marT="66675" marB="47625" anchor="ctr">
                    <a:solidFill>
                      <a:srgbClr val="F3F3F3"/>
                    </a:solidFill>
                  </a:tcPr>
                </a:tc>
                <a:extLst>
                  <a:ext uri="{0D108BD9-81ED-4DB2-BD59-A6C34878D82A}">
                    <a16:rowId xmlns:a16="http://schemas.microsoft.com/office/drawing/2014/main" val="10002"/>
                  </a:ext>
                </a:extLst>
              </a:tr>
              <a:tr h="695325">
                <a:tc>
                  <a:txBody>
                    <a:bodyPr/>
                    <a:lstStyle/>
                    <a:p>
                      <a:r>
                        <a:rPr sz="2025" b="0">
                          <a:solidFill>
                            <a:srgbClr val="111111"/>
                          </a:solidFill>
                          <a:latin typeface="Calibri"/>
                          <a:ea typeface="Calibri"/>
                          <a:cs typeface="Calibri"/>
                        </a:rPr>
                        <a:t>Constant report slots</a:t>
                      </a:r>
                    </a:p>
                  </a:txBody>
                  <a:tcPr marL="114300" marR="95250" marT="66675" marB="47625" anchor="ctr">
                    <a:solidFill>
                      <a:srgbClr val="FFFFFF"/>
                    </a:solidFill>
                  </a:tcPr>
                </a:tc>
                <a:tc>
                  <a:txBody>
                    <a:bodyPr/>
                    <a:lstStyle/>
                    <a:p>
                      <a:r>
                        <a:rPr sz="2025" b="0">
                          <a:solidFill>
                            <a:srgbClr val="111111"/>
                          </a:solidFill>
                          <a:latin typeface="Calibri"/>
                          <a:ea typeface="Calibri"/>
                          <a:cs typeface="Calibri"/>
                        </a:rPr>
                        <a:t>70.5800%</a:t>
                      </a:r>
                    </a:p>
                  </a:txBody>
                  <a:tcPr marL="114300" marR="95250" marT="66675" marB="47625" anchor="ctr">
                    <a:solidFill>
                      <a:srgbClr val="FFFFFF"/>
                    </a:solidFill>
                  </a:tcPr>
                </a:tc>
                <a:tc>
                  <a:txBody>
                    <a:bodyPr/>
                    <a:lstStyle/>
                    <a:p>
                      <a:r>
                        <a:rPr sz="2025" b="0">
                          <a:solidFill>
                            <a:srgbClr val="111111"/>
                          </a:solidFill>
                          <a:latin typeface="Calibri"/>
                          <a:ea typeface="Calibri"/>
                          <a:cs typeface="Calibri"/>
                        </a:rPr>
                        <a:t>-1.9766</a:t>
                      </a:r>
                    </a:p>
                  </a:txBody>
                  <a:tcPr marL="114300" marR="95250" marT="66675" marB="47625" anchor="ctr">
                    <a:solidFill>
                      <a:srgbClr val="FFFFFF"/>
                    </a:solidFill>
                  </a:tcPr>
                </a:tc>
                <a:extLst>
                  <a:ext uri="{0D108BD9-81ED-4DB2-BD59-A6C34878D82A}">
                    <a16:rowId xmlns:a16="http://schemas.microsoft.com/office/drawing/2014/main" val="10003"/>
                  </a:ext>
                </a:extLst>
              </a:tr>
              <a:tr h="695325">
                <a:tc>
                  <a:txBody>
                    <a:bodyPr/>
                    <a:lstStyle/>
                    <a:p>
                      <a:r>
                        <a:rPr sz="2025" b="0">
                          <a:solidFill>
                            <a:srgbClr val="111111"/>
                          </a:solidFill>
                          <a:latin typeface="Calibri"/>
                          <a:ea typeface="Calibri"/>
                          <a:cs typeface="Calibri"/>
                        </a:rPr>
                        <a:t>Report slots shuffled</a:t>
                      </a:r>
                    </a:p>
                  </a:txBody>
                  <a:tcPr marL="114300" marR="95250" marT="66675" marB="47625" anchor="ctr">
                    <a:solidFill>
                      <a:srgbClr val="F3F3F3"/>
                    </a:solidFill>
                  </a:tcPr>
                </a:tc>
                <a:tc>
                  <a:txBody>
                    <a:bodyPr/>
                    <a:lstStyle/>
                    <a:p>
                      <a:r>
                        <a:rPr sz="2025" b="0">
                          <a:solidFill>
                            <a:srgbClr val="111111"/>
                          </a:solidFill>
                          <a:latin typeface="Calibri"/>
                          <a:ea typeface="Calibri"/>
                          <a:cs typeface="Calibri"/>
                        </a:rPr>
                        <a:t>67.7659%</a:t>
                      </a:r>
                    </a:p>
                  </a:txBody>
                  <a:tcPr marL="114300" marR="95250" marT="66675" marB="47625" anchor="ctr">
                    <a:solidFill>
                      <a:srgbClr val="F3F3F3"/>
                    </a:solidFill>
                  </a:tcPr>
                </a:tc>
                <a:tc>
                  <a:txBody>
                    <a:bodyPr/>
                    <a:lstStyle/>
                    <a:p>
                      <a:r>
                        <a:rPr sz="2025" b="0">
                          <a:solidFill>
                            <a:srgbClr val="111111"/>
                          </a:solidFill>
                          <a:latin typeface="Calibri"/>
                          <a:ea typeface="Calibri"/>
                          <a:cs typeface="Calibri"/>
                        </a:rPr>
                        <a:t>-4.7907</a:t>
                      </a:r>
                    </a:p>
                  </a:txBody>
                  <a:tcPr marL="114300" marR="95250" marT="66675" marB="47625" anchor="ctr">
                    <a:solidFill>
                      <a:srgbClr val="F3F3F3"/>
                    </a:solidFill>
                  </a:tcPr>
                </a:tc>
                <a:extLst>
                  <a:ext uri="{0D108BD9-81ED-4DB2-BD59-A6C34878D82A}">
                    <a16:rowId xmlns:a16="http://schemas.microsoft.com/office/drawing/2014/main" val="10004"/>
                  </a:ext>
                </a:extLst>
              </a:tr>
            </a:tbl>
          </a:graphicData>
        </a:graphic>
      </p:graphicFrame>
      <p:sp>
        <p:nvSpPr>
          <p:cNvPr id="4" name="The checkpoint depends on the route and report slo">
            <a:extLst>
              <a:ext uri="{FF2B5EF4-FFF2-40B4-BE49-F238E27FC236}">
                <a16:creationId xmlns:a16="http://schemas.microsoft.com/office/drawing/2014/main" id="{8EB78C09-857D-488F-B2C8-CEEF7881BA34}"/>
              </a:ext>
            </a:extLst>
          </p:cNvPr>
          <p:cNvSpPr>
            <a:spLocks noGrp="1"/>
          </p:cNvSpPr>
          <p:nvPr/>
        </p:nvSpPr>
        <p:spPr>
          <a:xfrm>
            <a:off x="638175" y="5505450"/>
            <a:ext cx="10915650" cy="542925"/>
          </a:xfrm>
          <a:prstGeom prst="rect">
            <a:avLst/>
          </a:prstGeom>
          <a:solidFill>
            <a:srgbClr val="111111"/>
          </a:solidFill>
          <a:ln w="0">
            <a:noFill/>
          </a:ln>
        </p:spPr>
        <p:txBody>
          <a:bodyPr wrap="square" lIns="133350" tIns="95250" rIns="133350" bIns="66675" anchor="t">
            <a:noAutofit/>
          </a:bodyPr>
          <a:lstStyle/>
          <a:p>
            <a:pPr algn="l">
              <a:buNone/>
              <a:defRPr sz="1875" b="1">
                <a:solidFill>
                  <a:srgbClr val="FFFFFF"/>
                </a:solidFill>
                <a:latin typeface="Calibri"/>
                <a:ea typeface="Calibri"/>
                <a:cs typeface="Calibri"/>
              </a:defRPr>
            </a:pPr>
            <a:r>
              <a:rPr sz="1875" b="1">
                <a:solidFill>
                  <a:srgbClr val="FFFFFF"/>
                </a:solidFill>
                <a:latin typeface="Calibri"/>
                <a:ea typeface="Calibri"/>
                <a:cs typeface="Calibri"/>
              </a:rPr>
              <a:t>The checkpoint depends on the route and report slots; this is not a training ablation.</a:t>
            </a:r>
          </a:p>
        </p:txBody>
      </p:sp>
      <p:sp>
        <p:nvSpPr>
          <p:cNvPr id="5" name="Earlier checkpoint · 1,429 Val images · no retrain">
            <a:extLst>
              <a:ext uri="{FF2B5EF4-FFF2-40B4-BE49-F238E27FC236}">
                <a16:creationId xmlns:a16="http://schemas.microsoft.com/office/drawing/2014/main" id="{4C2DF34C-D22A-4B2B-8459-3EFC0CEF36D9}"/>
              </a:ext>
            </a:extLst>
          </p:cNvPr>
          <p:cNvSpPr>
            <a:spLocks noGrp="1"/>
          </p:cNvSpPr>
          <p:nvPr/>
        </p:nvSpPr>
        <p:spPr>
          <a:xfrm>
            <a:off x="638175" y="6115050"/>
            <a:ext cx="10915650" cy="285750"/>
          </a:xfrm>
          <a:prstGeom prst="rect">
            <a:avLst/>
          </a:prstGeom>
          <a:noFill/>
          <a:ln w="0">
            <a:noFill/>
          </a:ln>
        </p:spPr>
        <p:txBody>
          <a:bodyPr wrap="square" lIns="0" tIns="0" rIns="0" bIns="0" anchor="t">
            <a:noAutofit/>
          </a:bodyPr>
          <a:lstStyle/>
          <a:p>
            <a:pPr algn="l">
              <a:buNone/>
              <a:defRPr sz="1650" b="0">
                <a:solidFill>
                  <a:srgbClr val="606060"/>
                </a:solidFill>
                <a:latin typeface="Calibri"/>
                <a:ea typeface="Calibri"/>
                <a:cs typeface="Calibri"/>
              </a:defRPr>
            </a:pPr>
            <a:r>
              <a:rPr sz="1650" b="0">
                <a:solidFill>
                  <a:srgbClr val="606060"/>
                </a:solidFill>
                <a:latin typeface="Calibri"/>
                <a:ea typeface="Calibri"/>
                <a:cs typeface="Calibri"/>
              </a:rPr>
              <a:t>Earlier checkpoint · 1,429 Val images · no retraining · unchanged main LViT text branch</a:t>
            </a:r>
          </a:p>
        </p:txBody>
      </p:sp>
      <p:sp>
        <p:nvSpPr>
          <p:cNvPr id="6" name="Backup: dependence diagnostics">
            <a:extLst>
              <a:ext uri="{FF2B5EF4-FFF2-40B4-BE49-F238E27FC236}">
                <a16:creationId xmlns:a16="http://schemas.microsoft.com/office/drawing/2014/main" id="{968C421F-26EC-400E-A2B9-7E042EBD3F42}"/>
              </a:ext>
            </a:extLst>
          </p:cNvPr>
          <p:cNvSpPr>
            <a:spLocks noGrp="1"/>
          </p:cNvSpPr>
          <p:nvPr/>
        </p:nvSpPr>
        <p:spPr>
          <a:xfrm>
            <a:off x="638175" y="6467475"/>
            <a:ext cx="9906000" cy="190500"/>
          </a:xfrm>
          <a:prstGeom prst="rect">
            <a:avLst/>
          </a:prstGeom>
          <a:noFill/>
          <a:ln w="0">
            <a:noFill/>
          </a:ln>
        </p:spPr>
        <p:txBody>
          <a:bodyPr wrap="square" lIns="0" tIns="0" rIns="0" bIns="0" anchor="t">
            <a:noAutofit/>
          </a:bodyPr>
          <a:lstStyle/>
          <a:p>
            <a:pPr algn="l">
              <a:buNone/>
              <a:defRPr sz="900" b="0">
                <a:solidFill>
                  <a:srgbClr val="999999"/>
                </a:solidFill>
                <a:latin typeface="Calibri"/>
                <a:ea typeface="Calibri"/>
                <a:cs typeface="Calibri"/>
              </a:defRPr>
            </a:pPr>
            <a:r>
              <a:rPr sz="900" b="0">
                <a:solidFill>
                  <a:srgbClr val="999999"/>
                </a:solidFill>
                <a:latin typeface="Calibri"/>
                <a:ea typeface="Calibri"/>
                <a:cs typeface="Calibri"/>
              </a:rPr>
              <a:t>Backup: dependence diagnostics</a:t>
            </a:r>
          </a:p>
        </p:txBody>
      </p:sp>
      <p:sp>
        <p:nvSpPr>
          <p:cNvPr id="7" name="17">
            <a:extLst>
              <a:ext uri="{FF2B5EF4-FFF2-40B4-BE49-F238E27FC236}">
                <a16:creationId xmlns:a16="http://schemas.microsoft.com/office/drawing/2014/main" id="{EF98EAA6-79A2-45E6-A956-B3BB925F8990}"/>
              </a:ext>
            </a:extLst>
          </p:cNvPr>
          <p:cNvSpPr>
            <a:spLocks noGrp="1"/>
          </p:cNvSpPr>
          <p:nvPr/>
        </p:nvSpPr>
        <p:spPr>
          <a:xfrm>
            <a:off x="11144250" y="6467475"/>
            <a:ext cx="409575" cy="190500"/>
          </a:xfrm>
          <a:prstGeom prst="rect">
            <a:avLst/>
          </a:prstGeom>
          <a:noFill/>
          <a:ln w="0">
            <a:noFill/>
          </a:ln>
        </p:spPr>
        <p:txBody>
          <a:bodyPr wrap="square" lIns="0" tIns="0" rIns="0" bIns="0" anchor="t">
            <a:noAutofit/>
          </a:bodyPr>
          <a:lstStyle/>
          <a:p>
            <a:pPr algn="r">
              <a:buNone/>
              <a:defRPr sz="900" b="0">
                <a:solidFill>
                  <a:srgbClr val="999999"/>
                </a:solidFill>
                <a:latin typeface="Calibri"/>
                <a:ea typeface="Calibri"/>
                <a:cs typeface="Calibri"/>
              </a:defRPr>
            </a:pPr>
            <a:r>
              <a:rPr sz="900" b="0">
                <a:solidFill>
                  <a:srgbClr val="999999"/>
                </a:solidFill>
                <a:latin typeface="Calibri"/>
                <a:ea typeface="Calibri"/>
                <a:cs typeface="Calibri"/>
              </a:rPr>
              <a:t>17</a:t>
            </a:r>
          </a:p>
        </p:txBody>
      </p:sp>
    </p:spTree>
    <p:extLst>
      <p:ext uri="{BB962C8B-B14F-4D97-AF65-F5344CB8AC3E}">
        <p14:creationId xmlns:p14="http://schemas.microsoft.com/office/powerpoint/2010/main" val="9262882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FA282A81-28B7-41C3-8AEB-48E4FB38D647}"/>
              </a:ext>
            </a:extLst>
          </p:cNvPr>
          <p:cNvSpPr>
            <a:spLocks noGrp="1"/>
          </p:cNvSpPr>
          <p:nvPr/>
        </p:nvSpPr>
        <p:spPr>
          <a:xfrm>
            <a:off x="640080" y="361950"/>
            <a:ext cx="10382250" cy="952500"/>
          </a:xfrm>
          <a:prstGeom prst="rect">
            <a:avLst/>
          </a:prstGeom>
          <a:noFill/>
        </p:spPr>
        <p:txBody>
          <a:bodyPr wrap="square" lIns="0" tIns="0" rIns="0" bIns="0" anchor="ctr">
            <a:noAutofit/>
          </a:bodyPr>
          <a:lstStyle/>
          <a:p>
            <a:pPr marL="0" indent="0">
              <a:buNone/>
              <a:defRPr sz="3000" b="1">
                <a:solidFill>
                  <a:srgbClr val="111111"/>
                </a:solidFill>
                <a:latin typeface="Cambria"/>
                <a:ea typeface="Cambria"/>
                <a:cs typeface="Cambria"/>
              </a:defRPr>
            </a:pPr>
            <a:r>
              <a:rPr sz="3000" b="1">
                <a:solidFill>
                  <a:srgbClr val="111111"/>
                </a:solidFill>
                <a:latin typeface="Cambria"/>
                <a:ea typeface="Cambria"/>
                <a:cs typeface="Cambria"/>
              </a:rPr>
              <a:t>Evaluation protocol</a:t>
            </a:r>
            <a:endParaRPr sz="2800"/>
          </a:p>
        </p:txBody>
      </p:sp>
      <p:graphicFrame>
        <p:nvGraphicFramePr>
          <p:cNvPr id="15" name="表格 14"/>
          <p:cNvGraphicFramePr/>
          <p:nvPr/>
        </p:nvGraphicFramePr>
        <p:xfrm>
          <a:off x="638175" y="1657350"/>
          <a:ext cx="10915650" cy="2590800"/>
        </p:xfrm>
        <a:graphic>
          <a:graphicData uri="http://schemas.openxmlformats.org/drawingml/2006/table">
            <a:tbl>
              <a:tblPr/>
              <a:tblGrid>
                <a:gridCol w="2524125">
                  <a:extLst>
                    <a:ext uri="{9D8B030D-6E8A-4147-A177-3AD203B41FA5}">
                      <a16:colId xmlns:a16="http://schemas.microsoft.com/office/drawing/2014/main" val="20000"/>
                    </a:ext>
                  </a:extLst>
                </a:gridCol>
                <a:gridCol w="2047875">
                  <a:extLst>
                    <a:ext uri="{9D8B030D-6E8A-4147-A177-3AD203B41FA5}">
                      <a16:colId xmlns:a16="http://schemas.microsoft.com/office/drawing/2014/main" val="20001"/>
                    </a:ext>
                  </a:extLst>
                </a:gridCol>
                <a:gridCol w="6343650">
                  <a:extLst>
                    <a:ext uri="{9D8B030D-6E8A-4147-A177-3AD203B41FA5}">
                      <a16:colId xmlns:a16="http://schemas.microsoft.com/office/drawing/2014/main" val="20002"/>
                    </a:ext>
                  </a:extLst>
                </a:gridCol>
              </a:tblGrid>
              <a:tr h="647700">
                <a:tc>
                  <a:txBody>
                    <a:bodyPr/>
                    <a:lstStyle/>
                    <a:p>
                      <a:r>
                        <a:rPr sz="1875" b="1">
                          <a:solidFill>
                            <a:srgbClr val="FFFFFF"/>
                          </a:solidFill>
                          <a:latin typeface="Calibri"/>
                          <a:ea typeface="Calibri"/>
                          <a:cs typeface="Calibri"/>
                        </a:rPr>
                        <a:t>Split</a:t>
                      </a:r>
                    </a:p>
                  </a:txBody>
                  <a:tcPr marL="114300" marR="95250" marT="66675" marB="47625" anchor="ctr">
                    <a:solidFill>
                      <a:srgbClr val="111111"/>
                    </a:solidFill>
                  </a:tcPr>
                </a:tc>
                <a:tc>
                  <a:txBody>
                    <a:bodyPr/>
                    <a:lstStyle/>
                    <a:p>
                      <a:r>
                        <a:rPr sz="1875" b="1">
                          <a:solidFill>
                            <a:srgbClr val="FFFFFF"/>
                          </a:solidFill>
                          <a:latin typeface="Calibri"/>
                          <a:ea typeface="Calibri"/>
                          <a:cs typeface="Calibri"/>
                        </a:rPr>
                        <a:t>Images</a:t>
                      </a:r>
                    </a:p>
                  </a:txBody>
                  <a:tcPr marL="114300" marR="95250" marT="66675" marB="47625" anchor="ctr">
                    <a:solidFill>
                      <a:srgbClr val="111111"/>
                    </a:solidFill>
                  </a:tcPr>
                </a:tc>
                <a:tc>
                  <a:txBody>
                    <a:bodyPr/>
                    <a:lstStyle/>
                    <a:p>
                      <a:r>
                        <a:rPr sz="1875" b="1">
                          <a:solidFill>
                            <a:srgbClr val="FFFFFF"/>
                          </a:solidFill>
                          <a:latin typeface="Calibri"/>
                          <a:ea typeface="Calibri"/>
                          <a:cs typeface="Calibri"/>
                        </a:rPr>
                        <a:t>Role</a:t>
                      </a:r>
                    </a:p>
                  </a:txBody>
                  <a:tcPr marL="114300" marR="95250" marT="66675" marB="47625" anchor="ctr">
                    <a:solidFill>
                      <a:srgbClr val="111111"/>
                    </a:solidFill>
                  </a:tcPr>
                </a:tc>
                <a:extLst>
                  <a:ext uri="{0D108BD9-81ED-4DB2-BD59-A6C34878D82A}">
                    <a16:rowId xmlns:a16="http://schemas.microsoft.com/office/drawing/2014/main" val="10000"/>
                  </a:ext>
                </a:extLst>
              </a:tr>
              <a:tr h="647700">
                <a:tc>
                  <a:txBody>
                    <a:bodyPr/>
                    <a:lstStyle/>
                    <a:p>
                      <a:r>
                        <a:rPr sz="1875" b="0">
                          <a:solidFill>
                            <a:srgbClr val="111111"/>
                          </a:solidFill>
                          <a:latin typeface="Calibri"/>
                          <a:ea typeface="Calibri"/>
                          <a:cs typeface="Calibri"/>
                        </a:rPr>
                        <a:t>Train</a:t>
                      </a:r>
                    </a:p>
                  </a:txBody>
                  <a:tcPr marL="114300" marR="95250" marT="66675" marB="47625" anchor="ctr">
                    <a:solidFill>
                      <a:srgbClr val="FFFFFF"/>
                    </a:solidFill>
                  </a:tcPr>
                </a:tc>
                <a:tc>
                  <a:txBody>
                    <a:bodyPr/>
                    <a:lstStyle/>
                    <a:p>
                      <a:r>
                        <a:rPr sz="1875" b="0">
                          <a:solidFill>
                            <a:srgbClr val="111111"/>
                          </a:solidFill>
                          <a:latin typeface="Calibri"/>
                          <a:ea typeface="Calibri"/>
                          <a:cs typeface="Calibri"/>
                        </a:rPr>
                        <a:t>5,716</a:t>
                      </a:r>
                    </a:p>
                  </a:txBody>
                  <a:tcPr marL="114300" marR="95250" marT="66675" marB="47625" anchor="ctr">
                    <a:solidFill>
                      <a:srgbClr val="FFFFFF"/>
                    </a:solidFill>
                  </a:tcPr>
                </a:tc>
                <a:tc>
                  <a:txBody>
                    <a:bodyPr/>
                    <a:lstStyle/>
                    <a:p>
                      <a:r>
                        <a:rPr sz="1875" b="0">
                          <a:solidFill>
                            <a:srgbClr val="111111"/>
                          </a:solidFill>
                          <a:latin typeface="Calibri"/>
                          <a:ea typeface="Calibri"/>
                          <a:cs typeface="Calibri"/>
                        </a:rPr>
                        <a:t>Parameter updates</a:t>
                      </a:r>
                    </a:p>
                  </a:txBody>
                  <a:tcPr marL="114300" marR="95250" marT="66675" marB="47625" anchor="ctr">
                    <a:solidFill>
                      <a:srgbClr val="FFFFFF"/>
                    </a:solidFill>
                  </a:tcPr>
                </a:tc>
                <a:extLst>
                  <a:ext uri="{0D108BD9-81ED-4DB2-BD59-A6C34878D82A}">
                    <a16:rowId xmlns:a16="http://schemas.microsoft.com/office/drawing/2014/main" val="10001"/>
                  </a:ext>
                </a:extLst>
              </a:tr>
              <a:tr h="647700">
                <a:tc>
                  <a:txBody>
                    <a:bodyPr/>
                    <a:lstStyle/>
                    <a:p>
                      <a:r>
                        <a:rPr sz="1875" b="0">
                          <a:solidFill>
                            <a:srgbClr val="111111"/>
                          </a:solidFill>
                          <a:latin typeface="Calibri"/>
                          <a:ea typeface="Calibri"/>
                          <a:cs typeface="Calibri"/>
                        </a:rPr>
                        <a:t>Validation</a:t>
                      </a:r>
                    </a:p>
                  </a:txBody>
                  <a:tcPr marL="114300" marR="95250" marT="66675" marB="47625" anchor="ctr">
                    <a:solidFill>
                      <a:srgbClr val="F3F3F3"/>
                    </a:solidFill>
                  </a:tcPr>
                </a:tc>
                <a:tc>
                  <a:txBody>
                    <a:bodyPr/>
                    <a:lstStyle/>
                    <a:p>
                      <a:r>
                        <a:rPr sz="1875" b="0">
                          <a:solidFill>
                            <a:srgbClr val="111111"/>
                          </a:solidFill>
                          <a:latin typeface="Calibri"/>
                          <a:ea typeface="Calibri"/>
                          <a:cs typeface="Calibri"/>
                        </a:rPr>
                        <a:t>1,429</a:t>
                      </a:r>
                    </a:p>
                  </a:txBody>
                  <a:tcPr marL="114300" marR="95250" marT="66675" marB="47625" anchor="ctr">
                    <a:solidFill>
                      <a:srgbClr val="F3F3F3"/>
                    </a:solidFill>
                  </a:tcPr>
                </a:tc>
                <a:tc>
                  <a:txBody>
                    <a:bodyPr/>
                    <a:lstStyle/>
                    <a:p>
                      <a:r>
                        <a:rPr sz="1875" b="0">
                          <a:solidFill>
                            <a:srgbClr val="111111"/>
                          </a:solidFill>
                          <a:latin typeface="Calibri"/>
                          <a:ea typeface="Calibri"/>
                          <a:cs typeface="Calibri"/>
                        </a:rPr>
                        <a:t>Checkpoint selection and diagnosis</a:t>
                      </a:r>
                    </a:p>
                  </a:txBody>
                  <a:tcPr marL="114300" marR="95250" marT="66675" marB="47625" anchor="ctr">
                    <a:solidFill>
                      <a:srgbClr val="F3F3F3"/>
                    </a:solidFill>
                  </a:tcPr>
                </a:tc>
                <a:extLst>
                  <a:ext uri="{0D108BD9-81ED-4DB2-BD59-A6C34878D82A}">
                    <a16:rowId xmlns:a16="http://schemas.microsoft.com/office/drawing/2014/main" val="10002"/>
                  </a:ext>
                </a:extLst>
              </a:tr>
              <a:tr h="647700">
                <a:tc>
                  <a:txBody>
                    <a:bodyPr/>
                    <a:lstStyle/>
                    <a:p>
                      <a:r>
                        <a:rPr sz="1875" b="0">
                          <a:solidFill>
                            <a:srgbClr val="111111"/>
                          </a:solidFill>
                          <a:latin typeface="Calibri"/>
                          <a:ea typeface="Calibri"/>
                          <a:cs typeface="Calibri"/>
                        </a:rPr>
                        <a:t>Test</a:t>
                      </a:r>
                    </a:p>
                  </a:txBody>
                  <a:tcPr marL="114300" marR="95250" marT="66675" marB="47625" anchor="ctr">
                    <a:solidFill>
                      <a:srgbClr val="FFFFFF"/>
                    </a:solidFill>
                  </a:tcPr>
                </a:tc>
                <a:tc>
                  <a:txBody>
                    <a:bodyPr/>
                    <a:lstStyle/>
                    <a:p>
                      <a:r>
                        <a:rPr sz="1875" b="0">
                          <a:solidFill>
                            <a:srgbClr val="111111"/>
                          </a:solidFill>
                          <a:latin typeface="Calibri"/>
                          <a:ea typeface="Calibri"/>
                          <a:cs typeface="Calibri"/>
                        </a:rPr>
                        <a:t>2,113</a:t>
                      </a:r>
                    </a:p>
                  </a:txBody>
                  <a:tcPr marL="114300" marR="95250" marT="66675" marB="47625" anchor="ctr">
                    <a:solidFill>
                      <a:srgbClr val="FFFFFF"/>
                    </a:solidFill>
                  </a:tcPr>
                </a:tc>
                <a:tc>
                  <a:txBody>
                    <a:bodyPr/>
                    <a:lstStyle/>
                    <a:p>
                      <a:r>
                        <a:rPr sz="1875" b="0">
                          <a:solidFill>
                            <a:srgbClr val="111111"/>
                          </a:solidFill>
                          <a:latin typeface="Calibri"/>
                          <a:ea typeface="Calibri"/>
                          <a:cs typeface="Calibri"/>
                        </a:rPr>
                        <a:t>Evaluation of selected checkpoints</a:t>
                      </a:r>
                    </a:p>
                  </a:txBody>
                  <a:tcPr marL="114300" marR="95250" marT="66675" marB="47625" anchor="ctr">
                    <a:solidFill>
                      <a:srgbClr val="FFFFFF"/>
                    </a:solidFill>
                  </a:tcPr>
                </a:tc>
                <a:extLst>
                  <a:ext uri="{0D108BD9-81ED-4DB2-BD59-A6C34878D82A}">
                    <a16:rowId xmlns:a16="http://schemas.microsoft.com/office/drawing/2014/main" val="10003"/>
                  </a:ext>
                </a:extLst>
              </a:tr>
            </a:tbl>
          </a:graphicData>
        </a:graphic>
      </p:graphicFrame>
      <p:sp>
        <p:nvSpPr>
          <p:cNvPr id="8" name="Inputs: 224 × 224. IoU and Dice are averaged per image.&#10;All ">
            <a:extLst>
              <a:ext uri="{FF2B5EF4-FFF2-40B4-BE49-F238E27FC236}">
                <a16:creationId xmlns:a16="http://schemas.microsoft.com/office/drawing/2014/main" id="{A88D7FB4-ED95-4D7D-BED2-771DFF8828E8}"/>
              </a:ext>
            </a:extLst>
          </p:cNvPr>
          <p:cNvSpPr>
            <a:spLocks noGrp="1"/>
          </p:cNvSpPr>
          <p:nvPr/>
        </p:nvSpPr>
        <p:spPr>
          <a:xfrm>
            <a:off x="638175" y="4552950"/>
            <a:ext cx="10915650" cy="771525"/>
          </a:xfrm>
          <a:prstGeom prst="rect">
            <a:avLst/>
          </a:prstGeom>
          <a:noFill/>
          <a:ln w="0">
            <a:noFill/>
          </a:ln>
        </p:spPr>
        <p:txBody>
          <a:bodyPr wrap="square" lIns="0" tIns="0" rIns="0" bIns="0" anchor="t">
            <a:noAutofit/>
          </a:bodyPr>
          <a:lstStyle/>
          <a:p>
            <a:pPr algn="l">
              <a:buNone/>
              <a:defRPr sz="1875" b="0">
                <a:solidFill>
                  <a:srgbClr val="111111"/>
                </a:solidFill>
                <a:latin typeface="Calibri"/>
                <a:ea typeface="Calibri"/>
                <a:cs typeface="Calibri"/>
              </a:defRPr>
            </a:pPr>
            <a:r>
              <a:rPr sz="1875" b="0">
                <a:solidFill>
                  <a:srgbClr val="111111"/>
                </a:solidFill>
                <a:latin typeface="Calibri"/>
                <a:ea typeface="Calibri"/>
                <a:cs typeface="Calibri"/>
              </a:rPr>
              <a:t>Inputs: 224 × 224. IoU and Dice are averaged per image.</a:t>
            </a:r>
          </a:p>
          <a:p>
            <a:pPr algn="l">
              <a:buNone/>
              <a:defRPr sz="1875" b="0">
                <a:solidFill>
                  <a:srgbClr val="111111"/>
                </a:solidFill>
                <a:latin typeface="Calibri"/>
                <a:ea typeface="Calibri"/>
                <a:cs typeface="Calibri"/>
              </a:defRPr>
            </a:pPr>
            <a:r>
              <a:rPr sz="1875" b="0">
                <a:solidFill>
                  <a:srgbClr val="111111"/>
                </a:solidFill>
                <a:latin typeface="Calibri"/>
                <a:ea typeface="Calibri"/>
                <a:cs typeface="Calibri"/>
              </a:rPr>
              <a:t>All headline results use threshold 0.5; optional calibrated thresholds stay separate.</a:t>
            </a:r>
          </a:p>
        </p:txBody>
      </p:sp>
      <p:sp>
        <p:nvSpPr>
          <p:cNvPr id="9" name="Current 80-epoch studies select the best checkpoint by valid">
            <a:extLst>
              <a:ext uri="{FF2B5EF4-FFF2-40B4-BE49-F238E27FC236}">
                <a16:creationId xmlns:a16="http://schemas.microsoft.com/office/drawing/2014/main" id="{5B37CFF2-9FCF-4707-841C-8227C740B98D}"/>
              </a:ext>
            </a:extLst>
          </p:cNvPr>
          <p:cNvSpPr>
            <a:spLocks noGrp="1"/>
          </p:cNvSpPr>
          <p:nvPr/>
        </p:nvSpPr>
        <p:spPr>
          <a:xfrm>
            <a:off x="638175" y="5534025"/>
            <a:ext cx="10915650" cy="733425"/>
          </a:xfrm>
          <a:prstGeom prst="rect">
            <a:avLst/>
          </a:prstGeom>
          <a:noFill/>
          <a:ln w="0">
            <a:noFill/>
          </a:ln>
        </p:spPr>
        <p:txBody>
          <a:bodyPr wrap="square" lIns="0" tIns="0" rIns="0" bIns="0" anchor="t">
            <a:noAutofit/>
          </a:bodyPr>
          <a:lstStyle/>
          <a:p>
            <a:pPr algn="l">
              <a:buNone/>
              <a:defRPr sz="1800" b="0">
                <a:solidFill>
                  <a:srgbClr val="606060"/>
                </a:solidFill>
                <a:latin typeface="Calibri"/>
                <a:ea typeface="Calibri"/>
                <a:cs typeface="Calibri"/>
              </a:defRPr>
            </a:pPr>
            <a:r>
              <a:rPr sz="1800" b="0">
                <a:solidFill>
                  <a:srgbClr val="606060"/>
                </a:solidFill>
                <a:latin typeface="Calibri"/>
                <a:ea typeface="Calibri"/>
                <a:cs typeface="Calibri"/>
              </a:rPr>
              <a:t>Current 80-epoch studies select the best checkpoint by validation macro IoU.</a:t>
            </a:r>
          </a:p>
          <a:p>
            <a:pPr algn="l">
              <a:buNone/>
              <a:defRPr sz="1800" b="0">
                <a:solidFill>
                  <a:srgbClr val="606060"/>
                </a:solidFill>
                <a:latin typeface="Calibri"/>
                <a:ea typeface="Calibri"/>
                <a:cs typeface="Calibri"/>
              </a:defRPr>
            </a:pPr>
            <a:r>
              <a:rPr sz="1800" b="0">
                <a:solidFill>
                  <a:srgbClr val="606060"/>
                </a:solidFill>
                <a:latin typeface="Calibri"/>
                <a:ea typeface="Calibri"/>
                <a:cs typeface="Calibri"/>
              </a:rPr>
              <a:t>The Test set has prior development access; independent-cohort validation is still needed.</a:t>
            </a:r>
          </a:p>
        </p:txBody>
      </p:sp>
      <p:sp>
        <p:nvSpPr>
          <p:cNvPr id="11" name="Backup: evaluation protocol">
            <a:extLst>
              <a:ext uri="{FF2B5EF4-FFF2-40B4-BE49-F238E27FC236}">
                <a16:creationId xmlns:a16="http://schemas.microsoft.com/office/drawing/2014/main" id="{2E00FCE5-B248-48B7-9C9A-6A79F7914177}"/>
              </a:ext>
            </a:extLst>
          </p:cNvPr>
          <p:cNvSpPr>
            <a:spLocks noGrp="1"/>
          </p:cNvSpPr>
          <p:nvPr/>
        </p:nvSpPr>
        <p:spPr>
          <a:xfrm>
            <a:off x="638175" y="6467475"/>
            <a:ext cx="9906000" cy="190500"/>
          </a:xfrm>
          <a:prstGeom prst="rect">
            <a:avLst/>
          </a:prstGeom>
          <a:noFill/>
          <a:ln w="0">
            <a:noFill/>
          </a:ln>
        </p:spPr>
        <p:txBody>
          <a:bodyPr wrap="square" lIns="0" tIns="0" rIns="0" bIns="0" anchor="t">
            <a:noAutofit/>
          </a:bodyPr>
          <a:lstStyle/>
          <a:p>
            <a:pPr algn="l">
              <a:buNone/>
              <a:defRPr sz="900" b="0">
                <a:solidFill>
                  <a:srgbClr val="999999"/>
                </a:solidFill>
                <a:latin typeface="Calibri"/>
                <a:ea typeface="Calibri"/>
                <a:cs typeface="Calibri"/>
              </a:defRPr>
            </a:pPr>
            <a:r>
              <a:rPr sz="900" b="0">
                <a:solidFill>
                  <a:srgbClr val="999999"/>
                </a:solidFill>
                <a:latin typeface="Calibri"/>
                <a:ea typeface="Calibri"/>
                <a:cs typeface="Calibri"/>
              </a:rPr>
              <a:t>Backup: evaluation protocol</a:t>
            </a:r>
          </a:p>
        </p:txBody>
      </p:sp>
      <p:sp>
        <p:nvSpPr>
          <p:cNvPr id="12" name="18">
            <a:extLst>
              <a:ext uri="{FF2B5EF4-FFF2-40B4-BE49-F238E27FC236}">
                <a16:creationId xmlns:a16="http://schemas.microsoft.com/office/drawing/2014/main" id="{563A123F-692E-4844-95A6-B70631C7CBAA}"/>
              </a:ext>
            </a:extLst>
          </p:cNvPr>
          <p:cNvSpPr>
            <a:spLocks noGrp="1"/>
          </p:cNvSpPr>
          <p:nvPr/>
        </p:nvSpPr>
        <p:spPr>
          <a:xfrm>
            <a:off x="11144250" y="6467475"/>
            <a:ext cx="409575" cy="190500"/>
          </a:xfrm>
          <a:prstGeom prst="rect">
            <a:avLst/>
          </a:prstGeom>
          <a:noFill/>
          <a:ln w="0">
            <a:noFill/>
          </a:ln>
        </p:spPr>
        <p:txBody>
          <a:bodyPr wrap="square" lIns="0" tIns="0" rIns="0" bIns="0" anchor="t">
            <a:noAutofit/>
          </a:bodyPr>
          <a:lstStyle/>
          <a:p>
            <a:pPr algn="r">
              <a:buNone/>
              <a:defRPr sz="900" b="0">
                <a:solidFill>
                  <a:srgbClr val="999999"/>
                </a:solidFill>
                <a:latin typeface="Calibri"/>
                <a:ea typeface="Calibri"/>
                <a:cs typeface="Calibri"/>
              </a:defRPr>
            </a:pPr>
            <a:r>
              <a:rPr sz="900" b="0">
                <a:solidFill>
                  <a:srgbClr val="999999"/>
                </a:solidFill>
                <a:latin typeface="Calibri"/>
                <a:ea typeface="Calibri"/>
                <a:cs typeface="Calibri"/>
              </a:rPr>
              <a:t>18</a:t>
            </a:r>
          </a:p>
        </p:txBody>
      </p:sp>
    </p:spTree>
    <p:extLst>
      <p:ext uri="{BB962C8B-B14F-4D97-AF65-F5344CB8AC3E}">
        <p14:creationId xmlns:p14="http://schemas.microsoft.com/office/powerpoint/2010/main" val="16548719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F9FBAF2A-F63A-4D89-9296-EE8EA1E39E50}"/>
              </a:ext>
            </a:extLst>
          </p:cNvPr>
          <p:cNvSpPr>
            <a:spLocks noGrp="1"/>
          </p:cNvSpPr>
          <p:nvPr/>
        </p:nvSpPr>
        <p:spPr>
          <a:xfrm>
            <a:off x="640080" y="361950"/>
            <a:ext cx="10915650" cy="952500"/>
          </a:xfrm>
          <a:prstGeom prst="rect">
            <a:avLst/>
          </a:prstGeom>
          <a:noFill/>
        </p:spPr>
        <p:txBody>
          <a:bodyPr wrap="square" lIns="0" tIns="0" rIns="0" bIns="0" anchor="ctr">
            <a:noAutofit/>
          </a:bodyPr>
          <a:lstStyle/>
          <a:p>
            <a:pPr marL="0" indent="0">
              <a:buNone/>
              <a:defRPr sz="3000" b="1">
                <a:solidFill>
                  <a:srgbClr val="111111"/>
                </a:solidFill>
                <a:latin typeface="Cambria"/>
                <a:ea typeface="Cambria"/>
                <a:cs typeface="Cambria"/>
              </a:defRPr>
            </a:pPr>
            <a:r>
              <a:rPr sz="3000" b="1">
                <a:solidFill>
                  <a:srgbClr val="111111"/>
                </a:solidFill>
                <a:latin typeface="Cambria"/>
                <a:ea typeface="Cambria"/>
                <a:cs typeface="Cambria"/>
              </a:rPr>
              <a:t>Reproducibility of the completed comparisons</a:t>
            </a:r>
            <a:endParaRPr sz="2800"/>
          </a:p>
        </p:txBody>
      </p:sp>
      <p:graphicFrame>
        <p:nvGraphicFramePr>
          <p:cNvPr id="8" name="表格 7"/>
          <p:cNvGraphicFramePr/>
          <p:nvPr/>
        </p:nvGraphicFramePr>
        <p:xfrm>
          <a:off x="638175" y="1704975"/>
          <a:ext cx="10915650" cy="4343400"/>
        </p:xfrm>
        <a:graphic>
          <a:graphicData uri="http://schemas.openxmlformats.org/drawingml/2006/table">
            <a:tbl>
              <a:tblPr/>
              <a:tblGrid>
                <a:gridCol w="3619500">
                  <a:extLst>
                    <a:ext uri="{9D8B030D-6E8A-4147-A177-3AD203B41FA5}">
                      <a16:colId xmlns:a16="http://schemas.microsoft.com/office/drawing/2014/main" val="20000"/>
                    </a:ext>
                  </a:extLst>
                </a:gridCol>
                <a:gridCol w="7296150">
                  <a:extLst>
                    <a:ext uri="{9D8B030D-6E8A-4147-A177-3AD203B41FA5}">
                      <a16:colId xmlns:a16="http://schemas.microsoft.com/office/drawing/2014/main" val="20001"/>
                    </a:ext>
                  </a:extLst>
                </a:gridCol>
              </a:tblGrid>
              <a:tr h="723900">
                <a:tc>
                  <a:txBody>
                    <a:bodyPr/>
                    <a:lstStyle/>
                    <a:p>
                      <a:r>
                        <a:rPr sz="1950" b="1">
                          <a:solidFill>
                            <a:srgbClr val="FFFFFF"/>
                          </a:solidFill>
                          <a:latin typeface="Calibri"/>
                          <a:ea typeface="Calibri"/>
                          <a:cs typeface="Calibri"/>
                        </a:rPr>
                        <a:t>Evidence</a:t>
                      </a:r>
                    </a:p>
                  </a:txBody>
                  <a:tcPr marL="114300" marR="95250" marT="66675" marB="47625" anchor="ctr">
                    <a:solidFill>
                      <a:srgbClr val="111111"/>
                    </a:solidFill>
                  </a:tcPr>
                </a:tc>
                <a:tc>
                  <a:txBody>
                    <a:bodyPr/>
                    <a:lstStyle/>
                    <a:p>
                      <a:r>
                        <a:rPr sz="1950" b="1">
                          <a:solidFill>
                            <a:srgbClr val="FFFFFF"/>
                          </a:solidFill>
                          <a:latin typeface="Calibri"/>
                          <a:ea typeface="Calibri"/>
                          <a:cs typeface="Calibri"/>
                        </a:rPr>
                        <a:t>Completed record</a:t>
                      </a:r>
                    </a:p>
                  </a:txBody>
                  <a:tcPr marL="114300" marR="95250" marT="66675" marB="47625" anchor="ctr">
                    <a:solidFill>
                      <a:srgbClr val="111111"/>
                    </a:solidFill>
                  </a:tcPr>
                </a:tc>
                <a:extLst>
                  <a:ext uri="{0D108BD9-81ED-4DB2-BD59-A6C34878D82A}">
                    <a16:rowId xmlns:a16="http://schemas.microsoft.com/office/drawing/2014/main" val="10000"/>
                  </a:ext>
                </a:extLst>
              </a:tr>
              <a:tr h="723900">
                <a:tc>
                  <a:txBody>
                    <a:bodyPr/>
                    <a:lstStyle/>
                    <a:p>
                      <a:r>
                        <a:rPr sz="1950" b="0">
                          <a:solidFill>
                            <a:srgbClr val="111111"/>
                          </a:solidFill>
                          <a:latin typeface="Calibri"/>
                          <a:ea typeface="Calibri"/>
                          <a:cs typeface="Calibri"/>
                        </a:rPr>
                        <a:t>FSDR effect</a:t>
                      </a:r>
                    </a:p>
                  </a:txBody>
                  <a:tcPr marL="114300" marR="95250" marT="66675" marB="47625" anchor="ctr">
                    <a:solidFill>
                      <a:srgbClr val="FFFFFF"/>
                    </a:solidFill>
                  </a:tcPr>
                </a:tc>
                <a:tc>
                  <a:txBody>
                    <a:bodyPr/>
                    <a:lstStyle/>
                    <a:p>
                      <a:r>
                        <a:rPr sz="1950" b="0">
                          <a:solidFill>
                            <a:srgbClr val="111111"/>
                          </a:solidFill>
                          <a:latin typeface="Calibri"/>
                          <a:ea typeface="Calibri"/>
                          <a:cs typeface="Calibri"/>
                        </a:rPr>
                        <a:t>Matched fusion configurations and per-image Test outputs</a:t>
                      </a:r>
                    </a:p>
                  </a:txBody>
                  <a:tcPr marL="114300" marR="95250" marT="66675" marB="47625" anchor="ctr">
                    <a:solidFill>
                      <a:srgbClr val="FFFFFF"/>
                    </a:solidFill>
                  </a:tcPr>
                </a:tc>
                <a:extLst>
                  <a:ext uri="{0D108BD9-81ED-4DB2-BD59-A6C34878D82A}">
                    <a16:rowId xmlns:a16="http://schemas.microsoft.com/office/drawing/2014/main" val="10001"/>
                  </a:ext>
                </a:extLst>
              </a:tr>
              <a:tr h="723900">
                <a:tc>
                  <a:txBody>
                    <a:bodyPr/>
                    <a:lstStyle/>
                    <a:p>
                      <a:r>
                        <a:rPr sz="1950" b="0">
                          <a:solidFill>
                            <a:srgbClr val="111111"/>
                          </a:solidFill>
                          <a:latin typeface="Calibri"/>
                          <a:ea typeface="Calibri"/>
                          <a:cs typeface="Calibri"/>
                        </a:rPr>
                        <a:t>Training recipe</a:t>
                      </a:r>
                    </a:p>
                  </a:txBody>
                  <a:tcPr marL="114300" marR="95250" marT="66675" marB="47625" anchor="ctr">
                    <a:solidFill>
                      <a:srgbClr val="F3F3F3"/>
                    </a:solidFill>
                  </a:tcPr>
                </a:tc>
                <a:tc>
                  <a:txBody>
                    <a:bodyPr/>
                    <a:lstStyle/>
                    <a:p>
                      <a:r>
                        <a:rPr sz="1950" b="0">
                          <a:solidFill>
                            <a:srgbClr val="111111"/>
                          </a:solidFill>
                          <a:latin typeface="Calibri"/>
                          <a:ea typeface="Calibri"/>
                          <a:cs typeface="Calibri"/>
                        </a:rPr>
                        <a:t>Three paired seeds with fixed validation selection</a:t>
                      </a:r>
                    </a:p>
                  </a:txBody>
                  <a:tcPr marL="114300" marR="95250" marT="66675" marB="47625" anchor="ctr">
                    <a:solidFill>
                      <a:srgbClr val="F3F3F3"/>
                    </a:solidFill>
                  </a:tcPr>
                </a:tc>
                <a:extLst>
                  <a:ext uri="{0D108BD9-81ED-4DB2-BD59-A6C34878D82A}">
                    <a16:rowId xmlns:a16="http://schemas.microsoft.com/office/drawing/2014/main" val="10002"/>
                  </a:ext>
                </a:extLst>
              </a:tr>
              <a:tr h="723900">
                <a:tc>
                  <a:txBody>
                    <a:bodyPr/>
                    <a:lstStyle/>
                    <a:p>
                      <a:r>
                        <a:rPr sz="1950" b="0">
                          <a:solidFill>
                            <a:srgbClr val="111111"/>
                          </a:solidFill>
                          <a:latin typeface="Calibri"/>
                          <a:ea typeface="Calibri"/>
                          <a:cs typeface="Calibri"/>
                        </a:rPr>
                        <a:t>RACE configuration</a:t>
                      </a:r>
                    </a:p>
                  </a:txBody>
                  <a:tcPr marL="114300" marR="95250" marT="66675" marB="47625" anchor="ctr">
                    <a:solidFill>
                      <a:srgbClr val="FFFFFF"/>
                    </a:solidFill>
                  </a:tcPr>
                </a:tc>
                <a:tc>
                  <a:txBody>
                    <a:bodyPr/>
                    <a:lstStyle/>
                    <a:p>
                      <a:r>
                        <a:rPr sz="1950" b="0">
                          <a:solidFill>
                            <a:srgbClr val="111111"/>
                          </a:solidFill>
                          <a:latin typeface="Calibri"/>
                          <a:ea typeface="Calibri"/>
                          <a:cs typeface="Calibri"/>
                        </a:rPr>
                        <a:t>Control, auxiliary-only and full routing: Val and Test complete</a:t>
                      </a:r>
                    </a:p>
                  </a:txBody>
                  <a:tcPr marL="114300" marR="95250" marT="66675" marB="47625" anchor="ctr">
                    <a:solidFill>
                      <a:srgbClr val="FFFFFF"/>
                    </a:solidFill>
                  </a:tcPr>
                </a:tc>
                <a:extLst>
                  <a:ext uri="{0D108BD9-81ED-4DB2-BD59-A6C34878D82A}">
                    <a16:rowId xmlns:a16="http://schemas.microsoft.com/office/drawing/2014/main" val="10003"/>
                  </a:ext>
                </a:extLst>
              </a:tr>
              <a:tr h="723900">
                <a:tc>
                  <a:txBody>
                    <a:bodyPr/>
                    <a:lstStyle/>
                    <a:p>
                      <a:r>
                        <a:rPr sz="1950" b="0">
                          <a:solidFill>
                            <a:srgbClr val="111111"/>
                          </a:solidFill>
                          <a:latin typeface="Calibri"/>
                          <a:ea typeface="Calibri"/>
                          <a:cs typeface="Calibri"/>
                        </a:rPr>
                        <a:t>RACE attribution</a:t>
                      </a:r>
                    </a:p>
                  </a:txBody>
                  <a:tcPr marL="114300" marR="95250" marT="66675" marB="47625" anchor="ctr">
                    <a:solidFill>
                      <a:srgbClr val="F3F3F3"/>
                    </a:solidFill>
                  </a:tcPr>
                </a:tc>
                <a:tc>
                  <a:txBody>
                    <a:bodyPr/>
                    <a:lstStyle/>
                    <a:p>
                      <a:r>
                        <a:rPr sz="1950" b="0">
                          <a:solidFill>
                            <a:srgbClr val="111111"/>
                          </a:solidFill>
                          <a:latin typeface="Calibri"/>
                          <a:ea typeface="Calibri"/>
                          <a:cs typeface="Calibri"/>
                        </a:rPr>
                        <a:t>Matched training contrasts and separate fixed-model diagnostics</a:t>
                      </a:r>
                    </a:p>
                  </a:txBody>
                  <a:tcPr marL="114300" marR="95250" marT="66675" marB="47625" anchor="ctr">
                    <a:solidFill>
                      <a:srgbClr val="F3F3F3"/>
                    </a:solidFill>
                  </a:tcPr>
                </a:tc>
                <a:extLst>
                  <a:ext uri="{0D108BD9-81ED-4DB2-BD59-A6C34878D82A}">
                    <a16:rowId xmlns:a16="http://schemas.microsoft.com/office/drawing/2014/main" val="10004"/>
                  </a:ext>
                </a:extLst>
              </a:tr>
              <a:tr h="723900">
                <a:tc>
                  <a:txBody>
                    <a:bodyPr/>
                    <a:lstStyle/>
                    <a:p>
                      <a:r>
                        <a:rPr sz="1950" b="0">
                          <a:solidFill>
                            <a:srgbClr val="111111"/>
                          </a:solidFill>
                          <a:latin typeface="Calibri"/>
                          <a:ea typeface="Calibri"/>
                          <a:cs typeface="Calibri"/>
                        </a:rPr>
                        <a:t>Traceability</a:t>
                      </a:r>
                    </a:p>
                  </a:txBody>
                  <a:tcPr marL="114300" marR="95250" marT="66675" marB="47625" anchor="ctr">
                    <a:solidFill>
                      <a:srgbClr val="FFFFFF"/>
                    </a:solidFill>
                  </a:tcPr>
                </a:tc>
                <a:tc>
                  <a:txBody>
                    <a:bodyPr/>
                    <a:lstStyle/>
                    <a:p>
                      <a:r>
                        <a:rPr sz="1950" b="0">
                          <a:solidFill>
                            <a:srgbClr val="111111"/>
                          </a:solidFill>
                          <a:latin typeface="Calibri"/>
                          <a:ea typeface="Calibri"/>
                          <a:cs typeface="Calibri"/>
                        </a:rPr>
                        <a:t>Source revisions, experiment tags and checkpoint hashes</a:t>
                      </a:r>
                    </a:p>
                  </a:txBody>
                  <a:tcPr marL="114300" marR="95250" marT="66675" marB="47625" anchor="ctr">
                    <a:solidFill>
                      <a:srgbClr val="FFFFFF"/>
                    </a:solidFill>
                  </a:tcPr>
                </a:tc>
                <a:extLst>
                  <a:ext uri="{0D108BD9-81ED-4DB2-BD59-A6C34878D82A}">
                    <a16:rowId xmlns:a16="http://schemas.microsoft.com/office/drawing/2014/main" val="10005"/>
                  </a:ext>
                </a:extLst>
              </a:tr>
            </a:tbl>
          </a:graphicData>
        </a:graphic>
      </p:graphicFrame>
      <p:sp>
        <p:nvSpPr>
          <p:cNvPr id="4" name="Backup: reproducibility">
            <a:extLst>
              <a:ext uri="{FF2B5EF4-FFF2-40B4-BE49-F238E27FC236}">
                <a16:creationId xmlns:a16="http://schemas.microsoft.com/office/drawing/2014/main" id="{484D9AB0-7F03-4F37-B459-5F923602EA8C}"/>
              </a:ext>
            </a:extLst>
          </p:cNvPr>
          <p:cNvSpPr>
            <a:spLocks noGrp="1"/>
          </p:cNvSpPr>
          <p:nvPr/>
        </p:nvSpPr>
        <p:spPr>
          <a:xfrm>
            <a:off x="638175" y="6467475"/>
            <a:ext cx="9906000" cy="190500"/>
          </a:xfrm>
          <a:prstGeom prst="rect">
            <a:avLst/>
          </a:prstGeom>
          <a:noFill/>
          <a:ln w="0">
            <a:noFill/>
          </a:ln>
        </p:spPr>
        <p:txBody>
          <a:bodyPr wrap="square" lIns="0" tIns="0" rIns="0" bIns="0" anchor="t">
            <a:noAutofit/>
          </a:bodyPr>
          <a:lstStyle/>
          <a:p>
            <a:pPr algn="l">
              <a:buNone/>
              <a:defRPr sz="900" b="0">
                <a:solidFill>
                  <a:srgbClr val="999999"/>
                </a:solidFill>
                <a:latin typeface="Calibri"/>
                <a:ea typeface="Calibri"/>
                <a:cs typeface="Calibri"/>
              </a:defRPr>
            </a:pPr>
            <a:r>
              <a:rPr sz="900" b="0">
                <a:solidFill>
                  <a:srgbClr val="999999"/>
                </a:solidFill>
                <a:latin typeface="Calibri"/>
                <a:ea typeface="Calibri"/>
                <a:cs typeface="Calibri"/>
              </a:rPr>
              <a:t>Backup: reproducibility</a:t>
            </a:r>
          </a:p>
        </p:txBody>
      </p:sp>
      <p:sp>
        <p:nvSpPr>
          <p:cNvPr id="5" name="19">
            <a:extLst>
              <a:ext uri="{FF2B5EF4-FFF2-40B4-BE49-F238E27FC236}">
                <a16:creationId xmlns:a16="http://schemas.microsoft.com/office/drawing/2014/main" id="{6C236D68-B970-4970-A2E6-D76FEC8CBF0C}"/>
              </a:ext>
            </a:extLst>
          </p:cNvPr>
          <p:cNvSpPr>
            <a:spLocks noGrp="1"/>
          </p:cNvSpPr>
          <p:nvPr/>
        </p:nvSpPr>
        <p:spPr>
          <a:xfrm>
            <a:off x="11144250" y="6467475"/>
            <a:ext cx="409575" cy="190500"/>
          </a:xfrm>
          <a:prstGeom prst="rect">
            <a:avLst/>
          </a:prstGeom>
          <a:noFill/>
          <a:ln w="0">
            <a:noFill/>
          </a:ln>
        </p:spPr>
        <p:txBody>
          <a:bodyPr wrap="square" lIns="0" tIns="0" rIns="0" bIns="0" anchor="t">
            <a:noAutofit/>
          </a:bodyPr>
          <a:lstStyle/>
          <a:p>
            <a:pPr algn="r">
              <a:buNone/>
              <a:defRPr sz="900" b="0">
                <a:solidFill>
                  <a:srgbClr val="999999"/>
                </a:solidFill>
                <a:latin typeface="Calibri"/>
                <a:ea typeface="Calibri"/>
                <a:cs typeface="Calibri"/>
              </a:defRPr>
            </a:pPr>
            <a:r>
              <a:rPr sz="900" b="0">
                <a:solidFill>
                  <a:srgbClr val="999999"/>
                </a:solidFill>
                <a:latin typeface="Calibri"/>
                <a:ea typeface="Calibri"/>
                <a:cs typeface="Calibri"/>
              </a:rPr>
              <a:t>19</a:t>
            </a:r>
          </a:p>
        </p:txBody>
      </p:sp>
    </p:spTree>
    <p:extLst>
      <p:ext uri="{BB962C8B-B14F-4D97-AF65-F5344CB8AC3E}">
        <p14:creationId xmlns:p14="http://schemas.microsoft.com/office/powerpoint/2010/main" val="19642900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FE3FD9A6-3036-490C-908C-7AD6F44BFACB}"/>
              </a:ext>
            </a:extLst>
          </p:cNvPr>
          <p:cNvSpPr>
            <a:spLocks noGrp="1"/>
          </p:cNvSpPr>
          <p:nvPr/>
        </p:nvSpPr>
        <p:spPr>
          <a:xfrm>
            <a:off x="640080" y="361950"/>
            <a:ext cx="10915650" cy="952500"/>
          </a:xfrm>
          <a:prstGeom prst="rect">
            <a:avLst/>
          </a:prstGeom>
          <a:noFill/>
        </p:spPr>
        <p:txBody>
          <a:bodyPr wrap="square" lIns="0" tIns="0" rIns="0" bIns="0" anchor="ctr">
            <a:noAutofit/>
          </a:bodyPr>
          <a:lstStyle/>
          <a:p>
            <a:pPr marL="0" indent="0">
              <a:buNone/>
              <a:defRPr sz="3000" b="1">
                <a:solidFill>
                  <a:srgbClr val="111111"/>
                </a:solidFill>
                <a:latin typeface="Cambria"/>
                <a:ea typeface="Cambria"/>
                <a:cs typeface="Cambria"/>
              </a:defRPr>
            </a:pPr>
            <a:r>
              <a:rPr sz="3000" b="1">
                <a:solidFill>
                  <a:srgbClr val="111111"/>
                </a:solidFill>
                <a:latin typeface="Cambria"/>
                <a:ea typeface="Cambria"/>
                <a:cs typeface="Cambria"/>
              </a:rPr>
              <a:t>RACE: report-target binding comparison</a:t>
            </a:r>
            <a:endParaRPr sz="2800"/>
          </a:p>
        </p:txBody>
      </p:sp>
      <p:graphicFrame>
        <p:nvGraphicFramePr>
          <p:cNvPr id="10" name="表格 9"/>
          <p:cNvGraphicFramePr/>
          <p:nvPr/>
        </p:nvGraphicFramePr>
        <p:xfrm>
          <a:off x="638175" y="1714500"/>
          <a:ext cx="10915650" cy="3048000"/>
        </p:xfrm>
        <a:graphic>
          <a:graphicData uri="http://schemas.openxmlformats.org/drawingml/2006/table">
            <a:tbl>
              <a:tblPr/>
              <a:tblGrid>
                <a:gridCol w="5581650">
                  <a:extLst>
                    <a:ext uri="{9D8B030D-6E8A-4147-A177-3AD203B41FA5}">
                      <a16:colId xmlns:a16="http://schemas.microsoft.com/office/drawing/2014/main" val="20000"/>
                    </a:ext>
                  </a:extLst>
                </a:gridCol>
                <a:gridCol w="2667000">
                  <a:extLst>
                    <a:ext uri="{9D8B030D-6E8A-4147-A177-3AD203B41FA5}">
                      <a16:colId xmlns:a16="http://schemas.microsoft.com/office/drawing/2014/main" val="20001"/>
                    </a:ext>
                  </a:extLst>
                </a:gridCol>
                <a:gridCol w="2667000">
                  <a:extLst>
                    <a:ext uri="{9D8B030D-6E8A-4147-A177-3AD203B41FA5}">
                      <a16:colId xmlns:a16="http://schemas.microsoft.com/office/drawing/2014/main" val="20002"/>
                    </a:ext>
                  </a:extLst>
                </a:gridCol>
              </a:tblGrid>
              <a:tr h="762000">
                <a:tc>
                  <a:txBody>
                    <a:bodyPr/>
                    <a:lstStyle/>
                    <a:p>
                      <a:r>
                        <a:rPr sz="2025" b="1">
                          <a:solidFill>
                            <a:srgbClr val="FFFFFF"/>
                          </a:solidFill>
                          <a:latin typeface="Calibri"/>
                          <a:ea typeface="Calibri"/>
                          <a:cs typeface="Calibri"/>
                        </a:rPr>
                        <a:t>Configuration</a:t>
                      </a:r>
                    </a:p>
                  </a:txBody>
                  <a:tcPr marL="114300" marR="95250" marT="66675" marB="47625" anchor="ctr">
                    <a:solidFill>
                      <a:srgbClr val="111111"/>
                    </a:solidFill>
                  </a:tcPr>
                </a:tc>
                <a:tc>
                  <a:txBody>
                    <a:bodyPr/>
                    <a:lstStyle/>
                    <a:p>
                      <a:r>
                        <a:rPr sz="2025" b="1">
                          <a:solidFill>
                            <a:srgbClr val="FFFFFF"/>
                          </a:solidFill>
                          <a:latin typeface="Calibri"/>
                          <a:ea typeface="Calibri"/>
                          <a:cs typeface="Calibri"/>
                        </a:rPr>
                        <a:t>Test IoU</a:t>
                      </a:r>
                    </a:p>
                  </a:txBody>
                  <a:tcPr marL="114300" marR="95250" marT="66675" marB="47625" anchor="ctr">
                    <a:solidFill>
                      <a:srgbClr val="111111"/>
                    </a:solidFill>
                  </a:tcPr>
                </a:tc>
                <a:tc>
                  <a:txBody>
                    <a:bodyPr/>
                    <a:lstStyle/>
                    <a:p>
                      <a:r>
                        <a:rPr sz="2025" b="1">
                          <a:solidFill>
                            <a:srgbClr val="FFFFFF"/>
                          </a:solidFill>
                          <a:latin typeface="Calibri"/>
                          <a:ea typeface="Calibri"/>
                          <a:cs typeface="Calibri"/>
                        </a:rPr>
                        <a:t>Test Dice</a:t>
                      </a:r>
                    </a:p>
                  </a:txBody>
                  <a:tcPr marL="114300" marR="95250" marT="66675" marB="47625" anchor="ctr">
                    <a:solidFill>
                      <a:srgbClr val="111111"/>
                    </a:solidFill>
                  </a:tcPr>
                </a:tc>
                <a:extLst>
                  <a:ext uri="{0D108BD9-81ED-4DB2-BD59-A6C34878D82A}">
                    <a16:rowId xmlns:a16="http://schemas.microsoft.com/office/drawing/2014/main" val="10000"/>
                  </a:ext>
                </a:extLst>
              </a:tr>
              <a:tr h="762000">
                <a:tc>
                  <a:txBody>
                    <a:bodyPr/>
                    <a:lstStyle/>
                    <a:p>
                      <a:r>
                        <a:rPr sz="2025" b="0">
                          <a:solidFill>
                            <a:srgbClr val="111111"/>
                          </a:solidFill>
                          <a:latin typeface="Calibri"/>
                          <a:ea typeface="Calibri"/>
                          <a:cs typeface="Calibri"/>
                        </a:rPr>
                        <a:t>FSDR control</a:t>
                      </a:r>
                    </a:p>
                  </a:txBody>
                  <a:tcPr marL="114300" marR="95250" marT="66675" marB="47625" anchor="ctr">
                    <a:solidFill>
                      <a:srgbClr val="FFFFFF"/>
                    </a:solidFill>
                  </a:tcPr>
                </a:tc>
                <a:tc>
                  <a:txBody>
                    <a:bodyPr/>
                    <a:lstStyle/>
                    <a:p>
                      <a:r>
                        <a:rPr sz="2025" b="0">
                          <a:solidFill>
                            <a:srgbClr val="111111"/>
                          </a:solidFill>
                          <a:latin typeface="Calibri"/>
                          <a:ea typeface="Calibri"/>
                          <a:cs typeface="Calibri"/>
                        </a:rPr>
                        <a:t>75.8098%</a:t>
                      </a:r>
                    </a:p>
                  </a:txBody>
                  <a:tcPr marL="114300" marR="95250" marT="66675" marB="47625" anchor="ctr">
                    <a:solidFill>
                      <a:srgbClr val="FFFFFF"/>
                    </a:solidFill>
                  </a:tcPr>
                </a:tc>
                <a:tc>
                  <a:txBody>
                    <a:bodyPr/>
                    <a:lstStyle/>
                    <a:p>
                      <a:r>
                        <a:rPr sz="2025" b="0">
                          <a:solidFill>
                            <a:srgbClr val="111111"/>
                          </a:solidFill>
                          <a:latin typeface="Calibri"/>
                          <a:ea typeface="Calibri"/>
                          <a:cs typeface="Calibri"/>
                        </a:rPr>
                        <a:t>84.4236%</a:t>
                      </a:r>
                    </a:p>
                  </a:txBody>
                  <a:tcPr marL="114300" marR="95250" marT="66675" marB="47625" anchor="ctr">
                    <a:solidFill>
                      <a:srgbClr val="FFFFFF"/>
                    </a:solidFill>
                  </a:tcPr>
                </a:tc>
                <a:extLst>
                  <a:ext uri="{0D108BD9-81ED-4DB2-BD59-A6C34878D82A}">
                    <a16:rowId xmlns:a16="http://schemas.microsoft.com/office/drawing/2014/main" val="10001"/>
                  </a:ext>
                </a:extLst>
              </a:tr>
              <a:tr h="762000">
                <a:tc>
                  <a:txBody>
                    <a:bodyPr/>
                    <a:lstStyle/>
                    <a:p>
                      <a:r>
                        <a:rPr sz="2025" b="0">
                          <a:solidFill>
                            <a:srgbClr val="111111"/>
                          </a:solidFill>
                          <a:latin typeface="Calibri"/>
                          <a:ea typeface="Calibri"/>
                          <a:cs typeface="Calibri"/>
                        </a:rPr>
                        <a:t>RACE · original target binding</a:t>
                      </a:r>
                    </a:p>
                  </a:txBody>
                  <a:tcPr marL="114300" marR="95250" marT="66675" marB="47625" anchor="ctr">
                    <a:solidFill>
                      <a:srgbClr val="F3F3F3"/>
                    </a:solidFill>
                  </a:tcPr>
                </a:tc>
                <a:tc>
                  <a:txBody>
                    <a:bodyPr/>
                    <a:lstStyle/>
                    <a:p>
                      <a:r>
                        <a:rPr sz="2025" b="0">
                          <a:solidFill>
                            <a:srgbClr val="111111"/>
                          </a:solidFill>
                          <a:latin typeface="Calibri"/>
                          <a:ea typeface="Calibri"/>
                          <a:cs typeface="Calibri"/>
                        </a:rPr>
                        <a:t>75.9505%</a:t>
                      </a:r>
                    </a:p>
                  </a:txBody>
                  <a:tcPr marL="114300" marR="95250" marT="66675" marB="47625" anchor="ctr">
                    <a:solidFill>
                      <a:srgbClr val="F3F3F3"/>
                    </a:solidFill>
                  </a:tcPr>
                </a:tc>
                <a:tc>
                  <a:txBody>
                    <a:bodyPr/>
                    <a:lstStyle/>
                    <a:p>
                      <a:r>
                        <a:rPr sz="2025" b="0">
                          <a:solidFill>
                            <a:srgbClr val="111111"/>
                          </a:solidFill>
                          <a:latin typeface="Calibri"/>
                          <a:ea typeface="Calibri"/>
                          <a:cs typeface="Calibri"/>
                        </a:rPr>
                        <a:t>84.5237%</a:t>
                      </a:r>
                    </a:p>
                  </a:txBody>
                  <a:tcPr marL="114300" marR="95250" marT="66675" marB="47625" anchor="ctr">
                    <a:solidFill>
                      <a:srgbClr val="F3F3F3"/>
                    </a:solidFill>
                  </a:tcPr>
                </a:tc>
                <a:extLst>
                  <a:ext uri="{0D108BD9-81ED-4DB2-BD59-A6C34878D82A}">
                    <a16:rowId xmlns:a16="http://schemas.microsoft.com/office/drawing/2014/main" val="10002"/>
                  </a:ext>
                </a:extLst>
              </a:tr>
              <a:tr h="762000">
                <a:tc>
                  <a:txBody>
                    <a:bodyPr/>
                    <a:lstStyle/>
                    <a:p>
                      <a:r>
                        <a:rPr sz="2025" b="0">
                          <a:solidFill>
                            <a:srgbClr val="111111"/>
                          </a:solidFill>
                          <a:latin typeface="Calibri"/>
                          <a:ea typeface="Calibri"/>
                          <a:cs typeface="Calibri"/>
                        </a:rPr>
                        <a:t>RACE · corrected target binding</a:t>
                      </a:r>
                    </a:p>
                  </a:txBody>
                  <a:tcPr marL="114300" marR="95250" marT="66675" marB="47625" anchor="ctr">
                    <a:solidFill>
                      <a:srgbClr val="FFFFFF"/>
                    </a:solidFill>
                  </a:tcPr>
                </a:tc>
                <a:tc>
                  <a:txBody>
                    <a:bodyPr/>
                    <a:lstStyle/>
                    <a:p>
                      <a:r>
                        <a:rPr sz="2025" b="0">
                          <a:solidFill>
                            <a:srgbClr val="111111"/>
                          </a:solidFill>
                          <a:latin typeface="Calibri"/>
                          <a:ea typeface="Calibri"/>
                          <a:cs typeface="Calibri"/>
                        </a:rPr>
                        <a:t>76.2485%</a:t>
                      </a:r>
                    </a:p>
                  </a:txBody>
                  <a:tcPr marL="114300" marR="95250" marT="66675" marB="47625" anchor="ctr">
                    <a:solidFill>
                      <a:srgbClr val="FFFFFF"/>
                    </a:solidFill>
                  </a:tcPr>
                </a:tc>
                <a:tc>
                  <a:txBody>
                    <a:bodyPr/>
                    <a:lstStyle/>
                    <a:p>
                      <a:r>
                        <a:rPr sz="2025" b="0">
                          <a:solidFill>
                            <a:srgbClr val="111111"/>
                          </a:solidFill>
                          <a:latin typeface="Calibri"/>
                          <a:ea typeface="Calibri"/>
                          <a:cs typeface="Calibri"/>
                        </a:rPr>
                        <a:t>84.7097%</a:t>
                      </a:r>
                    </a:p>
                  </a:txBody>
                  <a:tcPr marL="114300" marR="95250" marT="66675" marB="47625" anchor="ctr">
                    <a:solidFill>
                      <a:srgbClr val="FFFFFF"/>
                    </a:solidFill>
                  </a:tcPr>
                </a:tc>
                <a:extLst>
                  <a:ext uri="{0D108BD9-81ED-4DB2-BD59-A6C34878D82A}">
                    <a16:rowId xmlns:a16="http://schemas.microsoft.com/office/drawing/2014/main" val="10003"/>
                  </a:ext>
                </a:extLst>
              </a:tr>
            </a:tbl>
          </a:graphicData>
        </a:graphic>
      </p:graphicFrame>
      <p:sp>
        <p:nvSpPr>
          <p:cNvPr id="4" name="Corrected vs original binding: Test IoU +0.2981 pp">
            <a:extLst>
              <a:ext uri="{FF2B5EF4-FFF2-40B4-BE49-F238E27FC236}">
                <a16:creationId xmlns:a16="http://schemas.microsoft.com/office/drawing/2014/main" id="{4A7807E6-5C57-4BBF-B80F-7C8C1571F95E}"/>
              </a:ext>
            </a:extLst>
          </p:cNvPr>
          <p:cNvSpPr>
            <a:spLocks noGrp="1"/>
          </p:cNvSpPr>
          <p:nvPr/>
        </p:nvSpPr>
        <p:spPr>
          <a:xfrm>
            <a:off x="638175" y="5048250"/>
            <a:ext cx="10915650" cy="542925"/>
          </a:xfrm>
          <a:prstGeom prst="rect">
            <a:avLst/>
          </a:prstGeom>
          <a:noFill/>
          <a:ln w="0">
            <a:noFill/>
          </a:ln>
        </p:spPr>
        <p:txBody>
          <a:bodyPr wrap="square" lIns="0" tIns="0" rIns="0" bIns="0" anchor="t">
            <a:noAutofit/>
          </a:bodyPr>
          <a:lstStyle/>
          <a:p>
            <a:pPr algn="l">
              <a:buNone/>
              <a:defRPr sz="1875" b="1">
                <a:solidFill>
                  <a:srgbClr val="111111"/>
                </a:solidFill>
                <a:latin typeface="Calibri"/>
                <a:ea typeface="Calibri"/>
                <a:cs typeface="Calibri"/>
              </a:defRPr>
            </a:pPr>
            <a:r>
              <a:rPr sz="1875" b="1">
                <a:solidFill>
                  <a:srgbClr val="111111"/>
                </a:solidFill>
                <a:latin typeface="Calibri"/>
                <a:ea typeface="Calibri"/>
                <a:cs typeface="Calibri"/>
              </a:rPr>
              <a:t>Corrected vs original binding: Test IoU +0.2981 pp; image 95% CI [+0.0538, +0.5404].</a:t>
            </a:r>
          </a:p>
        </p:txBody>
      </p:sp>
      <p:sp>
        <p:nvSpPr>
          <p:cNvPr id="5" name="Validation difference: −0.1107 pp (interval crosse">
            <a:extLst>
              <a:ext uri="{FF2B5EF4-FFF2-40B4-BE49-F238E27FC236}">
                <a16:creationId xmlns:a16="http://schemas.microsoft.com/office/drawing/2014/main" id="{EFFBCCF0-9DD9-441F-BA22-FCB7BD8AF9EE}"/>
              </a:ext>
            </a:extLst>
          </p:cNvPr>
          <p:cNvSpPr>
            <a:spLocks noGrp="1"/>
          </p:cNvSpPr>
          <p:nvPr/>
        </p:nvSpPr>
        <p:spPr>
          <a:xfrm>
            <a:off x="638175" y="5667375"/>
            <a:ext cx="10915650" cy="609600"/>
          </a:xfrm>
          <a:prstGeom prst="rect">
            <a:avLst/>
          </a:prstGeom>
          <a:noFill/>
          <a:ln w="0">
            <a:noFill/>
          </a:ln>
        </p:spPr>
        <p:txBody>
          <a:bodyPr wrap="square" lIns="0" tIns="0" rIns="0" bIns="0" anchor="t">
            <a:noAutofit/>
          </a:bodyPr>
          <a:lstStyle/>
          <a:p>
            <a:pPr algn="l">
              <a:buNone/>
              <a:defRPr sz="1800" b="0">
                <a:solidFill>
                  <a:srgbClr val="606060"/>
                </a:solidFill>
                <a:latin typeface="Calibri"/>
                <a:ea typeface="Calibri"/>
                <a:cs typeface="Calibri"/>
              </a:defRPr>
            </a:pPr>
            <a:r>
              <a:rPr sz="1800" b="0">
                <a:solidFill>
                  <a:srgbClr val="606060"/>
                </a:solidFill>
                <a:latin typeface="Calibri"/>
                <a:ea typeface="Calibri"/>
                <a:cs typeface="Calibri"/>
              </a:rPr>
              <a:t>Validation difference: −0.1107 pp (interval crosses zero).</a:t>
            </a:r>
          </a:p>
          <a:p>
            <a:pPr algn="l">
              <a:buNone/>
              <a:defRPr sz="1800" b="0">
                <a:solidFill>
                  <a:srgbClr val="606060"/>
                </a:solidFill>
                <a:latin typeface="Calibri"/>
                <a:ea typeface="Calibri"/>
                <a:cs typeface="Calibri"/>
              </a:defRPr>
            </a:pPr>
            <a:r>
              <a:rPr sz="1800" b="0">
                <a:solidFill>
                  <a:srgbClr val="606060"/>
                </a:solidFill>
                <a:latin typeface="Calibri"/>
                <a:ea typeface="Calibri"/>
                <a:cs typeface="Calibri"/>
              </a:rPr>
              <a:t>Binding repair improves target assignment; it is not the architectural contribution.</a:t>
            </a:r>
          </a:p>
        </p:txBody>
      </p:sp>
      <p:sp>
        <p:nvSpPr>
          <p:cNvPr id="6" name="Backup: binding comparison">
            <a:extLst>
              <a:ext uri="{FF2B5EF4-FFF2-40B4-BE49-F238E27FC236}">
                <a16:creationId xmlns:a16="http://schemas.microsoft.com/office/drawing/2014/main" id="{9EE7FE15-B3F9-412F-828C-4CE89DC5B2CA}"/>
              </a:ext>
            </a:extLst>
          </p:cNvPr>
          <p:cNvSpPr>
            <a:spLocks noGrp="1"/>
          </p:cNvSpPr>
          <p:nvPr/>
        </p:nvSpPr>
        <p:spPr>
          <a:xfrm>
            <a:off x="638175" y="6467475"/>
            <a:ext cx="9906000" cy="190500"/>
          </a:xfrm>
          <a:prstGeom prst="rect">
            <a:avLst/>
          </a:prstGeom>
          <a:noFill/>
          <a:ln w="0">
            <a:noFill/>
          </a:ln>
        </p:spPr>
        <p:txBody>
          <a:bodyPr wrap="square" lIns="0" tIns="0" rIns="0" bIns="0" anchor="t">
            <a:noAutofit/>
          </a:bodyPr>
          <a:lstStyle/>
          <a:p>
            <a:pPr algn="l">
              <a:buNone/>
              <a:defRPr sz="900" b="0">
                <a:solidFill>
                  <a:srgbClr val="999999"/>
                </a:solidFill>
                <a:latin typeface="Calibri"/>
                <a:ea typeface="Calibri"/>
                <a:cs typeface="Calibri"/>
              </a:defRPr>
            </a:pPr>
            <a:r>
              <a:rPr sz="900" b="0">
                <a:solidFill>
                  <a:srgbClr val="999999"/>
                </a:solidFill>
                <a:latin typeface="Calibri"/>
                <a:ea typeface="Calibri"/>
                <a:cs typeface="Calibri"/>
              </a:rPr>
              <a:t>Backup: binding comparison</a:t>
            </a:r>
          </a:p>
        </p:txBody>
      </p:sp>
      <p:sp>
        <p:nvSpPr>
          <p:cNvPr id="7" name="20">
            <a:extLst>
              <a:ext uri="{FF2B5EF4-FFF2-40B4-BE49-F238E27FC236}">
                <a16:creationId xmlns:a16="http://schemas.microsoft.com/office/drawing/2014/main" id="{FB950C35-0FC9-4A89-9DAC-2762C51838ED}"/>
              </a:ext>
            </a:extLst>
          </p:cNvPr>
          <p:cNvSpPr>
            <a:spLocks noGrp="1"/>
          </p:cNvSpPr>
          <p:nvPr/>
        </p:nvSpPr>
        <p:spPr>
          <a:xfrm>
            <a:off x="11144250" y="6467475"/>
            <a:ext cx="409575" cy="190500"/>
          </a:xfrm>
          <a:prstGeom prst="rect">
            <a:avLst/>
          </a:prstGeom>
          <a:noFill/>
          <a:ln w="0">
            <a:noFill/>
          </a:ln>
        </p:spPr>
        <p:txBody>
          <a:bodyPr wrap="square" lIns="0" tIns="0" rIns="0" bIns="0" anchor="t">
            <a:noAutofit/>
          </a:bodyPr>
          <a:lstStyle/>
          <a:p>
            <a:pPr algn="r">
              <a:buNone/>
              <a:defRPr sz="900" b="0">
                <a:solidFill>
                  <a:srgbClr val="999999"/>
                </a:solidFill>
                <a:latin typeface="Calibri"/>
                <a:ea typeface="Calibri"/>
                <a:cs typeface="Calibri"/>
              </a:defRPr>
            </a:pPr>
            <a:r>
              <a:rPr sz="900" b="0">
                <a:solidFill>
                  <a:srgbClr val="999999"/>
                </a:solidFill>
                <a:latin typeface="Calibri"/>
                <a:ea typeface="Calibri"/>
                <a:cs typeface="Calibri"/>
              </a:rPr>
              <a:t>20</a:t>
            </a:r>
          </a:p>
        </p:txBody>
      </p:sp>
    </p:spTree>
    <p:extLst>
      <p:ext uri="{BB962C8B-B14F-4D97-AF65-F5344CB8AC3E}">
        <p14:creationId xmlns:p14="http://schemas.microsoft.com/office/powerpoint/2010/main" val="6702855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5451</Words>
  <Application>Microsoft Office PowerPoint</Application>
  <DocSecurity>0</DocSecurity>
  <PresentationFormat>宽屏</PresentationFormat>
  <Paragraphs>620</Paragraphs>
  <Slides>21</Slides>
  <Notes>20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21</vt:i4>
      </vt:variant>
    </vt:vector>
  </HeadingPairs>
  <TitlesOfParts>
    <vt:vector size="25" baseType="lpstr">
      <vt:lpstr>Arial</vt:lpstr>
      <vt:lpstr>Calibri</vt:lpstr>
      <vt:lpstr>Cambria</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Ramos Wang</cp:lastModifiedBy>
  <cp:revision>1</cp:revision>
  <dcterms:created xsi:type="dcterms:W3CDTF">2026-09-15T04:59:36Z</dcterms:created>
  <dcterms:modified xsi:type="dcterms:W3CDTF">2026-09-15T05:50:57Z</dcterms:modified>
</cp:coreProperties>
</file>