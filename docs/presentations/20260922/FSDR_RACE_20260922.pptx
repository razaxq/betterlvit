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2ad5ad2f4e45eb" /><Relationship Type="http://schemas.openxmlformats.org/officeDocument/2006/relationships/extended-properties" Target="/docProps/app.xml" Id="Rc701cbf6e25c48f8" /><Relationship Type="http://schemas.openxmlformats.org/officeDocument/2006/relationships/officeDocument" Target="/ppt/presentation.xml" Id="Ra4fca71ec8e54167" /></Relationships>
</file>

<file path=ppt/presentation.xml><?xml version="1.0" encoding="utf-8"?>
<p:presentation xmlns:p="http://schemas.openxmlformats.org/presentationml/2006/main">
  <p:sldMasterIdLst>
    <p:sldMasterId xmlns:r="http://schemas.openxmlformats.org/officeDocument/2006/relationships" id="2147483648" r:id="Re35a41ab22524452"/>
  </p:sldMasterIdLst>
  <p:notesMasterIdLst>
    <p:notesMasterId xmlns:r="http://schemas.openxmlformats.org/officeDocument/2006/relationships" r:id="R98b0e7734f5e4066"/>
  </p:notesMasterIdLst>
  <p:sldIdLst>
    <p:sldId xmlns:r="http://schemas.openxmlformats.org/officeDocument/2006/relationships" id="256" r:id="Rd214acce84d94089"/>
    <p:sldId xmlns:r="http://schemas.openxmlformats.org/officeDocument/2006/relationships" id="257" r:id="Rfd90a3b9447a4628"/>
    <p:sldId xmlns:r="http://schemas.openxmlformats.org/officeDocument/2006/relationships" id="258" r:id="R8714d882c33f4f12"/>
    <p:sldId xmlns:r="http://schemas.openxmlformats.org/officeDocument/2006/relationships" id="259" r:id="Rcae4bf3bac39412d"/>
    <p:sldId xmlns:r="http://schemas.openxmlformats.org/officeDocument/2006/relationships" id="260" r:id="Rdf6f114f6ca04441"/>
    <p:sldId xmlns:r="http://schemas.openxmlformats.org/officeDocument/2006/relationships" id="261" r:id="R22ed5b8a11fd4f12"/>
    <p:sldId xmlns:r="http://schemas.openxmlformats.org/officeDocument/2006/relationships" id="262" r:id="Re949608bf51c4fa3"/>
    <p:sldId xmlns:r="http://schemas.openxmlformats.org/officeDocument/2006/relationships" id="263" r:id="R3e1617ca20264559"/>
    <p:sldId xmlns:r="http://schemas.openxmlformats.org/officeDocument/2006/relationships" id="264" r:id="Rd9721c7e5b2a44cc"/>
    <p:sldId xmlns:r="http://schemas.openxmlformats.org/officeDocument/2006/relationships" id="265" r:id="Rc436f56bf8d64efb"/>
    <p:sldId xmlns:r="http://schemas.openxmlformats.org/officeDocument/2006/relationships" id="266" r:id="Re76e505c7b9a4f37"/>
    <p:sldId xmlns:r="http://schemas.openxmlformats.org/officeDocument/2006/relationships" id="267" r:id="R572458c269184e6a"/>
    <p:sldId xmlns:r="http://schemas.openxmlformats.org/officeDocument/2006/relationships" id="268" r:id="R01343b74c2bd4464"/>
    <p:sldId xmlns:r="http://schemas.openxmlformats.org/officeDocument/2006/relationships" id="269" r:id="R361b6c7e8bf144f6"/>
    <p:sldId xmlns:r="http://schemas.openxmlformats.org/officeDocument/2006/relationships" id="270" r:id="Rae20aa6559584398"/>
    <p:sldId xmlns:r="http://schemas.openxmlformats.org/officeDocument/2006/relationships" id="271" r:id="R82ea712823b14bdf"/>
    <p:sldId xmlns:r="http://schemas.openxmlformats.org/officeDocument/2006/relationships" id="272" r:id="Rca7810065c054983"/>
    <p:sldId xmlns:r="http://schemas.openxmlformats.org/officeDocument/2006/relationships" id="273" r:id="R65555287f2da4ae8"/>
    <p:sldId xmlns:r="http://schemas.openxmlformats.org/officeDocument/2006/relationships" id="274" r:id="R3e8f043d94074ade"/>
    <p:sldId xmlns:r="http://schemas.openxmlformats.org/officeDocument/2006/relationships" id="275" r:id="R125551033207475c"/>
    <p:sldId xmlns:r="http://schemas.openxmlformats.org/officeDocument/2006/relationships" id="276" r:id="R41ece5afefbc46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2e305b361af4eb1" /><Relationship Type="http://schemas.openxmlformats.org/officeDocument/2006/relationships/slideMaster" Target="/ppt/slideMasters/slideMaster1.xml" Id="Re35a41ab22524452" /><Relationship Type="http://schemas.openxmlformats.org/officeDocument/2006/relationships/notesMaster" Target="/ppt/notesMasters/notesMaster1.xml" Id="R98b0e7734f5e4066" /><Relationship Type="http://schemas.openxmlformats.org/officeDocument/2006/relationships/presProps" Target="/ppt/presProps.xml" Id="Rb2c02433149e4113" /><Relationship Type="http://schemas.openxmlformats.org/officeDocument/2006/relationships/viewProps" Target="/ppt/viewProps.xml" Id="R82c7d932326c456b" /><Relationship Type="http://schemas.openxmlformats.org/officeDocument/2006/relationships/tableStyles" Target="/ppt/tableStyles.xml" Id="R0d079b738f7a42bc" /><Relationship Type="http://schemas.openxmlformats.org/officeDocument/2006/relationships/slide" Target="/ppt/slides/slide1.xml" Id="Rd214acce84d94089" /><Relationship Type="http://schemas.openxmlformats.org/officeDocument/2006/relationships/slide" Target="/ppt/slides/slide2.xml" Id="Rfd90a3b9447a4628" /><Relationship Type="http://schemas.openxmlformats.org/officeDocument/2006/relationships/slide" Target="/ppt/slides/slide3.xml" Id="R8714d882c33f4f12" /><Relationship Type="http://schemas.openxmlformats.org/officeDocument/2006/relationships/slide" Target="/ppt/slides/slide4.xml" Id="Rcae4bf3bac39412d" /><Relationship Type="http://schemas.openxmlformats.org/officeDocument/2006/relationships/slide" Target="/ppt/slides/slide5.xml" Id="Rdf6f114f6ca04441" /><Relationship Type="http://schemas.openxmlformats.org/officeDocument/2006/relationships/slide" Target="/ppt/slides/slide6.xml" Id="R22ed5b8a11fd4f12" /><Relationship Type="http://schemas.openxmlformats.org/officeDocument/2006/relationships/slide" Target="/ppt/slides/slide7.xml" Id="Re949608bf51c4fa3" /><Relationship Type="http://schemas.openxmlformats.org/officeDocument/2006/relationships/slide" Target="/ppt/slides/slide8.xml" Id="R3e1617ca20264559" /><Relationship Type="http://schemas.openxmlformats.org/officeDocument/2006/relationships/slide" Target="/ppt/slides/slide9.xml" Id="Rd9721c7e5b2a44cc" /><Relationship Type="http://schemas.openxmlformats.org/officeDocument/2006/relationships/slide" Target="/ppt/slides/slide10.xml" Id="Rc436f56bf8d64efb" /><Relationship Type="http://schemas.openxmlformats.org/officeDocument/2006/relationships/slide" Target="/ppt/slides/slide11.xml" Id="Re76e505c7b9a4f37" /><Relationship Type="http://schemas.openxmlformats.org/officeDocument/2006/relationships/slide" Target="/ppt/slides/slide12.xml" Id="R572458c269184e6a" /><Relationship Type="http://schemas.openxmlformats.org/officeDocument/2006/relationships/slide" Target="/ppt/slides/slide13.xml" Id="R01343b74c2bd4464" /><Relationship Type="http://schemas.openxmlformats.org/officeDocument/2006/relationships/slide" Target="/ppt/slides/slide14.xml" Id="R361b6c7e8bf144f6" /><Relationship Type="http://schemas.openxmlformats.org/officeDocument/2006/relationships/slide" Target="/ppt/slides/slide15.xml" Id="Rae20aa6559584398" /><Relationship Type="http://schemas.openxmlformats.org/officeDocument/2006/relationships/slide" Target="/ppt/slides/slide16.xml" Id="R82ea712823b14bdf" /><Relationship Type="http://schemas.openxmlformats.org/officeDocument/2006/relationships/slide" Target="/ppt/slides/slide17.xml" Id="Rca7810065c054983" /><Relationship Type="http://schemas.openxmlformats.org/officeDocument/2006/relationships/slide" Target="/ppt/slides/slide18.xml" Id="R65555287f2da4ae8" /><Relationship Type="http://schemas.openxmlformats.org/officeDocument/2006/relationships/slide" Target="/ppt/slides/slide19.xml" Id="R3e8f043d94074ade" /><Relationship Type="http://schemas.openxmlformats.org/officeDocument/2006/relationships/slide" Target="/ppt/slides/slide20.xml" Id="R125551033207475c" /><Relationship Type="http://schemas.openxmlformats.org/officeDocument/2006/relationships/slide" Target="/ppt/slides/slide21.xml" Id="R41ece5afefbc46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0dc395274242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8726110ba24bc4" /><Relationship Type="http://schemas.openxmlformats.org/officeDocument/2006/relationships/notesMaster" Target="/ppt/notesMasters/notesMaster1.xml" Id="Rb4bdc97723e940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b447eda4ae46b3" /><Relationship Type="http://schemas.openxmlformats.org/officeDocument/2006/relationships/notesMaster" Target="/ppt/notesMasters/notesMaster1.xml" Id="R327957c6fdc844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8c55c42eb44692" /><Relationship Type="http://schemas.openxmlformats.org/officeDocument/2006/relationships/notesMaster" Target="/ppt/notesMasters/notesMaster1.xml" Id="Rc45afafa826645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fad997c2614f6c" /><Relationship Type="http://schemas.openxmlformats.org/officeDocument/2006/relationships/notesMaster" Target="/ppt/notesMasters/notesMaster1.xml" Id="R632297a17df14f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686fc0d57e4d81" /><Relationship Type="http://schemas.openxmlformats.org/officeDocument/2006/relationships/notesMaster" Target="/ppt/notesMasters/notesMaster1.xml" Id="Rf70bef02dcc04c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7f82bb1548496f" /><Relationship Type="http://schemas.openxmlformats.org/officeDocument/2006/relationships/notesMaster" Target="/ppt/notesMasters/notesMaster1.xml" Id="Rcbe95730eab44f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0af1e013d74d9f" /><Relationship Type="http://schemas.openxmlformats.org/officeDocument/2006/relationships/notesMaster" Target="/ppt/notesMasters/notesMaster1.xml" Id="Rf213c10804e149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01a863546f43ae" /><Relationship Type="http://schemas.openxmlformats.org/officeDocument/2006/relationships/notesMaster" Target="/ppt/notesMasters/notesMaster1.xml" Id="R0620845380b04e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69f3cbb13f42ab" /><Relationship Type="http://schemas.openxmlformats.org/officeDocument/2006/relationships/notesMaster" Target="/ppt/notesMasters/notesMaster1.xml" Id="Rb4cdb9e24db746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19d3ddcfa04a32" /><Relationship Type="http://schemas.openxmlformats.org/officeDocument/2006/relationships/notesMaster" Target="/ppt/notesMasters/notesMaster1.xml" Id="Rb1b9a5afbc3d46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dad873dd3f43ce" /><Relationship Type="http://schemas.openxmlformats.org/officeDocument/2006/relationships/notesMaster" Target="/ppt/notesMasters/notesMaster1.xml" Id="R4d52871ed30d41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65a8d105364406" /><Relationship Type="http://schemas.openxmlformats.org/officeDocument/2006/relationships/notesMaster" Target="/ppt/notesMasters/notesMaster1.xml" Id="R002138a05d854e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e735ba00a7b419e" /><Relationship Type="http://schemas.openxmlformats.org/officeDocument/2006/relationships/notesMaster" Target="/ppt/notesMasters/notesMaster1.xml" Id="Rc88c6fa7496e4a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6cff83ab6d4e2a" /><Relationship Type="http://schemas.openxmlformats.org/officeDocument/2006/relationships/notesMaster" Target="/ppt/notesMasters/notesMaster1.xml" Id="R79a629c8863540a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6691479dae419f" /><Relationship Type="http://schemas.openxmlformats.org/officeDocument/2006/relationships/notesMaster" Target="/ppt/notesMasters/notesMaster1.xml" Id="R6fd417658355487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d5cfceb42f4ca7" /><Relationship Type="http://schemas.openxmlformats.org/officeDocument/2006/relationships/notesMaster" Target="/ppt/notesMasters/notesMaster1.xml" Id="Raaa594d4fb1f4b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56c5e125fe42a5" /><Relationship Type="http://schemas.openxmlformats.org/officeDocument/2006/relationships/notesMaster" Target="/ppt/notesMasters/notesMaster1.xml" Id="R218b6581b4af47e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5e7cadcf944636" /><Relationship Type="http://schemas.openxmlformats.org/officeDocument/2006/relationships/notesMaster" Target="/ppt/notesMasters/notesMaster1.xml" Id="Refa7b644024a45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a0e91c97ba4bda" /><Relationship Type="http://schemas.openxmlformats.org/officeDocument/2006/relationships/notesMaster" Target="/ppt/notesMasters/notesMaster1.xml" Id="R2420a26bd6174f6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1a20af46654d26" /><Relationship Type="http://schemas.openxmlformats.org/officeDocument/2006/relationships/notesMaster" Target="/ppt/notesMasters/notesMaster1.xml" Id="R938b986167bf420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8d47caf2904c35" /><Relationship Type="http://schemas.openxmlformats.org/officeDocument/2006/relationships/notesMaster" Target="/ppt/notesMasters/notesMaster1.xml" Id="R02387efbb60244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Today I present FSDR and RACE for text-guided infection segmentation in chest X-rays. The two contributions are FSDR and complete RACE. The main evidence now includes four configurations and three matched training seeds, with all headline results measured on the Test split.</a:t>
            </a:r>
          </a:p>
          <a:p xmlns:a="http://schemas.openxmlformats.org/drawingml/2006/main">
            <a:r>
              <a:t/>
            </a:r>
            <a:endParaRPr/>
          </a:p>
          <a:p xmlns:a="http://schemas.openxmlformats.org/drawingml/2006/main">
            <a:r>
              <a:t>中文讲稿</a:t>
            </a:r>
          </a:p>
          <a:p xmlns:a="http://schemas.openxmlformats.org/drawingml/2006/main">
            <a:r>
              <a:t>本次答辩介绍 FSDR and RACE 胸片感染分割。两项贡献是 FSDR 和完整 RACE。主证据已更新为四组配置、三个匹配训练种子，主要成绩均来自测试集。</a:t>
            </a:r>
          </a:p>
          <a:p xmlns:a="http://schemas.openxmlformats.org/drawingml/2006/main">
            <a:r>
              <a:t/>
            </a:r>
            <a:endParaRPr/>
          </a:p>
          <a:p xmlns:a="http://schemas.openxmlformats.org/drawingml/2006/main">
            <a:r>
              <a:t>Sources (snapshot: 22 September 2026)</a:t>
            </a:r>
          </a:p>
          <a:p xmlns:a="http://schemas.openxmlformats.org/drawingml/2006/main">
            <a:r>
              <a:t>docs/PAPER_RESULTS.md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FSDR separates semantic refinement from spatial detail. Complete RACE combines report-based routing with its auxiliary training objectives. The three-seed mean IoU improvements are 0.5058 percentage points for FSDR over PLAM and 0.2428 points for adding complete RACE to FSDR. The combined improvement is 0.7487 points over the matched PLAM control. These are module comparisons under one shared recipe.</a:t>
            </a:r>
          </a:p>
          <a:p xmlns:a="http://schemas.openxmlformats.org/drawingml/2006/main">
            <a:r>
              <a:t/>
            </a:r>
            <a:endParaRPr/>
          </a:p>
          <a:p xmlns:a="http://schemas.openxmlformats.org/drawingml/2006/main">
            <a:r>
              <a:t>中文讲稿</a:t>
            </a:r>
            <a:endParaRPr/>
          </a:p>
          <a:p xmlns:a="http://schemas.openxmlformats.org/drawingml/2006/main">
            <a:r>
              <a:t>FSDR 将语义和细节分开精炼。完整 RACE 包括报告引导路由及配套辅助训练目标。三种子平均 IoU 增益分别为：FSDR 相对 PLAM +0.5058 个百分点，完整 RACE 加入 FSDR +0.2428 个百分点，组合相对匹配 PLAM +0.7487 个百分点。监督是完整 RACE 的组成部分，不作为独立创新点。</a:t>
            </a:r>
          </a:p>
          <a:p xmlns:a="http://schemas.openxmlformats.org/drawingml/2006/main">
            <a:r>
              <a:t/>
            </a:r>
            <a:endParaRPr/>
          </a:p>
          <a:p xmlns:a="http://schemas.openxmlformats.org/drawingml/2006/main">
            <a:r>
              <a:t>Sources (snapshot: 22 September 2026)</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original CNN and transformer paths run first. RACE then replaces each decoder-facing CNN skip C1 to C4 with its routed version. It does not feed routed features back into the encoder or transformer. FSDR replaces PLAM inside each of up4, up3, up2 and up1. It receives the routed skip, reconstructed ViT feature, upsampled decoder feature and text. It returns Y and D-prime for concatenation and two convolutions. The first decoder stage starts from bottleneck C5, and subsequent stages use the previous decoder output.</a:t>
            </a:r>
          </a:p>
          <a:p xmlns:a="http://schemas.openxmlformats.org/drawingml/2006/main">
            <a:r>
              <a:t/>
            </a:r>
            <a:endParaRPr/>
          </a:p>
          <a:p xmlns:a="http://schemas.openxmlformats.org/drawingml/2006/main">
            <a:r>
              <a:t>中文讲稿</a:t>
            </a:r>
          </a:p>
          <a:p xmlns:a="http://schemas.openxmlformats.org/drawingml/2006/main">
            <a:r>
              <a:t>CNN 与 Transformer 主路径先完成计算，RACE 随后精炼送往解码器的 C1–C4 跳跃特征，不将路由结果反馈进编码器或 Transformer。FSDR 位于 up4、up3、up2、up1 内部，替换 PLAM，接收路由跳跃、ViT 重建、上采样解码器与文本输入，输出 Y 与 D′ 后拼接卷积。首级由瓶颈 C5 开始，之后各级使用上一级解码器输出。</a:t>
            </a:r>
          </a:p>
          <a:p xmlns:a="http://schemas.openxmlformats.org/drawingml/2006/main">
            <a:r>
              <a:t/>
            </a:r>
            <a:endParaRPr/>
          </a:p>
          <a:p xmlns:a="http://schemas.openxmlformats.org/drawingml/2006/main">
            <a:r>
              <a:t>Sources (snapshot: 22 September 2026)</a:t>
            </a:r>
          </a:p>
          <a:p xmlns:a="http://schemas.openxmlformats.org/drawingml/2006/main">
            <a:r>
              <a:t>nets/LViT.py:471-525</a:t>
            </a:r>
          </a:p>
          <a:p xmlns:a="http://schemas.openxmlformats.org/drawingml/2006/main">
            <a:r>
              <a:t>nets/race_fuse.py</a:t>
            </a:r>
          </a:p>
          <a:p xmlns:a="http://schemas.openxmlformats.org/drawingml/2006/main">
            <a:r>
              <a:t>docs/FSDR.md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This comparison concerns the PLAM decoder fusion mechanism and the FSDR extension. The matched PLAM baseline uses our common training recipe and frozen CXR-BERT. It is not an unchanged reproduction of the entire official LViT training pipeline.</a:t>
            </a:r>
          </a:p>
          <a:p xmlns:a="http://schemas.openxmlformats.org/drawingml/2006/main">
            <a:r>
              <a:t/>
            </a:r>
            <a:endParaRPr/>
          </a:p>
          <a:p xmlns:a="http://schemas.openxmlformats.org/drawingml/2006/main">
            <a:r>
              <a:t>中文讲稿</a:t>
            </a:r>
          </a:p>
          <a:p xmlns:a="http://schemas.openxmlformats.org/drawingml/2006/main">
            <a:r>
              <a:t>这里比较的是 PLAM 解码融合机制与 FSDR 扩展。匹配 PLAM 基线使用本项目统一训练配方和冻结 CXR-BERT，不等同于官方 LViT 整体流程原样复现。</a:t>
            </a:r>
          </a:p>
          <a:p xmlns:a="http://schemas.openxmlformats.org/drawingml/2006/main">
            <a:r>
              <a:t/>
            </a:r>
            <a:endParaRPr/>
          </a:p>
          <a:p xmlns:a="http://schemas.openxmlformats.org/drawingml/2006/main">
            <a:r>
              <a:t>Sources (snapshot: 22 September 2026)</a:t>
            </a:r>
          </a:p>
          <a:p xmlns:a="http://schemas.openxmlformats.org/drawingml/2006/main">
            <a:r>
              <a:t>nets/LViT.py</a:t>
            </a:r>
          </a:p>
          <a:p xmlns:a="http://schemas.openxmlformats.org/drawingml/2006/main">
            <a:r>
              <a:t>docs/FSDR.md</a:t>
            </a:r>
          </a:p>
          <a:p xmlns:a="http://schemas.openxmlformats.org/drawingml/2006/main">
            <a:r>
              <a:t>docs/results/plam_baseline_audit_20260916/AUDIT.md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upper path is the PLAM decoder operation. The lower path shows the combined model: RACE first produces the CNN skip C-prime, and FSDR receives C-prime, V, D and text separately. FSDR outputs Y and D-prime, which feed concatenation and two 3 by 3 convolutions. FSDR-only experiments use the original C instead of C-prime. Only the deeper up4 and up3 stages adapt D; at up2 and up1, D-prime equals D.</a:t>
            </a:r>
          </a:p>
          <a:p xmlns:a="http://schemas.openxmlformats.org/drawingml/2006/main">
            <a:r>
              <a:t/>
            </a:r>
          </a:p>
          <a:p xmlns:a="http://schemas.openxmlformats.org/drawingml/2006/main">
            <a:r>
              <a:t>中文讲稿</a:t>
            </a:r>
          </a:p>
          <a:p xmlns:a="http://schemas.openxmlformats.org/drawingml/2006/main">
            <a:r>
              <a:t>上方为 PLAM 解码操作，下方为组合模型：RACE 先得到 C′，FSDR 分别接收 C′、V、D 和文本，输出 Y 与 D′ 后拼接并进行两层 3×3 卷积。仅 FSDR 对照直接使用原 C。只有 up4、up3 自适应精炼 D，up2、up1 的 D′=D。</a:t>
            </a:r>
          </a:p>
          <a:p xmlns:a="http://schemas.openxmlformats.org/drawingml/2006/main">
            <a:r>
              <a:t/>
            </a:r>
          </a:p>
          <a:p xmlns:a="http://schemas.openxmlformats.org/drawingml/2006/main">
            <a:r>
              <a:t>Sources (snapshot: 22 September 2026)</a:t>
            </a:r>
          </a:p>
          <a:p xmlns:a="http://schemas.openxmlformats.org/drawingml/2006/main">
            <a:r>
              <a:t>nets/LViT.py:156-166</a:t>
            </a:r>
          </a:p>
          <a:p xmlns:a="http://schemas.openxmlformats.org/drawingml/2006/main">
            <a:r>
              <a:t>nets/LViT.py:503-525</a:t>
            </a:r>
          </a:p>
          <a:p xmlns:a="http://schemas.openxmlformats.org/drawingml/2006/main">
            <a:r>
              <a:t>nets/eppa.py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C-star denotes the input CNN skip, routed when RACE is enabled. Haar decomposition separates low and high frequencies. Low-frequency skip, ViT and decoder signals plus text generate channel and region corrections and semantic support S. S modulates the high-frequency detail branch, which combines local and contextual convolutions. The final output adds bounded residuals to the original skip. Adaptive filtering, detailed in the backup slide, produces D-prime and R-adaptive at up4 and up3.</a:t>
            </a:r>
          </a:p>
          <a:p xmlns:a="http://schemas.openxmlformats.org/drawingml/2006/main">
            <a:r>
              <a:t/>
            </a:r>
            <a:endParaRPr/>
          </a:p>
          <a:p xmlns:a="http://schemas.openxmlformats.org/drawingml/2006/main">
            <a:r>
              <a:t>中文讲稿</a:t>
            </a:r>
          </a:p>
          <a:p xmlns:a="http://schemas.openxmlformats.org/drawingml/2006/main">
            <a:r>
              <a:t>C* 表示输入跳跃特征，启用 RACE 时为 C′。Haar 分解低高频，跳跃、ViT、解码器低频与文本形成通道/区域修正和语义支持 S，S 引导由局部与上下文卷积组成的高频细节分支。输出以原跳跃为基础叠加受限残差。备份页展示的自适应滤波在 up4、up3 生成 D′ 和 R_adaptive。</a:t>
            </a:r>
          </a:p>
          <a:p xmlns:a="http://schemas.openxmlformats.org/drawingml/2006/main">
            <a:r>
              <a:t/>
            </a:r>
            <a:endParaRPr/>
          </a:p>
          <a:p xmlns:a="http://schemas.openxmlformats.org/drawingml/2006/main">
            <a:r>
              <a:t>Sources (snapshot: 22 September 2026)</a:t>
            </a:r>
          </a:p>
          <a:p xmlns:a="http://schemas.openxmlformats.org/drawingml/2006/main">
            <a:r>
              <a:t>nets/eppa.py:679-777</a:t>
            </a:r>
          </a:p>
          <a:p xmlns:a="http://schemas.openxmlformats.org/drawingml/2006/main">
            <a:r>
              <a:t>docs/FSDR.md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All four configurations use the same data split, input size, training budget and optimisation recipe. The three seeds are paired. Eight new runs and four eligible previous runs form the 12-model comparison. The learning rate decays once from 3e-4 to 1e-6. Adam weight decay is 1e-4. Dice and Focal each have weight 0.5, with Focal gamma 2. Complete RACE has auxiliary weight 0.05. Validation macro IoU selects the checkpoint, and Test uses strict probability greater than 0.5.</a:t>
            </a:r>
          </a:p>
          <a:p xmlns:a="http://schemas.openxmlformats.org/drawingml/2006/main">
            <a:r>
              <a:t/>
            </a:r>
            <a:endParaRPr/>
          </a:p>
          <a:p xmlns:a="http://schemas.openxmlformats.org/drawingml/2006/main">
            <a:r>
              <a:t>中文讲稿</a:t>
            </a:r>
          </a:p>
          <a:p xmlns:a="http://schemas.openxmlformats.org/drawingml/2006/main">
            <a:r>
              <a:t>四组模型采用同一数据划分、输入尺寸、训练预算与优化配方，种子一一匹配。八次新增训练加四个匹配既有模型组成十二模型整体消融。学习率单周期从 3e-4 降至 1e-6，Adam 权重衰减 1e-4，Dice/Focal 各 0.5，gamma=2。完整 RACE 辅助权重 0.05。验证集 macro IoU 选 Best，测试严格使用概率 &gt;0.5。</a:t>
            </a:r>
          </a:p>
          <a:p xmlns:a="http://schemas.openxmlformats.org/drawingml/2006/main">
            <a:r>
              <a:t/>
            </a:r>
            <a:endParaRPr/>
          </a:p>
          <a:p xmlns:a="http://schemas.openxmlformats.org/drawingml/2006/main">
            <a:r>
              <a:t>Sources (snapshot: 22 September 2026)</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Masked pooling of frozen text feeds the slot head. Six location probabilities combine with the aligned anatomical basis to form P. Each CNN skip generates visual evidence E and a local residual R(C). Zone pooling compares visual evidence with report slots to produce agreement A. P, E and A jointly gate a signed correction, with strength bounded by 0.15 and initial strength zero. Complete RACE includes its auxiliary training objectives, while inference uses predicted slots rather than parser targets.</a:t>
            </a:r>
          </a:p>
          <a:p xmlns:a="http://schemas.openxmlformats.org/drawingml/2006/main">
            <a:r>
              <a:t/>
            </a:r>
            <a:endParaRPr/>
          </a:p>
          <a:p xmlns:a="http://schemas.openxmlformats.org/drawingml/2006/main">
            <a:r>
              <a:t>中文讲稿</a:t>
            </a:r>
            <a:endParaRPr/>
          </a:p>
          <a:p xmlns:a="http://schemas.openxmlformats.org/drawingml/2006/main">
            <a:r>
              <a:t>冻结文本经掩码均值池化后进入槽位头，六个位置概率与对齐解剖基底生成 P。CNN 跳跃生成视觉证据 E 和残差 R(C)，区域池化比较视觉与报告槽位得到 A。P、E、A 共同控制有符号修正，强度上限 0.15、初始为零。完整 RACE 包含辅助训练目标，但推理使用预测槽位，不使用解析器目标。</a:t>
            </a:r>
          </a:p>
          <a:p xmlns:a="http://schemas.openxmlformats.org/drawingml/2006/main">
            <a:r>
              <a:t/>
            </a:r>
            <a:endParaRPr/>
          </a:p>
          <a:p xmlns:a="http://schemas.openxmlformats.org/drawingml/2006/main">
            <a:r>
              <a:t>Sources (snapshot: 22 September 2026)</a:t>
            </a:r>
          </a:p>
          <a:p xmlns:a="http://schemas.openxmlformats.org/drawingml/2006/main">
            <a:r>
              <a:t>nets/race_fuse.py</a:t>
            </a:r>
          </a:p>
          <a:p xmlns:a="http://schemas.openxmlformats.org/drawingml/2006/main">
            <a:r>
              <a:t>race_semantics.py</a:t>
            </a:r>
            <a:endParaRP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four configurations isolate FSDR and complete RACE at the whole-module level. The combined model averages 76.2262 percent IoU and 84.7112 percent Dice. Its gains over the matched PLAM baseline are 0.7487 and 0.6861 percentage points respectively. The displayed uncertainty is sample standard deviation across three training seeds, not a confidence interval. The historical 74.8076 percent PLAM result used a different recipe and is not the baseline for these increments.</a:t>
            </a:r>
          </a:p>
          <a:p xmlns:a="http://schemas.openxmlformats.org/drawingml/2006/main">
            <a:r>
              <a:t/>
            </a:r>
            <a:endParaRPr/>
          </a:p>
          <a:p xmlns:a="http://schemas.openxmlformats.org/drawingml/2006/main">
            <a:r>
              <a:t>中文讲稿</a:t>
            </a:r>
          </a:p>
          <a:p xmlns:a="http://schemas.openxmlformats.org/drawingml/2006/main">
            <a:r>
              <a:t>四组配置在完整模块层面分离 FSDR 与 RACE 的效果。组合模型平均 IoU 76.2262%、Dice 84.7112%，相对匹配 PLAM 分别提高 0.7487、0.6861 个百分点。± 表示三个训练种子的样本标准差，不是置信区间。历史 PLAM 74.8076% 使用不同配方，不作为本页增量基线。</a:t>
            </a:r>
          </a:p>
          <a:p xmlns:a="http://schemas.openxmlformats.org/drawingml/2006/main">
            <a:r>
              <a:t/>
            </a:r>
            <a:endParaRPr/>
          </a:p>
          <a:p xmlns:a="http://schemas.openxmlformats.org/drawingml/2006/main">
            <a:r>
              <a:t>Sources (snapshot: 22 September 2026)</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Each row compares models trained with the same seed. FSDR improves PLAM both with and without complete RACE. Complete RACE improves both PLAM and FSDR. Every listed paired contrast is positive on all three seeds. This does not establish a universal effect or statistical significance. The three-seed study does not split RACE routing from auxiliary supervision, and the combined result does not prove super-additive synergy.</a:t>
            </a:r>
          </a:p>
          <a:p xmlns:a="http://schemas.openxmlformats.org/drawingml/2006/main">
            <a:r>
              <a:t/>
            </a:r>
            <a:endParaRPr/>
          </a:p>
          <a:p xmlns:a="http://schemas.openxmlformats.org/drawingml/2006/main">
            <a:r>
              <a:t>中文讲稿</a:t>
            </a:r>
            <a:endParaRPr/>
          </a:p>
          <a:p xmlns:a="http://schemas.openxmlformats.org/drawingml/2006/main">
            <a:r>
              <a:t>每行都使用同种子配对。FSDR 在有无 RACE 时均改善 PLAM；完整 RACE 在 PLAM 与 FSDR 上均带来增益。列出的五种比较在三个种子上全部为正，但不据此声称普适性或统计显著。三种子研究没有拆分 RACE 路由与辅助监督，也不声称组合具有超加性协同。</a:t>
            </a:r>
          </a:p>
          <a:p xmlns:a="http://schemas.openxmlformats.org/drawingml/2006/main">
            <a:r>
              <a:t/>
            </a:r>
            <a:endParaRPr/>
          </a:p>
          <a:p xmlns:a="http://schemas.openxmlformats.org/drawingml/2006/main">
            <a:r>
              <a:t>Sources (snapshot: 22 September 2026)</a:t>
            </a:r>
          </a:p>
          <a:p xmlns:a="http://schemas.openxmlformats.org/drawingml/2006/main">
            <a:r>
              <a:t>docs/results/stage1_overall_20260915/FINAL_REPORT.md</a:t>
            </a:r>
          </a:p>
          <a:p xmlns:a="http://schemas.openxmlformats.org/drawingml/2006/main">
            <a:r>
              <a:t>docs/results/stage1_overall_20260915/FINAL_RESULTS.json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All rows report the same 2,113 Test images with per-image macro metrics and a strict 0.5 threshold. GuideDecoder is the LanGuideMedSeg implementation, retrained for 100 epochs with best epoch 26. DD-CMD was retrained for 160 epochs with best epoch 115. Each uses seed 1219 and its own principal training recipe. MMI-UNet uses the author checkpoint, whose training filename list was not independently verified, so overlap cannot be excluded. Ours is a three-seed mean. DD-CMD is slightly higher, by 0.0732 IoU percentage points. These are contextual external comparisons, not matched module ablations or proof of state-of-the-art performance.</a:t>
            </a:r>
          </a:p>
          <a:p xmlns:a="http://schemas.openxmlformats.org/drawingml/2006/main">
            <a:r>
              <a:t/>
            </a:r>
            <a:endParaRPr/>
          </a:p>
          <a:p xmlns:a="http://schemas.openxmlformats.org/drawingml/2006/main">
            <a:r>
              <a:t>中文讲稿</a:t>
            </a:r>
          </a:p>
          <a:p xmlns:a="http://schemas.openxmlformats.org/drawingml/2006/main">
            <a:r>
              <a:t>各行在同一 2113 张测试图上使用逐图 macro 指标及严格 &gt;0.5 阈值。GuideDecoder 即 LanGuideMedSeg 实现，训练 100 轮、Best 为 26；DD-CMD 训练 160 轮、Best 为 115。两者使用 seed1219 及各自主要配方。MMI 使用作者权重，其训练文件清单未独立核查，因此不能排除重叠。我们展示三种子均值。DD-CMD 的 IoU 略高 0.0732 个百分点。这是外部参照，不是模块因果消融，也不据此声称 SOTA。</a:t>
            </a:r>
          </a:p>
          <a:p xmlns:a="http://schemas.openxmlformats.org/drawingml/2006/main">
            <a:r>
              <a:t/>
            </a:r>
            <a:endParaRPr/>
          </a:p>
          <a:p xmlns:a="http://schemas.openxmlformats.org/drawingml/2006/main">
            <a:r>
              <a:t>Sources (snapshot: 22 September 2026)</a:t>
            </a:r>
          </a:p>
          <a:p xmlns:a="http://schemas.openxmlformats.org/drawingml/2006/main">
            <a:r>
              <a:t>docs/results/text_guided_baselines_20260920/FINAL_REPORT.md</a:t>
            </a:r>
          </a:p>
          <a:p xmlns:a="http://schemas.openxmlformats.org/drawingml/2006/main">
            <a:r>
              <a:t>docs/results/text_guided_baselines_20260920/FINAL_RESULTS.json</a:t>
            </a:r>
          </a:p>
          <a:p xmlns:a="http://schemas.openxmlformats.org/drawingml/2006/main">
            <a:r>
              <a:t>docs/results/external_methods_20260920/full_test/TEST_RESULTS.json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completed primary study supports FSDR and complete RACE as two contributions under the shared experimental protocol. The combined model gains 0.7487 IoU percentage points over matched PLAM and all paired contrasts are positive across the three seeds. External DD-CMD remains slightly higher. Independent-cohort evaluation and repeated controls separating the RACE route from its auxiliary training remain future work.</a:t>
            </a:r>
          </a:p>
          <a:p xmlns:a="http://schemas.openxmlformats.org/drawingml/2006/main">
            <a:r>
              <a:t/>
            </a:r>
            <a:endParaRPr/>
          </a:p>
          <a:p xmlns:a="http://schemas.openxmlformats.org/drawingml/2006/main">
            <a:r>
              <a:t>中文讲稿</a:t>
            </a:r>
          </a:p>
          <a:p xmlns:a="http://schemas.openxmlformats.org/drawingml/2006/main">
            <a:r>
              <a:t>已完成的主实验支持 FSDR 和完整 RACE 在统一协议下作为两项贡献。组合相对匹配 PLAM 提高 0.7487 个 IoU 百分点，三种子所有配对比较均为正。外部 DD-CMD 仍略高。后续需要独立队列验证，以及重复的路由/辅助监督机制对照。</a:t>
            </a:r>
          </a:p>
          <a:p xmlns:a="http://schemas.openxmlformats.org/drawingml/2006/main">
            <a:r>
              <a:t/>
            </a:r>
            <a:endParaRPr/>
          </a:p>
          <a:p xmlns:a="http://schemas.openxmlformats.org/drawingml/2006/main">
            <a:r>
              <a:t>Sources (snapshot: 22 September 2026)</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Thank you. I welcome questions about the two modules, the matched ablations and the interpretation of the completed results.</a:t>
            </a:r>
          </a:p>
          <a:p xmlns:a="http://schemas.openxmlformats.org/drawingml/2006/main">
            <a:endParaRPr/>
          </a:p>
          <a:p xmlns:a="http://schemas.openxmlformats.org/drawingml/2006/main">
            <a:r>
              <a:t>中文讲稿</a:t>
            </a:r>
          </a:p>
          <a:p xmlns:a="http://schemas.openxmlformats.org/drawingml/2006/main">
            <a:r>
              <a:t>谢谢。欢迎就两个模块、匹配消融及最终结果的解释提问。</a:t>
            </a:r>
          </a:p>
          <a:p xmlns:a="http://schemas.openxmlformats.org/drawingml/2006/main">
            <a:endParaRPr/>
          </a:p>
          <a:p xmlns:a="http://schemas.openxmlformats.org/drawingml/2006/main">
            <a:r>
              <a:t>Sources · 15 September 2026</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backup slides contain detailed fusion results, the FSDR formulation, the separate learning-rate study, fixed-model RACE diagnostics, evaluation protocol and report-target binding comparisons.</a:t>
            </a:r>
          </a:p>
          <a:p xmlns:a="http://schemas.openxmlformats.org/drawingml/2006/main">
            <a:endParaRPr/>
          </a:p>
          <a:p xmlns:a="http://schemas.openxmlformats.org/drawingml/2006/main">
            <a:r>
              <a:t>中文讲稿</a:t>
            </a:r>
          </a:p>
          <a:p xmlns:a="http://schemas.openxmlformats.org/drawingml/2006/main">
            <a:r>
              <a:t>备用页提供详细融合成绩、FSDR 公式、独立学习率实验、RACE 固定模型诊断、评估协议及报告目标绑定对照。</a:t>
            </a:r>
          </a:p>
          <a:p xmlns:a="http://schemas.openxmlformats.org/drawingml/2006/main">
            <a:endParaRPr/>
          </a:p>
          <a:p xmlns:a="http://schemas.openxmlformats.org/drawingml/2006/main">
            <a:r>
              <a:t>Sources · 15 September 2026</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This table retains all 12 primary results, including the weaker runs. The combined model achieves IoU values of 76.2485, 76.2562 and 76.1738 percent. Each Best epoch comes from validation selection. We report the mean over every seed rather than choosing a winning seed for the quantitative headline.</a:t>
            </a:r>
          </a:p>
          <a:p xmlns:a="http://schemas.openxmlformats.org/drawingml/2006/main">
            <a:r>
              <a:t/>
            </a:r>
            <a:endParaRPr/>
          </a:p>
          <a:p xmlns:a="http://schemas.openxmlformats.org/drawingml/2006/main">
            <a:r>
              <a:t>中文讲稿</a:t>
            </a:r>
          </a:p>
          <a:p xmlns:a="http://schemas.openxmlformats.org/drawingml/2006/main">
            <a:r>
              <a:t>本页保留全部十二个主实验模型，包括较弱种子。组合模型三个 IoU 为 76.2485%、76.2562%、76.1738%。Best 轮次均由验证集选择，量化主结论使用全部种子均值，不挑选最优种子作为成绩。</a:t>
            </a:r>
          </a:p>
          <a:p xmlns:a="http://schemas.openxmlformats.org/drawingml/2006/main">
            <a:r>
              <a:t/>
            </a:r>
            <a:endParaRPr/>
          </a:p>
          <a:p xmlns:a="http://schemas.openxmlformats.org/drawingml/2006/main">
            <a:r>
              <a:t>Sources (snapshot: 22 September 2026)</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This branch operates at the deeper decoder stages up4 and up3. Low-frequency CNN, reconstructed ViT and decoder features predict separate spatial mixture weights for decoder smoothing and skip high-pass correction. Each mixture selects among identity, 3 by 3 blur and 5 by 5 blur. The decoder uses a bounded residual low-pass update. The skip receives a bounded high-pass residual, added to Y. Shallow stages retain the base Haar semantic-detail branches but bypass these adaptive corrections.</a:t>
            </a:r>
          </a:p>
          <a:p xmlns:a="http://schemas.openxmlformats.org/drawingml/2006/main">
            <a:r>
              <a:t/>
            </a:r>
            <a:endParaRPr/>
          </a:p>
          <a:p xmlns:a="http://schemas.openxmlformats.org/drawingml/2006/main">
            <a:r>
              <a:t>中文讲稿</a:t>
            </a:r>
          </a:p>
          <a:p xmlns:a="http://schemas.openxmlformats.org/drawingml/2006/main">
            <a:r>
              <a:t>此分支位于较深的 up4、up3。CNN、ViT 重建和解码器低频共同预测两组空间混合权重，分别控制解码器平滑和跳跃高通修正。滤波组由恒等、3×3 模糊、5×5 模糊组成。解码器使用受限低通残差更新，跳跃高通残差加入 Y。浅层仍保留基本 Haar 语义/细节分支，只跳过这项自适应修正。</a:t>
            </a:r>
          </a:p>
          <a:p xmlns:a="http://schemas.openxmlformats.org/drawingml/2006/main">
            <a:r>
              <a:t/>
            </a:r>
            <a:endParaRPr/>
          </a:p>
          <a:p xmlns:a="http://schemas.openxmlformats.org/drawingml/2006/main">
            <a:r>
              <a:t>Sources (snapshot: 22 September 2026)</a:t>
            </a:r>
          </a:p>
          <a:p xmlns:a="http://schemas.openxmlformats.org/drawingml/2006/main">
            <a:r>
              <a:t>nets/eppa.py:107-314</a:t>
            </a:r>
          </a:p>
          <a:p xmlns:a="http://schemas.openxmlformats.org/drawingml/2006/main">
            <a:r>
              <a:t>nets/eppa.py:679-777</a:t>
            </a:r>
          </a:p>
          <a:p xmlns:a="http://schemas.openxmlformats.org/drawingml/2006/main">
            <a:r>
              <a:t>docs/FSDR.md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This earlier single-cycle study uses seed 1219 and the matched auxiliary-only control. It separates the routing increment from auxiliary training. The route alone has a positive point estimate but an image-paired confidence interval that crosses zero. The repeated three-seed study evaluates the complete module. We do not assign its entire gain to routing.</a:t>
            </a:r>
          </a:p>
          <a:p xmlns:a="http://schemas.openxmlformats.org/drawingml/2006/main">
            <a:r>
              <a:t/>
            </a:r>
            <a:endParaRPr/>
          </a:p>
          <a:p xmlns:a="http://schemas.openxmlformats.org/drawingml/2006/main">
            <a:r>
              <a:t>中文讲稿</a:t>
            </a:r>
          </a:p>
          <a:p xmlns:a="http://schemas.openxmlformats.org/drawingml/2006/main">
            <a:r>
              <a:t>该单周期实验使用 seed1219 及匹配的仅辅助监督对照，用来分离路由增量。路由点估计为正，但逐图配对置信区间跨零。三种子主实验评价完整模块，不能把全部增益归因于路由。</a:t>
            </a:r>
          </a:p>
          <a:p xmlns:a="http://schemas.openxmlformats.org/drawingml/2006/main">
            <a:r>
              <a:t/>
            </a:r>
            <a:endParaRPr/>
          </a:p>
          <a:p xmlns:a="http://schemas.openxmlformats.org/drawingml/2006/main">
            <a:r>
              <a:t>Sources (snapshot: 22 September 2026)</a:t>
            </a:r>
          </a:p>
          <a:p xmlns:a="http://schemas.openxmlformats.org/drawingml/2006/main">
            <a:r>
              <a:t>Source: previous defence slide 10, original evidence notes follow.</a:t>
            </a:r>
          </a:p>
          <a:p xmlns:a="http://schemas.openxmlformats.org/drawingml/2006/main">
            <a:r>
              <a:t>English speaker script</a:t>
            </a:r>
          </a:p>
          <a:p xmlns:a="http://schemas.openxmlformats.org/drawingml/2006/main">
            <a:r>
              <a:t>The completed auxiliary-only control helps separate the two changes. Adding auxiliary objectives produces a Test IoU point estimate of plus 0.1915 percentage points. Enabling routing with those objectives held fixed adds 0.2472 points. Both image-paired confidence intervals cross zero. The complete configuration improves by 0.4387 points, with an interval from 0.1405 to 0.7276 points. This supports improvement of the full configuration on this split and seed. It does not establish that the route alone has a reliable positive effect, and the additive arithmetic is not a proof of independent causal contributions.</a:t>
            </a:r>
          </a:p>
          <a:p xmlns:a="http://schemas.openxmlformats.org/drawingml/2006/main">
            <a:r>
              <a:t/>
            </a:r>
          </a:p>
          <a:p xmlns:a="http://schemas.openxmlformats.org/drawingml/2006/main">
            <a:r>
              <a:t>中文讲稿</a:t>
            </a:r>
          </a:p>
          <a:p xmlns:a="http://schemas.openxmlformats.org/drawingml/2006/main">
            <a:r>
              <a:t>已经完成的仅辅助监督对照将两项变化分开：辅助目标的 Test IoU 点估计为 +0.1915 个百分点，固定辅助目标再开启路由为 +0.2472 个百分点。两者图像配对区间均跨零。完整配置的增益为 +0.4387 个百分点，区间为 [+0.1405,+0.7276]。因此支持该划分和种子上的完整配置改善，但路由独立贡献的证据还不充分，不能把全部提升归因于路由。</a:t>
            </a:r>
          </a:p>
          <a:p xmlns:a="http://schemas.openxmlformats.org/drawingml/2006/main">
            <a:r>
              <a:t/>
            </a:r>
          </a:p>
          <a:p xmlns:a="http://schemas.openxmlformats.org/drawingml/2006/main">
            <a:r>
              <a:t>Evidence details</a:t>
            </a:r>
          </a:p>
          <a:p xmlns:a="http://schemas.openxmlformats.org/drawingml/2006/main">
            <a:r>
              <a:t>10,000 paired-image bootstrap resamples; RNG seed 20260914. These are not patient-cluster or across-training-seed intervals.</a:t>
            </a:r>
          </a:p>
          <a:p xmlns:a="http://schemas.openxmlformats.org/drawingml/2006/main">
            <a:r>
              <a:t/>
            </a:r>
          </a:p>
          <a:p xmlns:a="http://schemas.openxmlformats.org/drawingml/2006/main">
            <a:r>
              <a:t>Sources · 15 September 2026</a:t>
            </a:r>
          </a:p>
          <a:p xmlns:a="http://schemas.openxmlformats.org/drawingml/2006/main">
            <a:r>
              <a:t>outputs/p8_binding_aux_20260915/FINAL_RESULTS.json</a:t>
            </a:r>
          </a:p>
          <a:p xmlns:a="http://schemas.openxmlformats.org/drawingml/2006/main">
            <a:r>
              <a:t>outputs/p8_research_20260914/test_20260915/TEST_RESULTS.json</a:t>
            </a:r>
          </a:p>
          <a:p xmlns:a="http://schemas.openxmlformats.org/drawingml/2006/main">
            <a:r>
              <a:t>outputs/p8_research_20260914/FINAL_PAIR_REPORT.md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combined model has the highest validation and Test means among the four matched configurations. Validation IoU selects checkpoints. The headline result is Test IoU. The standard deviations describe variation across three training seeds, and the data-split limitations still apply.</a:t>
            </a:r>
          </a:p>
          <a:p xmlns:a="http://schemas.openxmlformats.org/drawingml/2006/main">
            <a:r>
              <a:t/>
            </a:r>
            <a:endParaRPr/>
          </a:p>
          <a:p xmlns:a="http://schemas.openxmlformats.org/drawingml/2006/main">
            <a:r>
              <a:t>中文讲稿</a:t>
            </a:r>
          </a:p>
          <a:p xmlns:a="http://schemas.openxmlformats.org/drawingml/2006/main">
            <a:r>
              <a:t>组合在四组匹配配置中具有最高验证和测试均值。验证 IoU 负责选权重，最终成绩以测试 IoU 为准。标准差表示三个训练种子之间的变化，数据划分限制仍然适用。</a:t>
            </a:r>
          </a:p>
          <a:p xmlns:a="http://schemas.openxmlformats.org/drawingml/2006/main">
            <a:r>
              <a:t/>
            </a:r>
            <a:endParaRPr/>
          </a:p>
          <a:p xmlns:a="http://schemas.openxmlformats.org/drawingml/2006/main">
            <a:r>
              <a:t>Sources (snapshot: 22 September 2026)</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dataset has 5,716 training, 1,429 validation and 2,113 Test images. The primary study selects Best by validation macro IoU and evaluates that fixed checkpoint using probability strictly greater than 0.5. The patient audit finds 434 recoverable IDs shared by Train and Val. No recoverable Test ID overlaps Train or Val, but anonymous samples prevent proving full patient independence. The Test set has prior research access, so it is not an untouched prospective evaluation.</a:t>
            </a:r>
          </a:p>
          <a:p xmlns:a="http://schemas.openxmlformats.org/drawingml/2006/main">
            <a:r>
              <a:t/>
            </a:r>
            <a:endParaRPr/>
          </a:p>
          <a:p xmlns:a="http://schemas.openxmlformats.org/drawingml/2006/main">
            <a:r>
              <a:t>中文讲稿</a:t>
            </a:r>
          </a:p>
          <a:p xmlns:a="http://schemas.openxmlformats.org/drawingml/2006/main">
            <a:r>
              <a:t>数据划分为训练 5716、验证 1429、测试 2113。主实验由验证 macro IoU 选择 Best，再以严格 &gt;0.5 的阈值评估该固定检查点。审计发现 Train/Val 共享 434 个可恢复患者 ID；可恢复 Test ID 未发现交叉，但匿名病例使完整患者独立性无法证明。Test 曾用于研究，不能宣称完全未接触的前瞻评估。</a:t>
            </a:r>
          </a:p>
          <a:p xmlns:a="http://schemas.openxmlformats.org/drawingml/2006/main">
            <a:r>
              <a:t/>
            </a:r>
            <a:endParaRPr/>
          </a:p>
          <a:p xmlns:a="http://schemas.openxmlformats.org/drawingml/2006/main">
            <a:r>
              <a:t>Sources (snapshot: 22 September 2026)</a:t>
            </a:r>
          </a:p>
          <a:p xmlns:a="http://schemas.openxmlformats.org/drawingml/2006/main">
            <a:r>
              <a:t>docs/results/plam_baseline_audit_20260916/AUDIT.md</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repository integrates FSDR and complete RACE source with the result snapshots. Each experiment retains its original full source commit, tag and checkpoint hash. Integration did not retrain or re-evaluate models. The primary study contains 12 single-cycle models. External comparisons have their own source and recipe metadata. Reproduction follows those per-run records.</a:t>
            </a:r>
          </a:p>
          <a:p xmlns:a="http://schemas.openxmlformats.org/drawingml/2006/main">
            <a:r>
              <a:t/>
            </a:r>
            <a:endParaRPr/>
          </a:p>
          <a:p xmlns:a="http://schemas.openxmlformats.org/drawingml/2006/main">
            <a:r>
              <a:t>中文讲稿</a:t>
            </a:r>
          </a:p>
          <a:p xmlns:a="http://schemas.openxmlformats.org/drawingml/2006/main">
            <a:r>
              <a:t>仓库整合 FSDR 和完整 RACE 源码及结果快照。每项实验保留原始完整 SHA、标签和权重哈希，整合没有重新训练或推理。主实验为十二个单周期模型，外部对照有各自来源和配方。复现遵循每项运行记录。</a:t>
            </a:r>
          </a:p>
          <a:p xmlns:a="http://schemas.openxmlformats.org/drawingml/2006/main">
            <a:r>
              <a:t/>
            </a:r>
            <a:endParaRPr/>
          </a:p>
          <a:p xmlns:a="http://schemas.openxmlformats.org/drawingml/2006/main">
            <a:r>
              <a:t>Sources (snapshot: 22 September 2026)</a:t>
            </a:r>
          </a:p>
          <a:p xmlns:a="http://schemas.openxmlformats.org/drawingml/2006/main">
            <a:r>
              <a:t>docs/PAPER_RESULTS.md</a:t>
            </a:r>
          </a:p>
          <a:p xmlns:a="http://schemas.openxmlformats.org/drawingml/2006/main">
            <a:r>
              <a:t>docs/results/IMPORT_PROVENANCE.json</a:t>
            </a:r>
          </a:p>
          <a:p xmlns:a="http://schemas.openxmlformats.org/drawingml/2006/main">
            <a:r>
              <a:t>docs/results/stage1_overall_20260915/FINAL_REPORT.md</a:t>
            </a:r>
          </a:p>
          <a:p xmlns:a="http://schemas.openxmlformats.org/drawingml/2006/main">
            <a:r>
              <a:t>docs/results/stage1_overall_20260915/FINAL_RESULTS.json</a:t>
            </a:r>
          </a:p>
          <a:p xmlns:a="http://schemas.openxmlformats.org/drawingml/2006/main">
            <a:r>
              <a:t>docs/results/text_guided_baselines_20260920/FINAL_RESULTS.json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update (22 September 2026)</a:t>
            </a:r>
          </a:p>
          <a:p xmlns:a="http://schemas.openxmlformats.org/drawingml/2006/main">
            <a:r>
              <a:t>Historical comparison: seed 1219 only. This binding-repair diagnostic does not replace the complete-module three-seed ablation.</a:t>
            </a:r>
          </a:p>
          <a:p xmlns:a="http://schemas.openxmlformats.org/drawingml/2006/main">
            <a:r>
              <a:t>历史比较：仅 seed1219。绑定修复诊断不替代完整模块三种子消融。</a:t>
            </a:r>
            <a:endParaRPr/>
          </a:p>
          <a:p xmlns:a="http://schemas.openxmlformats.org/drawingml/2006/main">
            <a:r>
              <a:t/>
            </a:r>
          </a:p>
          <a:p xmlns:a="http://schemas.openxmlformats.org/drawingml/2006/main">
            <a:r>
              <a:t>English speaker script</a:t>
            </a:r>
          </a:p>
          <a:p xmlns:a="http://schemas.openxmlformats.org/drawingml/2006/main">
            <a:r>
              <a:t>Both RACE variants completed 80 epochs and used validation-selected checkpoints at epoch 75. Corrected binding improves Test IoU relative to original binding by 0.2981 percentage points, while the validation point estimate is lower by 0.1107 points and its interval crosses zero. We retain this split difference without retuning. The main contribution is the RACE mechanism. Repairing report-target assignment is implementation correctness and must not be presented as an additional architectural innovation. Both variants are reported so the correction is not hidden.</a:t>
            </a:r>
            <a:endParaRPr/>
          </a:p>
          <a:p xmlns:a="http://schemas.openxmlformats.org/drawingml/2006/main">
            <a:r>
              <a:t/>
            </a:r>
          </a:p>
          <a:p xmlns:a="http://schemas.openxmlformats.org/drawingml/2006/main">
            <a:r>
              <a:t>中文讲稿</a:t>
            </a:r>
          </a:p>
          <a:p xmlns:a="http://schemas.openxmlformats.org/drawingml/2006/main">
            <a:r>
              <a:t>两种 RACE 均完成 80 轮并使用 Val 选定的第 75 轮检查点。修正绑定相对原绑定的 Test IoU 增益为 0.2981 个百分点，而 Val 点估计低 0.1107 个百分点且区间跨零，两项结果同时保留，不据此回调参数。报告目标绑定修复属于实现正确性，不作为额外结构创新。</a:t>
            </a:r>
          </a:p>
          <a:p xmlns:a="http://schemas.openxmlformats.org/drawingml/2006/main">
            <a:r>
              <a:t/>
            </a:r>
          </a:p>
          <a:p xmlns:a="http://schemas.openxmlformats.org/drawingml/2006/main">
            <a:r>
              <a:t>Sources · 15 September 2026</a:t>
            </a:r>
          </a:p>
          <a:p xmlns:a="http://schemas.openxmlformats.org/drawingml/2006/main">
            <a:r>
              <a:t>outputs/p8_binding_aux_20260915/FINAL_RESULTS.json</a:t>
            </a:r>
          </a:p>
          <a:p xmlns:a="http://schemas.openxmlformats.org/drawingml/2006/main">
            <a:r>
              <a:t>outputs/p8_research_20260914/test_20260915/TEST_RESULTS.json</a:t>
            </a:r>
          </a:p>
          <a:p xmlns:a="http://schemas.openxmlformats.org/drawingml/2006/main">
            <a:r>
              <a:t>outputs/p8_research_20260914/FINAL_PAIR_REPORT.md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30143c433642f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7119f4cc634186" /><Relationship Type="http://schemas.openxmlformats.org/officeDocument/2006/relationships/slideLayout" Target="/ppt/slideLayouts/slideLayout1.xml" Id="Ra4342b0571494a8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342b0571494a8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0aea026a9e417c" /><Relationship Type="http://schemas.openxmlformats.org/officeDocument/2006/relationships/notesSlide" Target="/ppt/notesSlides/notesSlide1.xml" Id="Raa95540319314f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2905a6a33c491d" /><Relationship Type="http://schemas.openxmlformats.org/officeDocument/2006/relationships/notesSlide" Target="/ppt/notesSlides/notesSlide2.xml" Id="Rebfdc0f9980a44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b88e4f2c664ddf" /><Relationship Type="http://schemas.openxmlformats.org/officeDocument/2006/relationships/notesSlide" Target="/ppt/notesSlides/notesSlide3.xml" Id="R0b0c877c37a24f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7c4871fe9747a5" /><Relationship Type="http://schemas.openxmlformats.org/officeDocument/2006/relationships/notesSlide" Target="/ppt/notesSlides/notesSlide4.xml" Id="Rac660a737be64b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423607777c44b4" /><Relationship Type="http://schemas.openxmlformats.org/officeDocument/2006/relationships/notesSlide" Target="/ppt/notesSlides/notesSlide5.xml" Id="Rf5c1fa17153043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3dee45017748d8" /><Relationship Type="http://schemas.openxmlformats.org/officeDocument/2006/relationships/notesSlide" Target="/ppt/notesSlides/notesSlide6.xml" Id="R93852eb87de64c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4721fa4810445f" /><Relationship Type="http://schemas.openxmlformats.org/officeDocument/2006/relationships/notesSlide" Target="/ppt/notesSlides/notesSlide7.xml" Id="Rb7842360afcb49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fe9c81121c405e" /><Relationship Type="http://schemas.openxmlformats.org/officeDocument/2006/relationships/notesSlide" Target="/ppt/notesSlides/notesSlide8.xml" Id="Rff041f01a03f4a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7af72a3f6e46e6" /><Relationship Type="http://schemas.openxmlformats.org/officeDocument/2006/relationships/notesSlide" Target="/ppt/notesSlides/notesSlide9.xml" Id="R3c515e9f974f41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688d24c6fd4377" /><Relationship Type="http://schemas.openxmlformats.org/officeDocument/2006/relationships/notesSlide" Target="/ppt/notesSlides/notesSlide10.xml" Id="Rc5b795fd003845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1cd5028f2a416b" /><Relationship Type="http://schemas.openxmlformats.org/officeDocument/2006/relationships/notesSlide" Target="/ppt/notesSlides/notesSlide11.xml" Id="R6d1bad301adb48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a5bd084440e40ca" /><Relationship Type="http://schemas.openxmlformats.org/officeDocument/2006/relationships/notesSlide" Target="/ppt/notesSlides/notesSlide12.xml" Id="R9c9506d35ed048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34901f21af44b39" /><Relationship Type="http://schemas.openxmlformats.org/officeDocument/2006/relationships/notesSlide" Target="/ppt/notesSlides/notesSlide13.xml" Id="Ra964214db32848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7b30afce5b046af" /><Relationship Type="http://schemas.openxmlformats.org/officeDocument/2006/relationships/notesSlide" Target="/ppt/notesSlides/notesSlide14.xml" Id="R30c9fbd00d404ff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a2ffb0349bb4ea9" /><Relationship Type="http://schemas.openxmlformats.org/officeDocument/2006/relationships/notesSlide" Target="/ppt/notesSlides/notesSlide15.xml" Id="Rfa586728f0b94d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1514cb3fe5f43e8" /><Relationship Type="http://schemas.openxmlformats.org/officeDocument/2006/relationships/notesSlide" Target="/ppt/notesSlides/notesSlide16.xml" Id="R2cf637a43b844c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4112bac39934db9" /><Relationship Type="http://schemas.openxmlformats.org/officeDocument/2006/relationships/notesSlide" Target="/ppt/notesSlides/notesSlide17.xml" Id="Rc822e7a65f064e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71c4fe98bd44d44" /><Relationship Type="http://schemas.openxmlformats.org/officeDocument/2006/relationships/notesSlide" Target="/ppt/notesSlides/notesSlide18.xml" Id="R76128a42e18048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774e5445ffd4b18" /><Relationship Type="http://schemas.openxmlformats.org/officeDocument/2006/relationships/notesSlide" Target="/ppt/notesSlides/notesSlide19.xml" Id="Rd15a2ba61edd461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b49f57feb284b5e" /><Relationship Type="http://schemas.openxmlformats.org/officeDocument/2006/relationships/notesSlide" Target="/ppt/notesSlides/notesSlide20.xml" Id="Rda18eba66e624a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c1265e795ca465b" /><Relationship Type="http://schemas.openxmlformats.org/officeDocument/2006/relationships/notesSlide" Target="/ppt/notesSlides/notesSlide21.xml" Id="Rc3f1ca88bdfd4bf5" /></Relationships>
</file>

<file path=ppt/slides/slide1.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7C63F583-713A-442F-B7A9-949E82235146}"/>
              </a:ext>
            </a:extLst>
          </p:cNvPr>
          <p:cNvSpPr>
            <a:spLocks xmlns:a="http://schemas.openxmlformats.org/drawingml/2006/main" noGrp="1"/>
          </p:cNvSpPr>
          <p:nvPr/>
        </p:nvSpPr>
        <p:spPr>
          <a:xfrm xmlns:a="http://schemas.openxmlformats.org/drawingml/2006/main">
            <a:off x="640080" y="379476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FFFFFF"/>
                </a:solidFill>
                <a:latin typeface="Calibri"/>
                <a:ea typeface="Calibri"/>
                <a:cs typeface="Calibri"/>
              </a:rPr>
              <a:t>Ramos Wang   ·   SID 550378666</a:t>
            </a:r>
            <a:endParaRPr sz="1700"/>
          </a:p>
        </p:txBody>
      </p:sp>
      <p:sp>
        <p:nvSpPr>
          <p:cNvPr id="4" name="Text 2">
            <a:extLst xmlns:a="http://schemas.openxmlformats.org/drawingml/2006/main">
              <a:ext uri="{FF2B5EF4-FFF2-40B4-BE49-F238E27FC236}">
                <a16:creationId xmlns:a16="http://schemas.microsoft.com/office/drawing/2014/main" id="{0A45F3AC-156B-42B7-BBC4-D239DF443609}"/>
              </a:ext>
            </a:extLst>
          </p:cNvPr>
          <p:cNvSpPr>
            <a:spLocks xmlns:a="http://schemas.openxmlformats.org/drawingml/2006/main" noGrp="1"/>
          </p:cNvSpPr>
          <p:nvPr/>
        </p:nvSpPr>
        <p:spPr>
          <a:xfrm xmlns:a="http://schemas.openxmlformats.org/drawingml/2006/main">
            <a:off x="640080" y="4251960"/>
            <a:ext cx="100584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300">
                <a:solidFill>
                  <a:srgbClr val="B8B8B8"/>
                </a:solidFill>
                <a:latin typeface="Calibri"/>
                <a:ea typeface="Calibri"/>
                <a:cs typeface="Calibri"/>
              </a:rPr>
              <a:t>Supervisor: Prof. Yonghui Li</a:t>
            </a:r>
            <a:endParaRPr sz="1300"/>
          </a:p>
          <a:p xmlns:a="http://schemas.openxmlformats.org/drawingml/2006/main">
            <a:pPr marL="0" indent="0">
              <a:lnSpc>
                <a:spcPts val="1900"/>
              </a:lnSpc>
              <a:buNone/>
            </a:pPr>
            <a:r>
              <a:rPr sz="1300">
                <a:solidFill>
                  <a:srgbClr val="B8B8B8"/>
                </a:solidFill>
                <a:latin typeface="Calibri"/>
                <a:ea typeface="Calibri"/>
                <a:cs typeface="Calibri"/>
              </a:rPr>
              <a:t>ELEC5223 Dissertation B  ·  School of Electrical and Computer Engineering</a:t>
            </a:r>
            <a:endParaRPr sz="1300"/>
          </a:p>
          <a:p xmlns:a="http://schemas.openxmlformats.org/drawingml/2006/main">
            <a:pPr marL="0" indent="0">
              <a:lnSpc>
                <a:spcPts val="1900"/>
              </a:lnSpc>
              <a:buNone/>
            </a:pPr>
            <a:r>
              <a:rPr sz="1300">
                <a:solidFill>
                  <a:srgbClr val="B8B8B8"/>
                </a:solidFill>
                <a:latin typeface="Calibri"/>
                <a:ea typeface="Calibri"/>
                <a:cs typeface="Calibri"/>
              </a:rPr>
              <a:t>The University of Sydney</a:t>
            </a:r>
            <a:endParaRPr sz="1300"/>
          </a:p>
        </p:txBody>
      </p:sp>
      <p:sp>
        <p:nvSpPr>
          <p:cNvPr id="5" name="Project update: 7 September 2026">
            <a:extLst xmlns:a="http://schemas.openxmlformats.org/drawingml/2006/main">
              <a:ext uri="{FF2B5EF4-FFF2-40B4-BE49-F238E27FC236}">
                <a16:creationId xmlns:a16="http://schemas.microsoft.com/office/drawing/2014/main" id="{8560DC34-A698-4B9E-B8B4-A6E14295BC5E}"/>
              </a:ext>
            </a:extLst>
          </p:cNvPr>
          <p:cNvSpPr>
            <a:spLocks xmlns:a="http://schemas.openxmlformats.org/drawingml/2006/main" noGrp="1"/>
          </p:cNvSpPr>
          <p:nvPr/>
        </p:nvSpPr>
        <p:spPr>
          <a:xfrm xmlns:a="http://schemas.openxmlformats.org/drawingml/2006/main">
            <a:off x="640080" y="56102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BBBBBB"/>
                </a:solidFill>
                <a:latin typeface="Calibri"/>
                <a:ea typeface="Calibri"/>
                <a:cs typeface="Calibri"/>
              </a:defRPr>
            </a:pPr>
            <a:r>
              <a:rPr sz="1800" b="0">
                <a:solidFill>
                  <a:srgbClr val="BBBBBB"/>
                </a:solidFill>
                <a:latin typeface="Calibri"/>
                <a:ea typeface="Calibri"/>
                <a:cs typeface="Calibri"/>
              </a:rPr>
              <a:t>Final defence · Updated 22 September 2026</a:t>
            </a:r>
          </a:p>
        </p:txBody>
      </p:sp>
      <p:sp>
        <p:nvSpPr>
          <p:cNvPr id="6" name="">
            <a:extLst xmlns:a="http://schemas.openxmlformats.org/drawingml/2006/main">
              <a:ext uri="{FF2B5EF4-FFF2-40B4-BE49-F238E27FC236}">
                <a16:creationId xmlns:a16="http://schemas.microsoft.com/office/drawing/2014/main" id="{69B852C7-A3E5-4D76-80AB-3F82750D74CB}"/>
              </a:ext>
            </a:extLst>
          </p:cNvPr>
          <p:cNvSpPr>
            <a:spLocks xmlns:a="http://schemas.openxmlformats.org/drawingml/2006/main" noGrp="1"/>
          </p:cNvSpPr>
          <p:nvPr/>
        </p:nvSpPr>
        <p:spPr>
          <a:xfrm xmlns:a="http://schemas.openxmlformats.org/drawingml/2006/main">
            <a:off x="638175" y="17335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200" b="1">
                <a:solidFill>
                  <a:srgbClr val="FF0000"/>
                </a:solidFill>
                <a:latin typeface="Cambria"/>
                <a:ea typeface="Cambria"/>
                <a:cs typeface="Cambria"/>
              </a:defRPr>
            </a:pPr>
            <a:r>
              <a:rPr sz="4200" b="1">
                <a:solidFill>
                  <a:srgbClr val="FF0000"/>
                </a:solidFill>
                <a:latin typeface="Cambria"/>
                <a:ea typeface="Cambria"/>
                <a:cs typeface="Cambria"/>
              </a:rPr>
              <a:t>FSDR and RACE</a:t>
            </a:r>
          </a:p>
        </p:txBody>
      </p:sp>
      <p:sp>
        <p:nvSpPr>
          <p:cNvPr id="7" name="">
            <a:extLst xmlns:a="http://schemas.openxmlformats.org/drawingml/2006/main">
              <a:ext uri="{FF2B5EF4-FFF2-40B4-BE49-F238E27FC236}">
                <a16:creationId xmlns:a16="http://schemas.microsoft.com/office/drawing/2014/main" id="{883ED68C-619D-4C34-BD7B-097EB4A1A9C9}"/>
              </a:ext>
            </a:extLst>
          </p:cNvPr>
          <p:cNvSpPr>
            <a:spLocks xmlns:a="http://schemas.openxmlformats.org/drawingml/2006/main" noGrp="1"/>
          </p:cNvSpPr>
          <p:nvPr/>
        </p:nvSpPr>
        <p:spPr>
          <a:xfrm xmlns:a="http://schemas.openxmlformats.org/drawingml/2006/main">
            <a:off x="638175" y="2571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FFFFF"/>
                </a:solidFill>
                <a:latin typeface="Cambria"/>
                <a:ea typeface="Cambria"/>
                <a:cs typeface="Cambria"/>
              </a:defRPr>
            </a:pPr>
            <a:r>
              <a:rPr sz="3000" b="1">
                <a:solidFill>
                  <a:srgbClr val="FFFFFF"/>
                </a:solidFill>
                <a:latin typeface="Cambria"/>
                <a:ea typeface="Cambria"/>
                <a:cs typeface="Cambria"/>
              </a:rPr>
              <a:t>Text-Guided Segmentation of COVID-19 Infections</a:t>
            </a:r>
          </a:p>
          <a:p xmlns:a="http://schemas.openxmlformats.org/drawingml/2006/main">
            <a:pPr algn="l">
              <a:defRPr sz="3000" b="1">
                <a:solidFill>
                  <a:srgbClr val="FFFFFF"/>
                </a:solidFill>
                <a:latin typeface="Cambria"/>
                <a:ea typeface="Cambria"/>
                <a:cs typeface="Cambria"/>
              </a:defRPr>
            </a:pPr>
            <a:r>
              <a:rPr sz="3000" b="1">
                <a:solidFill>
                  <a:srgbClr val="FFFFFF"/>
                </a:solidFill>
                <a:latin typeface="Cambria"/>
                <a:ea typeface="Cambria"/>
                <a:cs typeface="Cambria"/>
              </a:rPr>
              <a:t>in Chest X-rays</a:t>
            </a:r>
          </a:p>
        </p:txBody>
      </p:sp>
    </p:spTree>
    <p:extLst>
      <p:ext uri="{BB962C8B-B14F-4D97-AF65-F5344CB8AC3E}">
        <p14:creationId xmlns:p14="http://schemas.microsoft.com/office/powerpoint/2010/main" val="789633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F12045-597E-4B5F-8B11-069B62602951}"/>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Project contributions</a:t>
            </a:r>
            <a:endParaRPr sz="2800"/>
          </a:p>
        </p:txBody>
      </p:sp>
      <p:sp>
        <p:nvSpPr>
          <p:cNvPr id="3" name="Task: chest X-ray + report → infection segmentatio">
            <a:extLst xmlns:a="http://schemas.openxmlformats.org/drawingml/2006/main">
              <a:ext uri="{FF2B5EF4-FFF2-40B4-BE49-F238E27FC236}">
                <a16:creationId xmlns:a16="http://schemas.microsoft.com/office/drawing/2014/main" id="{4FCAB10B-C2B1-4CDB-B7F0-EE1E09F4E7D7}"/>
              </a:ext>
            </a:extLst>
          </p:cNvPr>
          <p:cNvSpPr>
            <a:spLocks xmlns:a="http://schemas.openxmlformats.org/drawingml/2006/main" noGrp="1"/>
          </p:cNvSpPr>
          <p:nvPr/>
        </p:nvSpPr>
        <p:spPr>
          <a:xfrm xmlns:a="http://schemas.openxmlformats.org/drawingml/2006/main">
            <a:off x="638175" y="1495425"/>
            <a:ext cx="1091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606060"/>
                </a:solidFill>
                <a:latin typeface="Calibri"/>
                <a:ea typeface="Calibri"/>
                <a:cs typeface="Calibri"/>
              </a:defRPr>
            </a:pPr>
            <a:r>
              <a:rPr sz="2100" b="0">
                <a:solidFill>
                  <a:srgbClr val="606060"/>
                </a:solidFill>
                <a:latin typeface="Calibri"/>
                <a:ea typeface="Calibri"/>
                <a:cs typeface="Calibri"/>
              </a:rPr>
              <a:t>Task: chest X-ray + report → infection segmentation</a:t>
            </a:r>
          </a:p>
        </p:txBody>
      </p:sp>
      <p:sp>
        <p:nvSpPr>
          <p:cNvPr id="4" name="FSDR">
            <a:extLst xmlns:a="http://schemas.openxmlformats.org/drawingml/2006/main">
              <a:ext uri="{FF2B5EF4-FFF2-40B4-BE49-F238E27FC236}">
                <a16:creationId xmlns:a16="http://schemas.microsoft.com/office/drawing/2014/main" id="{70DE6E54-BFA9-4D6B-AA15-5DE5FF981DBE}"/>
              </a:ext>
            </a:extLst>
          </p:cNvPr>
          <p:cNvSpPr>
            <a:spLocks xmlns:a="http://schemas.openxmlformats.org/drawingml/2006/main" noGrp="1"/>
          </p:cNvSpPr>
          <p:nvPr/>
        </p:nvSpPr>
        <p:spPr>
          <a:xfrm xmlns:a="http://schemas.openxmlformats.org/drawingml/2006/main">
            <a:off x="638175" y="21907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Calibri"/>
                <a:ea typeface="Calibri"/>
                <a:cs typeface="Calibri"/>
              </a:defRPr>
            </a:pPr>
            <a:r>
              <a:rPr sz="2400" b="1">
                <a:solidFill>
                  <a:srgbClr val="111111"/>
                </a:solidFill>
                <a:latin typeface="Calibri"/>
                <a:ea typeface="Calibri"/>
                <a:cs typeface="Calibri"/>
              </a:rPr>
              <a:t>FSDR</a:t>
            </a:r>
          </a:p>
        </p:txBody>
      </p:sp>
      <p:sp>
        <p:nvSpPr>
          <p:cNvPr id="5" name="Frequency-aware Semantic–Detail Refinement">
            <a:extLst xmlns:a="http://schemas.openxmlformats.org/drawingml/2006/main">
              <a:ext uri="{FF2B5EF4-FFF2-40B4-BE49-F238E27FC236}">
                <a16:creationId xmlns:a16="http://schemas.microsoft.com/office/drawing/2014/main" id="{C3B2EB3F-D03C-40CB-BC64-32A6EA541B92}"/>
              </a:ext>
            </a:extLst>
          </p:cNvPr>
          <p:cNvSpPr>
            <a:spLocks xmlns:a="http://schemas.openxmlformats.org/drawingml/2006/main" noGrp="1"/>
          </p:cNvSpPr>
          <p:nvPr/>
        </p:nvSpPr>
        <p:spPr>
          <a:xfrm xmlns:a="http://schemas.openxmlformats.org/drawingml/2006/main">
            <a:off x="2667000" y="2190750"/>
            <a:ext cx="8886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11111"/>
                </a:solidFill>
                <a:latin typeface="Calibri"/>
                <a:ea typeface="Calibri"/>
                <a:cs typeface="Calibri"/>
              </a:defRPr>
            </a:pPr>
            <a:r>
              <a:rPr sz="2250" b="1">
                <a:solidFill>
                  <a:srgbClr val="111111"/>
                </a:solidFill>
                <a:latin typeface="Calibri"/>
                <a:ea typeface="Calibri"/>
                <a:cs typeface="Calibri"/>
              </a:rPr>
              <a:t>Frequency-aware Semantic–Detail Refinement</a:t>
            </a:r>
          </a:p>
        </p:txBody>
      </p:sp>
      <p:sp>
        <p:nvSpPr>
          <p:cNvPr id="6" name="Separates semantic guidance and spatial detail in ">
            <a:extLst xmlns:a="http://schemas.openxmlformats.org/drawingml/2006/main">
              <a:ext uri="{FF2B5EF4-FFF2-40B4-BE49-F238E27FC236}">
                <a16:creationId xmlns:a16="http://schemas.microsoft.com/office/drawing/2014/main" id="{B0971180-4E39-494C-836C-55E6B6B90615}"/>
              </a:ext>
            </a:extLst>
          </p:cNvPr>
          <p:cNvSpPr>
            <a:spLocks xmlns:a="http://schemas.openxmlformats.org/drawingml/2006/main" noGrp="1"/>
          </p:cNvSpPr>
          <p:nvPr/>
        </p:nvSpPr>
        <p:spPr>
          <a:xfrm xmlns:a="http://schemas.openxmlformats.org/drawingml/2006/main">
            <a:off x="2667000" y="2733675"/>
            <a:ext cx="885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Separates semantic guidance and spatial detail in LViT skip fusion.</a:t>
            </a:r>
          </a:p>
          <a:p xmlns:a="http://schemas.openxmlformats.org/drawingml/2006/main">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Mean Test IoU gain over matched PLAM: +0.5058 pp (three seeds).</a:t>
            </a:r>
          </a:p>
        </p:txBody>
      </p:sp>
      <p:sp>
        <p:nvSpPr>
          <p:cNvPr id="7" name="RACE">
            <a:extLst xmlns:a="http://schemas.openxmlformats.org/drawingml/2006/main">
              <a:ext uri="{FF2B5EF4-FFF2-40B4-BE49-F238E27FC236}">
                <a16:creationId xmlns:a16="http://schemas.microsoft.com/office/drawing/2014/main" id="{95EBF312-2E72-4B08-9335-4AEF8751D2EE}"/>
              </a:ext>
            </a:extLst>
          </p:cNvPr>
          <p:cNvSpPr>
            <a:spLocks xmlns:a="http://schemas.openxmlformats.org/drawingml/2006/main" noGrp="1"/>
          </p:cNvSpPr>
          <p:nvPr/>
        </p:nvSpPr>
        <p:spPr>
          <a:xfrm xmlns:a="http://schemas.openxmlformats.org/drawingml/2006/main">
            <a:off x="638175" y="38671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Calibri"/>
                <a:ea typeface="Calibri"/>
                <a:cs typeface="Calibri"/>
              </a:defRPr>
            </a:pPr>
            <a:r>
              <a:rPr sz="2400" b="1">
                <a:solidFill>
                  <a:srgbClr val="111111"/>
                </a:solidFill>
                <a:latin typeface="Calibri"/>
                <a:ea typeface="Calibri"/>
                <a:cs typeface="Calibri"/>
              </a:rPr>
              <a:t>RACE</a:t>
            </a:r>
          </a:p>
        </p:txBody>
      </p:sp>
      <p:sp>
        <p:nvSpPr>
          <p:cNvPr id="8" name="Report–Anatomy Consistency and Evidence Fusion">
            <a:extLst xmlns:a="http://schemas.openxmlformats.org/drawingml/2006/main">
              <a:ext uri="{FF2B5EF4-FFF2-40B4-BE49-F238E27FC236}">
                <a16:creationId xmlns:a16="http://schemas.microsoft.com/office/drawing/2014/main" id="{262B5C1C-F288-42B3-891E-31E96F51793E}"/>
              </a:ext>
            </a:extLst>
          </p:cNvPr>
          <p:cNvSpPr>
            <a:spLocks xmlns:a="http://schemas.openxmlformats.org/drawingml/2006/main" noGrp="1"/>
          </p:cNvSpPr>
          <p:nvPr/>
        </p:nvSpPr>
        <p:spPr>
          <a:xfrm xmlns:a="http://schemas.openxmlformats.org/drawingml/2006/main">
            <a:off x="2667000" y="3867150"/>
            <a:ext cx="8886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Report–Anatomy Consistency and Evidence Fusion</a:t>
            </a:r>
          </a:p>
        </p:txBody>
      </p:sp>
      <p:sp>
        <p:nvSpPr>
          <p:cNvPr id="9" name="Combines learned report cues, anatomical regions a">
            <a:extLst xmlns:a="http://schemas.openxmlformats.org/drawingml/2006/main">
              <a:ext uri="{FF2B5EF4-FFF2-40B4-BE49-F238E27FC236}">
                <a16:creationId xmlns:a16="http://schemas.microsoft.com/office/drawing/2014/main" id="{1A0DB4AD-C2FD-4466-95DE-D23C67E8D789}"/>
              </a:ext>
            </a:extLst>
          </p:cNvPr>
          <p:cNvSpPr>
            <a:spLocks xmlns:a="http://schemas.openxmlformats.org/drawingml/2006/main" noGrp="1"/>
          </p:cNvSpPr>
          <p:nvPr/>
        </p:nvSpPr>
        <p:spPr>
          <a:xfrm xmlns:a="http://schemas.openxmlformats.org/drawingml/2006/main">
            <a:off x="2667000" y="4419600"/>
            <a:ext cx="8886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Combines learned report cues, anatomical regions and visual evidence.</a:t>
            </a:r>
          </a:p>
          <a:p xmlns:a="http://schemas.openxmlformats.org/drawingml/2006/main">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Complete RACE adds +0.2428 pp Test IoU to FSDR (three seeds).</a:t>
            </a:r>
          </a:p>
        </p:txBody>
      </p:sp>
      <p:sp>
        <p:nvSpPr>
          <p:cNvPr id="10" name="Two complementary designs: frequency refinement an">
            <a:extLst xmlns:a="http://schemas.openxmlformats.org/drawingml/2006/main">
              <a:ext uri="{FF2B5EF4-FFF2-40B4-BE49-F238E27FC236}">
                <a16:creationId xmlns:a16="http://schemas.microsoft.com/office/drawing/2014/main" id="{56A679C8-CE63-4E6B-BA81-B59FE2F39F55}"/>
              </a:ext>
            </a:extLst>
          </p:cNvPr>
          <p:cNvSpPr>
            <a:spLocks xmlns:a="http://schemas.openxmlformats.org/drawingml/2006/main" noGrp="1"/>
          </p:cNvSpPr>
          <p:nvPr/>
        </p:nvSpPr>
        <p:spPr>
          <a:xfrm xmlns:a="http://schemas.openxmlformats.org/drawingml/2006/main">
            <a:off x="638175" y="5638800"/>
            <a:ext cx="10915650" cy="54292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wrap="square" lIns="133350" tIns="95250" rIns="133350" bIns="66675" anchor="ctr">
            <a:noAutofit/>
          </a:bodyPr>
          <a:lstStyle xmlns:a="http://schemas.openxmlformats.org/drawingml/2006/main"/>
          <a:p xmlns:a="http://schemas.openxmlformats.org/drawingml/2006/main">
            <a:pPr algn="l">
              <a:buNone/>
              <a:defRPr sz="1875" b="1">
                <a:solidFill>
                  <a:srgbClr val="FFFFFF"/>
                </a:solidFill>
                <a:latin typeface="Calibri"/>
                <a:ea typeface="Calibri"/>
                <a:cs typeface="Calibri"/>
              </a:defRPr>
            </a:pPr>
            <a:r>
              <a:rPr sz="1875" b="1">
                <a:solidFill>
                  <a:srgbClr val="FFFFFF"/>
                </a:solidFill>
                <a:latin typeface="Calibri"/>
                <a:ea typeface="Calibri"/>
                <a:cs typeface="Calibri"/>
              </a:rPr>
              <a:t>FSDR + complete RACE: 76.2262% Test IoU, +0.7487 pp over matched PLAM</a:t>
            </a:r>
          </a:p>
        </p:txBody>
      </p:sp>
      <p:sp>
        <p:nvSpPr>
          <p:cNvPr id="11" name="Research contributions">
            <a:extLst xmlns:a="http://schemas.openxmlformats.org/drawingml/2006/main">
              <a:ext uri="{FF2B5EF4-FFF2-40B4-BE49-F238E27FC236}">
                <a16:creationId xmlns:a16="http://schemas.microsoft.com/office/drawing/2014/main" id="{351D38B3-6298-4BC6-8231-F6AA84F0079C}"/>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Research contributions</a:t>
            </a:r>
          </a:p>
        </p:txBody>
      </p:sp>
      <p:sp>
        <p:nvSpPr>
          <p:cNvPr id="12" name="2">
            <a:extLst xmlns:a="http://schemas.openxmlformats.org/drawingml/2006/main">
              <a:ext uri="{FF2B5EF4-FFF2-40B4-BE49-F238E27FC236}">
                <a16:creationId xmlns:a16="http://schemas.microsoft.com/office/drawing/2014/main" id="{B08464F2-CEFC-4337-91A0-869BA589E4C0}"/>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a:t>
            </a:r>
          </a:p>
        </p:txBody>
      </p:sp>
    </p:spTree>
    <p:extLst>
      <p:ext uri="{BB962C8B-B14F-4D97-AF65-F5344CB8AC3E}">
        <p14:creationId xmlns:p14="http://schemas.microsoft.com/office/powerpoint/2010/main" val="1498126761"/>
      </p:ext>
    </p:extLst>
  </p:cSld>
</p:sld>
</file>

<file path=ppt/slides/slide3.xml><?xml version="1.0" encoding="utf-8"?>
<p:sld xmlns:p="http://schemas.openxmlformats.org/presentationml/2006/main">
  <p:cSld>
    <p:bg>
      <p:bgPr>
        <a:solidFill xmlns:a="http://schemas.openxmlformats.org/drawingml/2006/main">
          <a:srgbClr val="191919"/>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2548CC0-5909-43D8-9DBB-0F7BBE071A42}"/>
              </a:ext>
            </a:extLst>
          </p:cNvPr>
          <p:cNvSpPr>
            <a:spLocks xmlns:a="http://schemas.openxmlformats.org/drawingml/2006/main" noGrp="1"/>
          </p:cNvSpPr>
          <p:nvPr/>
        </p:nvSpPr>
        <p:spPr>
          <a:xfrm xmlns:a="http://schemas.openxmlformats.org/drawingml/2006/main">
            <a:off x="638175" y="381000"/>
            <a:ext cx="109156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F4F4F4"/>
                </a:solidFill>
                <a:latin typeface="Cambria"/>
                <a:ea typeface="Cambria"/>
                <a:cs typeface="Cambria"/>
              </a:defRPr>
            </a:pPr>
            <a:r>
              <a:rPr sz="2925" b="1">
                <a:solidFill>
                  <a:srgbClr val="F4F4F4"/>
                </a:solidFill>
                <a:latin typeface="Cambria"/>
                <a:ea typeface="Cambria"/>
                <a:cs typeface="Cambria"/>
              </a:rPr>
              <a:t>FSDR and RACE within LViT</a:t>
            </a:r>
          </a:p>
        </p:txBody>
      </p:sp>
      <p:sp>
        <p:nvSpPr>
          <p:cNvPr id="2" name="">
            <a:extLst xmlns:a="http://schemas.openxmlformats.org/drawingml/2006/main">
              <a:ext uri="{FF2B5EF4-FFF2-40B4-BE49-F238E27FC236}">
                <a16:creationId xmlns:a16="http://schemas.microsoft.com/office/drawing/2014/main" id="{29A66679-BAB6-424B-ACA0-09ACE77548DD}"/>
              </a:ext>
            </a:extLst>
          </p:cNvPr>
          <p:cNvSpPr>
            <a:spLocks xmlns:a="http://schemas.openxmlformats.org/drawingml/2006/main" noGrp="1"/>
          </p:cNvSpPr>
          <p:nvPr/>
        </p:nvSpPr>
        <p:spPr>
          <a:xfrm xmlns:a="http://schemas.openxmlformats.org/drawingml/2006/main">
            <a:off x="638175" y="64674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Placement: RACE on CNN skips, FSDR inside all four decoder stages</a:t>
            </a:r>
          </a:p>
        </p:txBody>
      </p:sp>
      <p:sp>
        <p:nvSpPr>
          <p:cNvPr id="3" name="">
            <a:extLst xmlns:a="http://schemas.openxmlformats.org/drawingml/2006/main">
              <a:ext uri="{FF2B5EF4-FFF2-40B4-BE49-F238E27FC236}">
                <a16:creationId xmlns:a16="http://schemas.microsoft.com/office/drawing/2014/main" id="{E1E13FED-F64D-4885-8A80-B4FD30F8D8BA}"/>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3</a:t>
            </a:r>
          </a:p>
        </p:txBody>
      </p:sp>
      <p:sp>
        <p:nvSpPr>
          <p:cNvPr id="4" name="">
            <a:extLst xmlns:a="http://schemas.openxmlformats.org/drawingml/2006/main">
              <a:ext uri="{FF2B5EF4-FFF2-40B4-BE49-F238E27FC236}">
                <a16:creationId xmlns:a16="http://schemas.microsoft.com/office/drawing/2014/main" id="{2F25ED30-ED0B-4182-BBAF-017A626E14F3}"/>
              </a:ext>
            </a:extLst>
          </p:cNvPr>
          <p:cNvSpPr>
            <a:spLocks xmlns:a="http://schemas.openxmlformats.org/drawingml/2006/main" noGrp="1"/>
          </p:cNvSpPr>
          <p:nvPr/>
        </p:nvSpPr>
        <p:spPr>
          <a:xfrm xmlns:a="http://schemas.openxmlformats.org/drawingml/2006/main">
            <a:off x="638175" y="1562100"/>
            <a:ext cx="1466850"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Report</a:t>
            </a:r>
          </a:p>
        </p:txBody>
      </p:sp>
      <p:sp>
        <p:nvSpPr>
          <p:cNvPr id="5" name="">
            <a:extLst xmlns:a="http://schemas.openxmlformats.org/drawingml/2006/main">
              <a:ext uri="{FF2B5EF4-FFF2-40B4-BE49-F238E27FC236}">
                <a16:creationId xmlns:a16="http://schemas.microsoft.com/office/drawing/2014/main" id="{4427C913-971C-4516-9CE6-40D9C4634974}"/>
              </a:ext>
            </a:extLst>
          </p:cNvPr>
          <p:cNvSpPr>
            <a:spLocks xmlns:a="http://schemas.openxmlformats.org/drawingml/2006/main" noGrp="1"/>
          </p:cNvSpPr>
          <p:nvPr/>
        </p:nvSpPr>
        <p:spPr>
          <a:xfrm xmlns:a="http://schemas.openxmlformats.org/drawingml/2006/main">
            <a:off x="2619375" y="1562100"/>
            <a:ext cx="2257425"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Frozen CXR-BERT</a:t>
            </a:r>
          </a:p>
        </p:txBody>
      </p:sp>
      <p:sp>
        <p:nvSpPr>
          <p:cNvPr id="6" name="">
            <a:extLst xmlns:a="http://schemas.openxmlformats.org/drawingml/2006/main">
              <a:ext uri="{FF2B5EF4-FFF2-40B4-BE49-F238E27FC236}">
                <a16:creationId xmlns:a16="http://schemas.microsoft.com/office/drawing/2014/main" id="{71E7749D-5921-4AA8-97CE-2AB32737CD92}"/>
              </a:ext>
            </a:extLst>
          </p:cNvPr>
          <p:cNvSpPr>
            <a:spLocks xmlns:a="http://schemas.openxmlformats.org/drawingml/2006/main" noGrp="1"/>
          </p:cNvSpPr>
          <p:nvPr/>
        </p:nvSpPr>
        <p:spPr>
          <a:xfrm xmlns:a="http://schemas.openxmlformats.org/drawingml/2006/main">
            <a:off x="5715000" y="1428750"/>
            <a:ext cx="2333625" cy="857250"/>
          </a:xfrm>
          <a:prstGeom xmlns:a="http://schemas.openxmlformats.org/drawingml/2006/main" prst="roundRect">
            <a:avLst>
              <a:gd name="adj" fmla="val 14444"/>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LViT transformer</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encoder / decoder</a:t>
            </a:r>
          </a:p>
        </p:txBody>
      </p:sp>
      <p:sp>
        <p:nvSpPr>
          <p:cNvPr id="7" name="">
            <a:extLst xmlns:a="http://schemas.openxmlformats.org/drawingml/2006/main">
              <a:ext uri="{FF2B5EF4-FFF2-40B4-BE49-F238E27FC236}">
                <a16:creationId xmlns:a16="http://schemas.microsoft.com/office/drawing/2014/main" id="{99031C39-70EA-4715-BCFF-1B2F147EC7D0}"/>
              </a:ext>
            </a:extLst>
          </p:cNvPr>
          <p:cNvSpPr>
            <a:spLocks xmlns:a="http://schemas.openxmlformats.org/drawingml/2006/main" noGrp="1"/>
          </p:cNvSpPr>
          <p:nvPr/>
        </p:nvSpPr>
        <p:spPr>
          <a:xfrm xmlns:a="http://schemas.openxmlformats.org/drawingml/2006/main">
            <a:off x="8991600" y="1476375"/>
            <a:ext cx="2552700" cy="762000"/>
          </a:xfrm>
          <a:prstGeom xmlns:a="http://schemas.openxmlformats.org/drawingml/2006/main" prst="roundRect">
            <a:avLst>
              <a:gd name="adj" fmla="val 16250"/>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ViT reconstructions</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V₁, V₂, V₃, V₄</a:t>
            </a:r>
          </a:p>
        </p:txBody>
      </p:sp>
      <p:sp>
        <p:nvSpPr>
          <p:cNvPr id="8" name="">
            <a:extLst xmlns:a="http://schemas.openxmlformats.org/drawingml/2006/main">
              <a:ext uri="{FF2B5EF4-FFF2-40B4-BE49-F238E27FC236}">
                <a16:creationId xmlns:a16="http://schemas.microsoft.com/office/drawing/2014/main" id="{569131FC-9964-4AEA-BE04-DDEE901F739B}"/>
              </a:ext>
            </a:extLst>
          </p:cNvPr>
          <p:cNvSpPr>
            <a:spLocks xmlns:a="http://schemas.openxmlformats.org/drawingml/2006/main" noGrp="1"/>
          </p:cNvSpPr>
          <p:nvPr/>
        </p:nvSpPr>
        <p:spPr>
          <a:xfrm xmlns:a="http://schemas.openxmlformats.org/drawingml/2006/main">
            <a:off x="638175" y="3381375"/>
            <a:ext cx="1466850"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Chest X-ray</a:t>
            </a:r>
          </a:p>
        </p:txBody>
      </p:sp>
      <p:sp>
        <p:nvSpPr>
          <p:cNvPr id="9" name="">
            <a:extLst xmlns:a="http://schemas.openxmlformats.org/drawingml/2006/main">
              <a:ext uri="{FF2B5EF4-FFF2-40B4-BE49-F238E27FC236}">
                <a16:creationId xmlns:a16="http://schemas.microsoft.com/office/drawing/2014/main" id="{C5A75BDC-5C53-40EB-9FA7-7F2D23367741}"/>
              </a:ext>
            </a:extLst>
          </p:cNvPr>
          <p:cNvSpPr>
            <a:spLocks xmlns:a="http://schemas.openxmlformats.org/drawingml/2006/main" noGrp="1"/>
          </p:cNvSpPr>
          <p:nvPr/>
        </p:nvSpPr>
        <p:spPr>
          <a:xfrm xmlns:a="http://schemas.openxmlformats.org/drawingml/2006/main">
            <a:off x="2619375" y="3209925"/>
            <a:ext cx="2257425" cy="952500"/>
          </a:xfrm>
          <a:prstGeom xmlns:a="http://schemas.openxmlformats.org/drawingml/2006/main" prst="roundRect">
            <a:avLst>
              <a:gd name="adj" fmla="val 13000"/>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CNN encoder</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C₁, C₂, C₃, C₄</a:t>
            </a:r>
          </a:p>
        </p:txBody>
      </p:sp>
      <p:sp>
        <p:nvSpPr>
          <p:cNvPr id="10" name="">
            <a:extLst xmlns:a="http://schemas.openxmlformats.org/drawingml/2006/main">
              <a:ext uri="{FF2B5EF4-FFF2-40B4-BE49-F238E27FC236}">
                <a16:creationId xmlns:a16="http://schemas.microsoft.com/office/drawing/2014/main" id="{59615BC4-6555-4605-9101-1A4499D2BCB3}"/>
              </a:ext>
            </a:extLst>
          </p:cNvPr>
          <p:cNvSpPr>
            <a:spLocks xmlns:a="http://schemas.openxmlformats.org/drawingml/2006/main" noGrp="1"/>
          </p:cNvSpPr>
          <p:nvPr/>
        </p:nvSpPr>
        <p:spPr>
          <a:xfrm xmlns:a="http://schemas.openxmlformats.org/drawingml/2006/main">
            <a:off x="5715000" y="3238500"/>
            <a:ext cx="2333625" cy="857250"/>
          </a:xfrm>
          <a:prstGeom xmlns:a="http://schemas.openxmlformats.org/drawingml/2006/main" prst="roundRect">
            <a:avLst>
              <a:gd name="adj" fmla="val 14444"/>
            </a:avLst>
          </a:prstGeom>
          <a:solidFill xmlns:a="http://schemas.openxmlformats.org/drawingml/2006/main">
            <a:srgbClr val="276B80"/>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RACE</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Refine each CNN skip</a:t>
            </a:r>
          </a:p>
        </p:txBody>
      </p:sp>
      <p:sp>
        <p:nvSpPr>
          <p:cNvPr id="11" name="">
            <a:extLst xmlns:a="http://schemas.openxmlformats.org/drawingml/2006/main">
              <a:ext uri="{FF2B5EF4-FFF2-40B4-BE49-F238E27FC236}">
                <a16:creationId xmlns:a16="http://schemas.microsoft.com/office/drawing/2014/main" id="{064E178C-38B7-4C14-9D97-DB3C1B0D141A}"/>
              </a:ext>
            </a:extLst>
          </p:cNvPr>
          <p:cNvSpPr>
            <a:spLocks xmlns:a="http://schemas.openxmlformats.org/drawingml/2006/main" noGrp="1"/>
          </p:cNvSpPr>
          <p:nvPr/>
        </p:nvSpPr>
        <p:spPr>
          <a:xfrm xmlns:a="http://schemas.openxmlformats.org/drawingml/2006/main">
            <a:off x="8991600" y="3238500"/>
            <a:ext cx="2552700" cy="857250"/>
          </a:xfrm>
          <a:prstGeom xmlns:a="http://schemas.openxmlformats.org/drawingml/2006/main" prst="roundRect">
            <a:avLst>
              <a:gd name="adj" fmla="val 14444"/>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FSDR</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Replace PLAM fusion</a:t>
            </a:r>
          </a:p>
        </p:txBody>
      </p:sp>
      <p:sp>
        <p:nvSpPr>
          <p:cNvPr id="12" name="">
            <a:extLst xmlns:a="http://schemas.openxmlformats.org/drawingml/2006/main">
              <a:ext uri="{FF2B5EF4-FFF2-40B4-BE49-F238E27FC236}">
                <a16:creationId xmlns:a16="http://schemas.microsoft.com/office/drawing/2014/main" id="{14E9A5CF-9D1B-4979-BBFA-3EDA83B2720B}"/>
              </a:ext>
            </a:extLst>
          </p:cNvPr>
          <p:cNvSpPr>
            <a:spLocks xmlns:a="http://schemas.openxmlformats.org/drawingml/2006/main" noGrp="1"/>
          </p:cNvSpPr>
          <p:nvPr/>
        </p:nvSpPr>
        <p:spPr>
          <a:xfrm xmlns:a="http://schemas.openxmlformats.org/drawingml/2006/main">
            <a:off x="2619375" y="5238750"/>
            <a:ext cx="2257425"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CNN bottleneck C₅</a:t>
            </a:r>
          </a:p>
        </p:txBody>
      </p:sp>
      <p:sp>
        <p:nvSpPr>
          <p:cNvPr id="13" name="">
            <a:extLst xmlns:a="http://schemas.openxmlformats.org/drawingml/2006/main">
              <a:ext uri="{FF2B5EF4-FFF2-40B4-BE49-F238E27FC236}">
                <a16:creationId xmlns:a16="http://schemas.microsoft.com/office/drawing/2014/main" id="{890D37EE-76DD-41A2-9B2B-91F698C63B2B}"/>
              </a:ext>
            </a:extLst>
          </p:cNvPr>
          <p:cNvSpPr>
            <a:spLocks xmlns:a="http://schemas.openxmlformats.org/drawingml/2006/main" noGrp="1"/>
          </p:cNvSpPr>
          <p:nvPr/>
        </p:nvSpPr>
        <p:spPr>
          <a:xfrm xmlns:a="http://schemas.openxmlformats.org/drawingml/2006/main">
            <a:off x="5715000" y="5238750"/>
            <a:ext cx="2333625"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Upsample decoder D</a:t>
            </a:r>
          </a:p>
        </p:txBody>
      </p:sp>
      <p:sp>
        <p:nvSpPr>
          <p:cNvPr id="14" name="">
            <a:extLst xmlns:a="http://schemas.openxmlformats.org/drawingml/2006/main">
              <a:ext uri="{FF2B5EF4-FFF2-40B4-BE49-F238E27FC236}">
                <a16:creationId xmlns:a16="http://schemas.microsoft.com/office/drawing/2014/main" id="{51D012DB-0E95-4066-981E-572D52AD76B5}"/>
              </a:ext>
            </a:extLst>
          </p:cNvPr>
          <p:cNvSpPr>
            <a:spLocks xmlns:a="http://schemas.openxmlformats.org/drawingml/2006/main" noGrp="1"/>
          </p:cNvSpPr>
          <p:nvPr/>
        </p:nvSpPr>
        <p:spPr>
          <a:xfrm xmlns:a="http://schemas.openxmlformats.org/drawingml/2006/main">
            <a:off x="8991600" y="5095875"/>
            <a:ext cx="2552700" cy="819150"/>
          </a:xfrm>
          <a:prstGeom xmlns:a="http://schemas.openxmlformats.org/drawingml/2006/main" prst="roundRect">
            <a:avLst>
              <a:gd name="adj" fmla="val 15116"/>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Concatenate Y and D′</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Two 3 × 3 convolutions</a:t>
            </a:r>
          </a:p>
        </p:txBody>
      </p:sp>
      <p:cxnSp>
        <p:nvCxnSpPr>
          <p:cNvPr id="45" name=""/>
          <p:cNvCxnSpPr>
            <a:stCxn xmlns:a="http://schemas.openxmlformats.org/drawingml/2006/main" id="4" idx="3"/>
            <a:endCxn xmlns:a="http://schemas.openxmlformats.org/drawingml/2006/main" id="5" idx="1"/>
          </p:cNvCxnSpPr>
          <p:nvPr/>
        </p:nvCxnSpPr>
        <p:spPr>
          <a:xfrm xmlns:a="http://schemas.openxmlformats.org/drawingml/2006/main">
            <a:off x="2105025" y="1866900"/>
            <a:ext cx="514350"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46" name=""/>
          <p:cNvCxnSpPr>
            <a:stCxn xmlns:a="http://schemas.openxmlformats.org/drawingml/2006/main" id="5" idx="3"/>
            <a:endCxn xmlns:a="http://schemas.openxmlformats.org/drawingml/2006/main" id="6" idx="1"/>
          </p:cNvCxnSpPr>
          <p:nvPr/>
        </p:nvCxnSpPr>
        <p:spPr>
          <a:xfrm xmlns:a="http://schemas.openxmlformats.org/drawingml/2006/main" rot="5400000">
            <a:off x="5291138" y="1443038"/>
            <a:ext cx="9525" cy="8382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7" name=""/>
          <p:cNvCxnSpPr>
            <a:stCxn xmlns:a="http://schemas.openxmlformats.org/drawingml/2006/main" id="6" idx="3"/>
            <a:endCxn xmlns:a="http://schemas.openxmlformats.org/drawingml/2006/main" id="7" idx="1"/>
          </p:cNvCxnSpPr>
          <p:nvPr/>
        </p:nvCxnSpPr>
        <p:spPr>
          <a:xfrm xmlns:a="http://schemas.openxmlformats.org/drawingml/2006/main">
            <a:off x="8048625" y="1857375"/>
            <a:ext cx="942975"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48" name=""/>
          <p:cNvCxnSpPr>
            <a:stCxn xmlns:a="http://schemas.openxmlformats.org/drawingml/2006/main" id="8" idx="3"/>
            <a:endCxn xmlns:a="http://schemas.openxmlformats.org/drawingml/2006/main" id="9" idx="1"/>
          </p:cNvCxnSpPr>
          <p:nvPr/>
        </p:nvCxnSpPr>
        <p:spPr>
          <a:xfrm xmlns:a="http://schemas.openxmlformats.org/drawingml/2006/main">
            <a:off x="2105025" y="3686175"/>
            <a:ext cx="514350"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49" name=""/>
          <p:cNvCxnSpPr>
            <a:stCxn xmlns:a="http://schemas.openxmlformats.org/drawingml/2006/main" id="9" idx="0"/>
            <a:endCxn xmlns:a="http://schemas.openxmlformats.org/drawingml/2006/main" id="6" idx="2"/>
          </p:cNvCxnSpPr>
          <p:nvPr/>
        </p:nvCxnSpPr>
        <p:spPr>
          <a:xfrm xmlns:a="http://schemas.openxmlformats.org/drawingml/2006/main" rot="5400000">
            <a:off x="4852988" y="1181100"/>
            <a:ext cx="923925" cy="3133725"/>
          </a:xfrm>
          <a:prstGeom xmlns:a="http://schemas.openxmlformats.org/drawingml/2006/main" prst="curvedConnector3">
            <a:avLst>
              <a:gd name="adj1" fmla="val 25000"/>
            </a:avLst>
          </a:prstGeom>
          <a:ln xmlns:a="http://schemas.openxmlformats.org/drawingml/2006/main" w="17145">
            <a:solidFill>
              <a:srgbClr val="B8B8B8"/>
            </a:solidFill>
            <a:tailEnd type="triangle" w="sm" len="sm"/>
          </a:ln>
        </p:spPr>
      </p:cxnSp>
      <p:cxnSp>
        <p:nvCxnSpPr>
          <p:cNvPr id="50" name=""/>
          <p:cNvCxnSpPr>
            <a:stCxn xmlns:a="http://schemas.openxmlformats.org/drawingml/2006/main" id="9" idx="3"/>
            <a:endCxn xmlns:a="http://schemas.openxmlformats.org/drawingml/2006/main" id="10" idx="1"/>
          </p:cNvCxnSpPr>
          <p:nvPr/>
        </p:nvCxnSpPr>
        <p:spPr>
          <a:xfrm xmlns:a="http://schemas.openxmlformats.org/drawingml/2006/main" rot="5400000">
            <a:off x="5286375" y="3257550"/>
            <a:ext cx="19050" cy="8382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1" name=""/>
          <p:cNvCxnSpPr>
            <a:stCxn xmlns:a="http://schemas.openxmlformats.org/drawingml/2006/main" id="10" idx="3"/>
            <a:endCxn xmlns:a="http://schemas.openxmlformats.org/drawingml/2006/main" id="11" idx="1"/>
          </p:cNvCxnSpPr>
          <p:nvPr/>
        </p:nvCxnSpPr>
        <p:spPr>
          <a:xfrm xmlns:a="http://schemas.openxmlformats.org/drawingml/2006/main">
            <a:off x="8048625" y="3667125"/>
            <a:ext cx="942975"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52" name=""/>
          <p:cNvCxnSpPr>
            <a:stCxn xmlns:a="http://schemas.openxmlformats.org/drawingml/2006/main" id="7" idx="2"/>
            <a:endCxn xmlns:a="http://schemas.openxmlformats.org/drawingml/2006/main" id="11" idx="0"/>
          </p:cNvCxnSpPr>
          <p:nvPr/>
        </p:nvCxnSpPr>
        <p:spPr>
          <a:xfrm xmlns:a="http://schemas.openxmlformats.org/drawingml/2006/main">
            <a:off x="10267950" y="2238375"/>
            <a:ext cx="0" cy="1000125"/>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53" name=""/>
          <p:cNvCxnSpPr>
            <a:stCxn xmlns:a="http://schemas.openxmlformats.org/drawingml/2006/main" id="5" idx="2"/>
            <a:endCxn xmlns:a="http://schemas.openxmlformats.org/drawingml/2006/main" id="10" idx="0"/>
          </p:cNvCxnSpPr>
          <p:nvPr/>
        </p:nvCxnSpPr>
        <p:spPr>
          <a:xfrm xmlns:a="http://schemas.openxmlformats.org/drawingml/2006/main" rot="16200000" flipH="1">
            <a:off x="4781550" y="1138238"/>
            <a:ext cx="1066800" cy="31337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4" name=""/>
          <p:cNvCxnSpPr>
            <a:stCxn xmlns:a="http://schemas.openxmlformats.org/drawingml/2006/main" id="9" idx="2"/>
            <a:endCxn xmlns:a="http://schemas.openxmlformats.org/drawingml/2006/main" id="12" idx="0"/>
          </p:cNvCxnSpPr>
          <p:nvPr/>
        </p:nvCxnSpPr>
        <p:spPr>
          <a:xfrm xmlns:a="http://schemas.openxmlformats.org/drawingml/2006/main">
            <a:off x="3748088" y="4162425"/>
            <a:ext cx="0" cy="1076325"/>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55" name=""/>
          <p:cNvCxnSpPr>
            <a:stCxn xmlns:a="http://schemas.openxmlformats.org/drawingml/2006/main" id="12" idx="3"/>
            <a:endCxn xmlns:a="http://schemas.openxmlformats.org/drawingml/2006/main" id="13" idx="1"/>
          </p:cNvCxnSpPr>
          <p:nvPr/>
        </p:nvCxnSpPr>
        <p:spPr>
          <a:xfrm xmlns:a="http://schemas.openxmlformats.org/drawingml/2006/main">
            <a:off x="4876800" y="5543550"/>
            <a:ext cx="838200"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56" name=""/>
          <p:cNvCxnSpPr>
            <a:stCxn xmlns:a="http://schemas.openxmlformats.org/drawingml/2006/main" id="13" idx="3"/>
            <a:endCxn xmlns:a="http://schemas.openxmlformats.org/drawingml/2006/main" id="11" idx="1"/>
          </p:cNvCxnSpPr>
          <p:nvPr/>
        </p:nvCxnSpPr>
        <p:spPr>
          <a:xfrm xmlns:a="http://schemas.openxmlformats.org/drawingml/2006/main" rot="5400000">
            <a:off x="7581900" y="4133850"/>
            <a:ext cx="1876425" cy="94297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7" name=""/>
          <p:cNvCxnSpPr>
            <a:stCxn xmlns:a="http://schemas.openxmlformats.org/drawingml/2006/main" id="11" idx="2"/>
            <a:endCxn xmlns:a="http://schemas.openxmlformats.org/drawingml/2006/main" id="14" idx="0"/>
          </p:cNvCxnSpPr>
          <p:nvPr/>
        </p:nvCxnSpPr>
        <p:spPr>
          <a:xfrm xmlns:a="http://schemas.openxmlformats.org/drawingml/2006/main">
            <a:off x="10267950" y="4095750"/>
            <a:ext cx="0" cy="1000125"/>
          </a:xfrm>
          <a:prstGeom xmlns:a="http://schemas.openxmlformats.org/drawingml/2006/main" prst="curvedConnector2">
            <a:avLst/>
          </a:prstGeom>
          <a:ln xmlns:a="http://schemas.openxmlformats.org/drawingml/2006/main" w="17145">
            <a:solidFill>
              <a:srgbClr val="B8B8B8"/>
            </a:solidFill>
            <a:tailEnd type="triangle" w="sm" len="sm"/>
          </a:ln>
        </p:spPr>
      </p:cxnSp>
      <p:sp>
        <p:nvSpPr>
          <p:cNvPr id="28" name="">
            <a:extLst xmlns:a="http://schemas.openxmlformats.org/drawingml/2006/main">
              <a:ext uri="{FF2B5EF4-FFF2-40B4-BE49-F238E27FC236}">
                <a16:creationId xmlns:a16="http://schemas.microsoft.com/office/drawing/2014/main" id="{1E687950-3732-4EB7-AE20-BFEF1CD46D1C}"/>
              </a:ext>
            </a:extLst>
          </p:cNvPr>
          <p:cNvSpPr>
            <a:spLocks xmlns:a="http://schemas.openxmlformats.org/drawingml/2006/main" noGrp="1"/>
          </p:cNvSpPr>
          <p:nvPr/>
        </p:nvSpPr>
        <p:spPr>
          <a:xfrm xmlns:a="http://schemas.openxmlformats.org/drawingml/2006/main">
            <a:off x="6810375" y="2733675"/>
            <a:ext cx="2905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BBBBBB"/>
                </a:solidFill>
                <a:latin typeface="Calibri"/>
                <a:ea typeface="Calibri"/>
                <a:cs typeface="Calibri"/>
              </a:defRPr>
            </a:pPr>
            <a:r>
              <a:rPr sz="1575" b="0">
                <a:solidFill>
                  <a:srgbClr val="BBBBBB"/>
                </a:solidFill>
                <a:latin typeface="Calibri"/>
                <a:ea typeface="Calibri"/>
                <a:cs typeface="Calibri"/>
              </a:rPr>
              <a:t>Text T also conditions FSDR</a:t>
            </a:r>
          </a:p>
        </p:txBody>
      </p:sp>
      <p:sp>
        <p:nvSpPr>
          <p:cNvPr id="29" name="">
            <a:extLst xmlns:a="http://schemas.openxmlformats.org/drawingml/2006/main">
              <a:ext uri="{FF2B5EF4-FFF2-40B4-BE49-F238E27FC236}">
                <a16:creationId xmlns:a16="http://schemas.microsoft.com/office/drawing/2014/main" id="{886EB37B-3000-4C03-968D-39192E691CE7}"/>
              </a:ext>
            </a:extLst>
          </p:cNvPr>
          <p:cNvSpPr>
            <a:spLocks xmlns:a="http://schemas.openxmlformats.org/drawingml/2006/main" noGrp="1"/>
          </p:cNvSpPr>
          <p:nvPr/>
        </p:nvSpPr>
        <p:spPr>
          <a:xfrm xmlns:a="http://schemas.openxmlformats.org/drawingml/2006/main">
            <a:off x="638175" y="4495800"/>
            <a:ext cx="638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BBBBBB"/>
                </a:solidFill>
                <a:latin typeface="Calibri"/>
                <a:ea typeface="Calibri"/>
                <a:cs typeface="Calibri"/>
              </a:defRPr>
            </a:pPr>
            <a:r>
              <a:rPr sz="1650" b="0">
                <a:solidFill>
                  <a:srgbClr val="BBBBBB"/>
                </a:solidFill>
                <a:latin typeface="Calibri"/>
                <a:ea typeface="Calibri"/>
                <a:cs typeface="Calibri"/>
              </a:rPr>
              <a:t>RACE leaves the encoder and transformer paths intact.</a:t>
            </a:r>
          </a:p>
        </p:txBody>
      </p:sp>
      <p:sp>
        <p:nvSpPr>
          <p:cNvPr id="30" name="">
            <a:extLst xmlns:a="http://schemas.openxmlformats.org/drawingml/2006/main">
              <a:ext uri="{FF2B5EF4-FFF2-40B4-BE49-F238E27FC236}">
                <a16:creationId xmlns:a16="http://schemas.microsoft.com/office/drawing/2014/main" id="{1A6D985C-11DD-4159-835A-1E8FCE96A17B}"/>
              </a:ext>
            </a:extLst>
          </p:cNvPr>
          <p:cNvSpPr>
            <a:spLocks xmlns:a="http://schemas.openxmlformats.org/drawingml/2006/main" noGrp="1"/>
          </p:cNvSpPr>
          <p:nvPr/>
        </p:nvSpPr>
        <p:spPr>
          <a:xfrm xmlns:a="http://schemas.openxmlformats.org/drawingml/2006/main">
            <a:off x="5000625" y="6010275"/>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BBBBBB"/>
                </a:solidFill>
                <a:latin typeface="Calibri"/>
                <a:ea typeface="Calibri"/>
                <a:cs typeface="Calibri"/>
              </a:defRPr>
            </a:pPr>
            <a:r>
              <a:rPr sz="1650" b="0">
                <a:solidFill>
                  <a:srgbClr val="BBBBBB"/>
                </a:solidFill>
                <a:latin typeface="Calibri"/>
                <a:ea typeface="Calibri"/>
                <a:cs typeface="Calibri"/>
              </a:rPr>
              <a:t>Decoder order: up4 → up3 → up2 → up1 → segmentation</a:t>
            </a:r>
          </a:p>
        </p:txBody>
      </p:sp>
    </p:spTree>
    <p:extLst>
      <p:ext uri="{BB962C8B-B14F-4D97-AF65-F5344CB8AC3E}">
        <p14:creationId xmlns:p14="http://schemas.microsoft.com/office/powerpoint/2010/main" val="694801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76A35E-2F94-4AA6-A7E9-0FA0361AB1C0}"/>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Original LViT and the FSDR extension</a:t>
            </a:r>
            <a:endParaRPr sz="2800"/>
          </a:p>
        </p:txBody>
      </p:sp>
      <p:graphicFrame>
        <p:nvGraphicFramePr>
          <p:cNvPr id="14" name="表格 13"/>
          <p:cNvGraphicFramePr/>
          <p:nvPr/>
        </p:nvGraphicFramePr>
        <p:xfrm>
          <a:off xmlns:a="http://schemas.openxmlformats.org/drawingml/2006/main" x="638175" y="1676400"/>
          <a:ext xmlns:a="http://schemas.openxmlformats.org/drawingml/2006/main" cx="10915650" cy="3667125"/>
        </p:xfrm>
        <a:graphic xmlns:a="http://schemas.openxmlformats.org/drawingml/2006/main">
          <a:graphicData uri="http://schemas.openxmlformats.org/drawingml/2006/table">
            <a:tbl>
              <a:tblPr/>
              <a:tblGrid>
                <a:gridCol w="2152650"/>
                <a:gridCol w="4171950"/>
                <a:gridCol w="4591050"/>
              </a:tblGrid>
              <a:tr h="733425">
                <a:tc>
                  <a:txBody>
                    <a:bodyPr/>
                    <a:lstStyle/>
                    <a:p>
                      <a:r>
                        <a:rPr sz="1800" b="1">
                          <a:solidFill>
                            <a:srgbClr val="FFFFFF"/>
                          </a:solidFill>
                          <a:latin typeface="Calibri"/>
                          <a:ea typeface="Calibri"/>
                          <a:cs typeface="Calibri"/>
                        </a:rPr>
                        <a:t>Aspect</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Original LViT fusion</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FSDR extension</a:t>
                      </a:r>
                    </a:p>
                  </a:txBody>
                  <a:tcPr marL="114300" marR="95250" marT="66675" marB="47625" anchor="ctr">
                    <a:solidFill>
                      <a:srgbClr val="111111"/>
                    </a:solidFill>
                  </a:tcPr>
                </a:tc>
              </a:tr>
              <a:tr h="733425">
                <a:tc>
                  <a:txBody>
                    <a:bodyPr/>
                    <a:lstStyle/>
                    <a:p>
                      <a:r>
                        <a:rPr sz="1800" b="0">
                          <a:solidFill>
                            <a:srgbClr val="111111"/>
                          </a:solidFill>
                          <a:latin typeface="Calibri"/>
                          <a:ea typeface="Calibri"/>
                          <a:cs typeface="Calibri"/>
                        </a:rPr>
                        <a:t>Feature backbone</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CNN + text-aware ViT</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Same hierarchical backbone</a:t>
                      </a:r>
                    </a:p>
                  </a:txBody>
                  <a:tcPr marL="114300" marR="95250" marT="66675" marB="47625" anchor="ctr">
                    <a:solidFill>
                      <a:srgbClr val="FFFFFF"/>
                    </a:solidFill>
                  </a:tcPr>
                </a:tc>
              </a:tr>
              <a:tr h="733425">
                <a:tc>
                  <a:txBody>
                    <a:bodyPr/>
                    <a:lstStyle/>
                    <a:p>
                      <a:r>
                        <a:rPr sz="1800" b="0">
                          <a:solidFill>
                            <a:srgbClr val="111111"/>
                          </a:solidFill>
                          <a:latin typeface="Calibri"/>
                          <a:ea typeface="Calibri"/>
                          <a:cs typeface="Calibri"/>
                        </a:rPr>
                        <a:t>Skip inputs</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CNN + ViT added first</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CNN, ViT, decoder and text kept separate</a:t>
                      </a:r>
                    </a:p>
                  </a:txBody>
                  <a:tcPr marL="114300" marR="95250" marT="66675" marB="47625" anchor="ctr">
                    <a:solidFill>
                      <a:srgbClr val="F3F3F3"/>
                    </a:solidFill>
                  </a:tcPr>
                </a:tc>
              </a:tr>
              <a:tr h="733425">
                <a:tc>
                  <a:txBody>
                    <a:bodyPr/>
                    <a:lstStyle/>
                    <a:p>
                      <a:r>
                        <a:rPr sz="1800" b="0">
                          <a:solidFill>
                            <a:srgbClr val="111111"/>
                          </a:solidFill>
                          <a:latin typeface="Calibri"/>
                          <a:ea typeface="Calibri"/>
                          <a:cs typeface="Calibri"/>
                        </a:rPr>
                        <a:t>Skip operation</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Pixel-wise scalar weighting</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Semantic and detail residual refinement</a:t>
                      </a:r>
                    </a:p>
                  </a:txBody>
                  <a:tcPr marL="114300" marR="95250" marT="66675" marB="47625" anchor="ctr">
                    <a:solidFill>
                      <a:srgbClr val="FFFFFF"/>
                    </a:solidFill>
                  </a:tcPr>
                </a:tc>
              </a:tr>
              <a:tr h="733425">
                <a:tc>
                  <a:txBody>
                    <a:bodyPr/>
                    <a:lstStyle/>
                    <a:p>
                      <a:r>
                        <a:rPr sz="1800" b="0">
                          <a:solidFill>
                            <a:srgbClr val="111111"/>
                          </a:solidFill>
                          <a:latin typeface="Calibri"/>
                          <a:ea typeface="Calibri"/>
                          <a:cs typeface="Calibri"/>
                        </a:rPr>
                        <a:t>Decoder role</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Concatenated after PLAM</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Guides refinement; adapted at coarse stages</a:t>
                      </a:r>
                    </a:p>
                  </a:txBody>
                  <a:tcPr marL="114300" marR="95250" marT="66675" marB="47625" anchor="ctr">
                    <a:solidFill>
                      <a:srgbClr val="F3F3F3"/>
                    </a:solidFill>
                  </a:tcPr>
                </a:tc>
              </a:tr>
            </a:tbl>
          </a:graphicData>
        </a:graphic>
      </p:graphicFrame>
      <p:sp>
        <p:nvSpPr>
          <p:cNvPr id="8" name="Performance controls use the project’s CXR-BERT implementati">
            <a:extLst xmlns:a="http://schemas.openxmlformats.org/drawingml/2006/main">
              <a:ext uri="{FF2B5EF4-FFF2-40B4-BE49-F238E27FC236}">
                <a16:creationId xmlns:a16="http://schemas.microsoft.com/office/drawing/2014/main" id="{E80793D0-A496-4748-B26A-321753BA96C3}"/>
              </a:ext>
            </a:extLst>
          </p:cNvPr>
          <p:cNvSpPr>
            <a:spLocks xmlns:a="http://schemas.openxmlformats.org/drawingml/2006/main" noGrp="1"/>
          </p:cNvSpPr>
          <p:nvPr/>
        </p:nvSpPr>
        <p:spPr>
          <a:xfrm xmlns:a="http://schemas.openxmlformats.org/drawingml/2006/main">
            <a:off x="638175" y="5619750"/>
            <a:ext cx="10915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Performance controls use the project’s CXR-BERT implementation.</a:t>
            </a:r>
          </a:p>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They measure the fusion change within this setup, not published LViT scores.</a:t>
            </a:r>
          </a:p>
        </p:txBody>
      </p:sp>
      <p:sp>
        <p:nvSpPr>
          <p:cNvPr id="10" name="Original LViT comparison">
            <a:extLst xmlns:a="http://schemas.openxmlformats.org/drawingml/2006/main">
              <a:ext uri="{FF2B5EF4-FFF2-40B4-BE49-F238E27FC236}">
                <a16:creationId xmlns:a16="http://schemas.microsoft.com/office/drawing/2014/main" id="{EAEE32F8-5863-4001-8059-FA7410823B74}"/>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Original LViT comparison</a:t>
            </a:r>
          </a:p>
        </p:txBody>
      </p:sp>
      <p:sp>
        <p:nvSpPr>
          <p:cNvPr id="11" name="4">
            <a:extLst xmlns:a="http://schemas.openxmlformats.org/drawingml/2006/main">
              <a:ext uri="{FF2B5EF4-FFF2-40B4-BE49-F238E27FC236}">
                <a16:creationId xmlns:a16="http://schemas.microsoft.com/office/drawing/2014/main" id="{B21C6825-D8E8-49E1-ADFE-70DA27F50989}"/>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4</a:t>
            </a:r>
          </a:p>
        </p:txBody>
      </p:sp>
    </p:spTree>
    <p:extLst>
      <p:ext uri="{BB962C8B-B14F-4D97-AF65-F5344CB8AC3E}">
        <p14:creationId xmlns:p14="http://schemas.microsoft.com/office/powerpoint/2010/main" val="1932863835"/>
      </p:ext>
    </p:extLst>
  </p:cSld>
</p:sld>
</file>

<file path=ppt/slides/slide5.xml><?xml version="1.0" encoding="utf-8"?>
<p:sld xmlns:p="http://schemas.openxmlformats.org/presentationml/2006/main">
  <p:cSld>
    <p:bg>
      <p:bgPr>
        <a:solidFill xmlns:a="http://schemas.openxmlformats.org/drawingml/2006/main">
          <a:srgbClr val="191919"/>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4DE54C0-4E21-427A-B882-A8B58408F4A3}"/>
              </a:ext>
            </a:extLst>
          </p:cNvPr>
          <p:cNvSpPr>
            <a:spLocks xmlns:a="http://schemas.openxmlformats.org/drawingml/2006/main" noGrp="1"/>
          </p:cNvSpPr>
          <p:nvPr/>
        </p:nvSpPr>
        <p:spPr>
          <a:xfrm xmlns:a="http://schemas.openxmlformats.org/drawingml/2006/main">
            <a:off x="638175" y="381000"/>
            <a:ext cx="109156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F4F4F4"/>
                </a:solidFill>
                <a:latin typeface="Cambria"/>
                <a:ea typeface="Cambria"/>
                <a:cs typeface="Cambria"/>
              </a:defRPr>
            </a:pPr>
            <a:r>
              <a:rPr sz="2925" b="1">
                <a:solidFill>
                  <a:srgbClr val="F4F4F4"/>
                </a:solidFill>
                <a:latin typeface="Cambria"/>
                <a:ea typeface="Cambria"/>
                <a:cs typeface="Cambria"/>
              </a:rPr>
              <a:t>Decoder fusion before and after FSDR</a:t>
            </a:r>
          </a:p>
        </p:txBody>
      </p:sp>
      <p:sp>
        <p:nvSpPr>
          <p:cNvPr id="2" name="">
            <a:extLst xmlns:a="http://schemas.openxmlformats.org/drawingml/2006/main">
              <a:ext uri="{FF2B5EF4-FFF2-40B4-BE49-F238E27FC236}">
                <a16:creationId xmlns:a16="http://schemas.microsoft.com/office/drawing/2014/main" id="{E8C924B4-7F6B-425F-8710-FCDD40B07F4D}"/>
              </a:ext>
            </a:extLst>
          </p:cNvPr>
          <p:cNvSpPr>
            <a:spLocks xmlns:a="http://schemas.openxmlformats.org/drawingml/2006/main" noGrp="1"/>
          </p:cNvSpPr>
          <p:nvPr/>
        </p:nvSpPr>
        <p:spPr>
          <a:xfrm xmlns:a="http://schemas.openxmlformats.org/drawingml/2006/main">
            <a:off x="638175" y="64674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One decoder stage shown. The same interface repeats at up4, up3, up2 and up1.</a:t>
            </a:r>
          </a:p>
        </p:txBody>
      </p:sp>
      <p:sp>
        <p:nvSpPr>
          <p:cNvPr id="3" name="">
            <a:extLst xmlns:a="http://schemas.openxmlformats.org/drawingml/2006/main">
              <a:ext uri="{FF2B5EF4-FFF2-40B4-BE49-F238E27FC236}">
                <a16:creationId xmlns:a16="http://schemas.microsoft.com/office/drawing/2014/main" id="{AD9A07E2-6B7D-4539-B9A3-46DB05AE2FC0}"/>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5</a:t>
            </a:r>
          </a:p>
        </p:txBody>
      </p:sp>
      <p:sp>
        <p:nvSpPr>
          <p:cNvPr id="4" name="">
            <a:extLst xmlns:a="http://schemas.openxmlformats.org/drawingml/2006/main">
              <a:ext uri="{FF2B5EF4-FFF2-40B4-BE49-F238E27FC236}">
                <a16:creationId xmlns:a16="http://schemas.microsoft.com/office/drawing/2014/main" id="{0BD6096B-EAEC-46C1-8CC6-5C7E2582BAC3}"/>
              </a:ext>
            </a:extLst>
          </p:cNvPr>
          <p:cNvSpPr>
            <a:spLocks xmlns:a="http://schemas.openxmlformats.org/drawingml/2006/main" noGrp="1"/>
          </p:cNvSpPr>
          <p:nvPr/>
        </p:nvSpPr>
        <p:spPr>
          <a:xfrm xmlns:a="http://schemas.openxmlformats.org/drawingml/2006/main">
            <a:off x="638175" y="138112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FFFFF"/>
                </a:solidFill>
                <a:latin typeface="Calibri"/>
                <a:ea typeface="Calibri"/>
                <a:cs typeface="Calibri"/>
              </a:defRPr>
            </a:pPr>
            <a:r>
              <a:rPr sz="2025" b="0">
                <a:solidFill>
                  <a:srgbClr val="FFFFFF"/>
                </a:solidFill>
                <a:latin typeface="Calibri"/>
                <a:ea typeface="Calibri"/>
                <a:cs typeface="Calibri"/>
              </a:rPr>
              <a:t>Original PLAM fusion</a:t>
            </a:r>
          </a:p>
        </p:txBody>
      </p:sp>
      <p:sp>
        <p:nvSpPr>
          <p:cNvPr id="5" name="">
            <a:extLst xmlns:a="http://schemas.openxmlformats.org/drawingml/2006/main">
              <a:ext uri="{FF2B5EF4-FFF2-40B4-BE49-F238E27FC236}">
                <a16:creationId xmlns:a16="http://schemas.microsoft.com/office/drawing/2014/main" id="{BB3443DA-0626-4968-8C0A-7364EC2FB340}"/>
              </a:ext>
            </a:extLst>
          </p:cNvPr>
          <p:cNvSpPr>
            <a:spLocks xmlns:a="http://schemas.openxmlformats.org/drawingml/2006/main" noGrp="1"/>
          </p:cNvSpPr>
          <p:nvPr/>
        </p:nvSpPr>
        <p:spPr>
          <a:xfrm xmlns:a="http://schemas.openxmlformats.org/drawingml/2006/main">
            <a:off x="638175" y="2019300"/>
            <a:ext cx="1657350" cy="542925"/>
          </a:xfrm>
          <a:prstGeom xmlns:a="http://schemas.openxmlformats.org/drawingml/2006/main" prst="roundRect">
            <a:avLst>
              <a:gd name="adj" fmla="val 2280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CNN skip C</a:t>
            </a:r>
          </a:p>
        </p:txBody>
      </p:sp>
      <p:sp>
        <p:nvSpPr>
          <p:cNvPr id="6" name="">
            <a:extLst xmlns:a="http://schemas.openxmlformats.org/drawingml/2006/main">
              <a:ext uri="{FF2B5EF4-FFF2-40B4-BE49-F238E27FC236}">
                <a16:creationId xmlns:a16="http://schemas.microsoft.com/office/drawing/2014/main" id="{D9ACF22A-8D72-4545-B349-FB26FCCB0C2A}"/>
              </a:ext>
            </a:extLst>
          </p:cNvPr>
          <p:cNvSpPr>
            <a:spLocks xmlns:a="http://schemas.openxmlformats.org/drawingml/2006/main" noGrp="1"/>
          </p:cNvSpPr>
          <p:nvPr/>
        </p:nvSpPr>
        <p:spPr>
          <a:xfrm xmlns:a="http://schemas.openxmlformats.org/drawingml/2006/main">
            <a:off x="638175" y="2857500"/>
            <a:ext cx="1657350" cy="542925"/>
          </a:xfrm>
          <a:prstGeom xmlns:a="http://schemas.openxmlformats.org/drawingml/2006/main" prst="roundRect">
            <a:avLst>
              <a:gd name="adj" fmla="val 2280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ViT feature V</a:t>
            </a:r>
          </a:p>
        </p:txBody>
      </p:sp>
      <p:sp>
        <p:nvSpPr>
          <p:cNvPr id="7" name="">
            <a:extLst xmlns:a="http://schemas.openxmlformats.org/drawingml/2006/main">
              <a:ext uri="{FF2B5EF4-FFF2-40B4-BE49-F238E27FC236}">
                <a16:creationId xmlns:a16="http://schemas.microsoft.com/office/drawing/2014/main" id="{E22C5CD0-A5B8-4CC1-8EC2-B512F7762989}"/>
              </a:ext>
            </a:extLst>
          </p:cNvPr>
          <p:cNvSpPr>
            <a:spLocks xmlns:a="http://schemas.openxmlformats.org/drawingml/2006/main" noGrp="1"/>
          </p:cNvSpPr>
          <p:nvPr/>
        </p:nvSpPr>
        <p:spPr>
          <a:xfrm xmlns:a="http://schemas.openxmlformats.org/drawingml/2006/main">
            <a:off x="3105150" y="2381250"/>
            <a:ext cx="1266825"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 + V</a:t>
            </a:r>
          </a:p>
        </p:txBody>
      </p:sp>
      <p:sp>
        <p:nvSpPr>
          <p:cNvPr id="8" name="">
            <a:extLst xmlns:a="http://schemas.openxmlformats.org/drawingml/2006/main">
              <a:ext uri="{FF2B5EF4-FFF2-40B4-BE49-F238E27FC236}">
                <a16:creationId xmlns:a16="http://schemas.microsoft.com/office/drawing/2014/main" id="{6D53DB44-E99B-458A-A24E-05E8FCDEE570}"/>
              </a:ext>
            </a:extLst>
          </p:cNvPr>
          <p:cNvSpPr>
            <a:spLocks xmlns:a="http://schemas.openxmlformats.org/drawingml/2006/main" noGrp="1"/>
          </p:cNvSpPr>
          <p:nvPr/>
        </p:nvSpPr>
        <p:spPr>
          <a:xfrm xmlns:a="http://schemas.openxmlformats.org/drawingml/2006/main">
            <a:off x="5000625" y="2276475"/>
            <a:ext cx="1943100" cy="800100"/>
          </a:xfrm>
          <a:prstGeom xmlns:a="http://schemas.openxmlformats.org/drawingml/2006/main" prst="roundRect">
            <a:avLst>
              <a:gd name="adj" fmla="val 15476"/>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PLAM</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Pixel weighting</a:t>
            </a:r>
          </a:p>
        </p:txBody>
      </p:sp>
      <p:sp>
        <p:nvSpPr>
          <p:cNvPr id="9" name="">
            <a:extLst xmlns:a="http://schemas.openxmlformats.org/drawingml/2006/main">
              <a:ext uri="{FF2B5EF4-FFF2-40B4-BE49-F238E27FC236}">
                <a16:creationId xmlns:a16="http://schemas.microsoft.com/office/drawing/2014/main" id="{C4EB9D27-077D-4C02-B929-3EE26BF3D7B3}"/>
              </a:ext>
            </a:extLst>
          </p:cNvPr>
          <p:cNvSpPr>
            <a:spLocks xmlns:a="http://schemas.openxmlformats.org/drawingml/2006/main" noGrp="1"/>
          </p:cNvSpPr>
          <p:nvPr/>
        </p:nvSpPr>
        <p:spPr>
          <a:xfrm xmlns:a="http://schemas.openxmlformats.org/drawingml/2006/main">
            <a:off x="5000625" y="3286125"/>
            <a:ext cx="1943100" cy="542925"/>
          </a:xfrm>
          <a:prstGeom xmlns:a="http://schemas.openxmlformats.org/drawingml/2006/main" prst="roundRect">
            <a:avLst>
              <a:gd name="adj" fmla="val 2280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Decoder D</a:t>
            </a:r>
          </a:p>
        </p:txBody>
      </p:sp>
      <p:sp>
        <p:nvSpPr>
          <p:cNvPr id="10" name="">
            <a:extLst xmlns:a="http://schemas.openxmlformats.org/drawingml/2006/main">
              <a:ext uri="{FF2B5EF4-FFF2-40B4-BE49-F238E27FC236}">
                <a16:creationId xmlns:a16="http://schemas.microsoft.com/office/drawing/2014/main" id="{F46A9A5A-D1D1-4516-825E-102FD679ED3A}"/>
              </a:ext>
            </a:extLst>
          </p:cNvPr>
          <p:cNvSpPr>
            <a:spLocks xmlns:a="http://schemas.openxmlformats.org/drawingml/2006/main" noGrp="1"/>
          </p:cNvSpPr>
          <p:nvPr/>
        </p:nvSpPr>
        <p:spPr>
          <a:xfrm xmlns:a="http://schemas.openxmlformats.org/drawingml/2006/main">
            <a:off x="7820025" y="2752725"/>
            <a:ext cx="1685925"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Concatenate</a:t>
            </a:r>
          </a:p>
        </p:txBody>
      </p:sp>
      <p:sp>
        <p:nvSpPr>
          <p:cNvPr id="11" name="">
            <a:extLst xmlns:a="http://schemas.openxmlformats.org/drawingml/2006/main">
              <a:ext uri="{FF2B5EF4-FFF2-40B4-BE49-F238E27FC236}">
                <a16:creationId xmlns:a16="http://schemas.microsoft.com/office/drawing/2014/main" id="{0C030E71-27DA-498A-87D4-0EAA81975B50}"/>
              </a:ext>
            </a:extLst>
          </p:cNvPr>
          <p:cNvSpPr>
            <a:spLocks xmlns:a="http://schemas.openxmlformats.org/drawingml/2006/main" noGrp="1"/>
          </p:cNvSpPr>
          <p:nvPr/>
        </p:nvSpPr>
        <p:spPr>
          <a:xfrm xmlns:a="http://schemas.openxmlformats.org/drawingml/2006/main">
            <a:off x="10172700" y="2647950"/>
            <a:ext cx="1371600" cy="800100"/>
          </a:xfrm>
          <a:prstGeom xmlns:a="http://schemas.openxmlformats.org/drawingml/2006/main" prst="roundRect">
            <a:avLst>
              <a:gd name="adj" fmla="val 15476"/>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Conv 3 × 3</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 2</a:t>
            </a:r>
          </a:p>
        </p:txBody>
      </p:sp>
      <p:cxnSp>
        <p:nvCxnSpPr>
          <p:cNvPr id="46" name=""/>
          <p:cNvCxnSpPr>
            <a:stCxn xmlns:a="http://schemas.openxmlformats.org/drawingml/2006/main" id="5" idx="3"/>
            <a:endCxn xmlns:a="http://schemas.openxmlformats.org/drawingml/2006/main" id="7" idx="1"/>
          </p:cNvCxnSpPr>
          <p:nvPr/>
        </p:nvCxnSpPr>
        <p:spPr>
          <a:xfrm xmlns:a="http://schemas.openxmlformats.org/drawingml/2006/main" rot="16200000" flipH="1">
            <a:off x="2502694" y="2083594"/>
            <a:ext cx="395288" cy="8096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7" name=""/>
          <p:cNvCxnSpPr>
            <a:stCxn xmlns:a="http://schemas.openxmlformats.org/drawingml/2006/main" id="6" idx="3"/>
            <a:endCxn xmlns:a="http://schemas.openxmlformats.org/drawingml/2006/main" id="7" idx="1"/>
          </p:cNvCxnSpPr>
          <p:nvPr/>
        </p:nvCxnSpPr>
        <p:spPr>
          <a:xfrm xmlns:a="http://schemas.openxmlformats.org/drawingml/2006/main" rot="5400000">
            <a:off x="2478881" y="2502694"/>
            <a:ext cx="442913" cy="8096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8" name=""/>
          <p:cNvCxnSpPr>
            <a:stCxn xmlns:a="http://schemas.openxmlformats.org/drawingml/2006/main" id="7" idx="3"/>
            <a:endCxn xmlns:a="http://schemas.openxmlformats.org/drawingml/2006/main" id="8" idx="1"/>
          </p:cNvCxnSpPr>
          <p:nvPr/>
        </p:nvCxnSpPr>
        <p:spPr>
          <a:xfrm xmlns:a="http://schemas.openxmlformats.org/drawingml/2006/main" rot="5400000">
            <a:off x="4681538" y="2366963"/>
            <a:ext cx="9525" cy="62865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9" name=""/>
          <p:cNvCxnSpPr>
            <a:stCxn xmlns:a="http://schemas.openxmlformats.org/drawingml/2006/main" id="8" idx="3"/>
            <a:endCxn xmlns:a="http://schemas.openxmlformats.org/drawingml/2006/main" id="10" idx="1"/>
          </p:cNvCxnSpPr>
          <p:nvPr/>
        </p:nvCxnSpPr>
        <p:spPr>
          <a:xfrm xmlns:a="http://schemas.openxmlformats.org/drawingml/2006/main" rot="16200000" flipH="1">
            <a:off x="7191375" y="2428875"/>
            <a:ext cx="381000" cy="8763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0" name=""/>
          <p:cNvCxnSpPr>
            <a:stCxn xmlns:a="http://schemas.openxmlformats.org/drawingml/2006/main" id="9" idx="3"/>
            <a:endCxn xmlns:a="http://schemas.openxmlformats.org/drawingml/2006/main" id="10" idx="1"/>
          </p:cNvCxnSpPr>
          <p:nvPr/>
        </p:nvCxnSpPr>
        <p:spPr>
          <a:xfrm xmlns:a="http://schemas.openxmlformats.org/drawingml/2006/main" rot="5400000">
            <a:off x="7131844" y="2869406"/>
            <a:ext cx="500063" cy="8763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1" name=""/>
          <p:cNvCxnSpPr>
            <a:stCxn xmlns:a="http://schemas.openxmlformats.org/drawingml/2006/main" id="10" idx="3"/>
            <a:endCxn xmlns:a="http://schemas.openxmlformats.org/drawingml/2006/main" id="11" idx="1"/>
          </p:cNvCxnSpPr>
          <p:nvPr/>
        </p:nvCxnSpPr>
        <p:spPr>
          <a:xfrm xmlns:a="http://schemas.openxmlformats.org/drawingml/2006/main" rot="5400000">
            <a:off x="9834563" y="2719388"/>
            <a:ext cx="9525" cy="66675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sp>
        <p:nvSpPr>
          <p:cNvPr id="18" name="">
            <a:extLst xmlns:a="http://schemas.openxmlformats.org/drawingml/2006/main">
              <a:ext uri="{FF2B5EF4-FFF2-40B4-BE49-F238E27FC236}">
                <a16:creationId xmlns:a16="http://schemas.microsoft.com/office/drawing/2014/main" id="{201BAA97-4B8A-4694-94F8-BB272A95BA29}"/>
              </a:ext>
            </a:extLst>
          </p:cNvPr>
          <p:cNvSpPr>
            <a:spLocks xmlns:a="http://schemas.openxmlformats.org/drawingml/2006/main" noGrp="1"/>
          </p:cNvSpPr>
          <p:nvPr/>
        </p:nvSpPr>
        <p:spPr>
          <a:xfrm xmlns:a="http://schemas.openxmlformats.org/drawingml/2006/main">
            <a:off x="638175" y="4086225"/>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FFFFFF"/>
                </a:solidFill>
                <a:latin typeface="Calibri"/>
                <a:ea typeface="Calibri"/>
                <a:cs typeface="Calibri"/>
              </a:defRPr>
            </a:pPr>
            <a:r>
              <a:rPr sz="2025" b="0">
                <a:solidFill>
                  <a:srgbClr val="FFFFFF"/>
                </a:solidFill>
                <a:latin typeface="Calibri"/>
                <a:ea typeface="Calibri"/>
                <a:cs typeface="Calibri"/>
              </a:rPr>
              <a:t>FSDR preserves separate sources</a:t>
            </a:r>
          </a:p>
        </p:txBody>
      </p:sp>
      <p:sp>
        <p:nvSpPr>
          <p:cNvPr id="19" name="">
            <a:extLst xmlns:a="http://schemas.openxmlformats.org/drawingml/2006/main">
              <a:ext uri="{FF2B5EF4-FFF2-40B4-BE49-F238E27FC236}">
                <a16:creationId xmlns:a16="http://schemas.microsoft.com/office/drawing/2014/main" id="{AB1E3DB7-99EE-471D-87DB-B6EA634E70B3}"/>
              </a:ext>
            </a:extLst>
          </p:cNvPr>
          <p:cNvSpPr>
            <a:spLocks xmlns:a="http://schemas.openxmlformats.org/drawingml/2006/main" noGrp="1"/>
          </p:cNvSpPr>
          <p:nvPr/>
        </p:nvSpPr>
        <p:spPr>
          <a:xfrm xmlns:a="http://schemas.openxmlformats.org/drawingml/2006/main">
            <a:off x="638175" y="4667250"/>
            <a:ext cx="1885950" cy="590550"/>
          </a:xfrm>
          <a:prstGeom xmlns:a="http://schemas.openxmlformats.org/drawingml/2006/main" prst="roundRect">
            <a:avLst>
              <a:gd name="adj" fmla="val 20968"/>
            </a:avLst>
          </a:prstGeom>
          <a:solidFill xmlns:a="http://schemas.openxmlformats.org/drawingml/2006/main">
            <a:srgbClr val="276B80"/>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RACE-refined C′</a:t>
            </a:r>
          </a:p>
        </p:txBody>
      </p:sp>
      <p:sp>
        <p:nvSpPr>
          <p:cNvPr id="20" name="">
            <a:extLst xmlns:a="http://schemas.openxmlformats.org/drawingml/2006/main">
              <a:ext uri="{FF2B5EF4-FFF2-40B4-BE49-F238E27FC236}">
                <a16:creationId xmlns:a16="http://schemas.microsoft.com/office/drawing/2014/main" id="{E0B717F3-32C3-4317-97AC-F8F52BA5A550}"/>
              </a:ext>
            </a:extLst>
          </p:cNvPr>
          <p:cNvSpPr>
            <a:spLocks xmlns:a="http://schemas.openxmlformats.org/drawingml/2006/main" noGrp="1"/>
          </p:cNvSpPr>
          <p:nvPr/>
        </p:nvSpPr>
        <p:spPr>
          <a:xfrm xmlns:a="http://schemas.openxmlformats.org/drawingml/2006/main">
            <a:off x="638175" y="5629275"/>
            <a:ext cx="1885950" cy="542925"/>
          </a:xfrm>
          <a:prstGeom xmlns:a="http://schemas.openxmlformats.org/drawingml/2006/main" prst="roundRect">
            <a:avLst>
              <a:gd name="adj" fmla="val 2280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ViT feature V</a:t>
            </a:r>
          </a:p>
        </p:txBody>
      </p:sp>
      <p:sp>
        <p:nvSpPr>
          <p:cNvPr id="21" name="">
            <a:extLst xmlns:a="http://schemas.openxmlformats.org/drawingml/2006/main">
              <a:ext uri="{FF2B5EF4-FFF2-40B4-BE49-F238E27FC236}">
                <a16:creationId xmlns:a16="http://schemas.microsoft.com/office/drawing/2014/main" id="{1A90B1EA-96D3-409C-B9EC-AD5ACF98B8CF}"/>
              </a:ext>
            </a:extLst>
          </p:cNvPr>
          <p:cNvSpPr>
            <a:spLocks xmlns:a="http://schemas.openxmlformats.org/drawingml/2006/main" noGrp="1"/>
          </p:cNvSpPr>
          <p:nvPr/>
        </p:nvSpPr>
        <p:spPr>
          <a:xfrm xmlns:a="http://schemas.openxmlformats.org/drawingml/2006/main">
            <a:off x="3162300" y="4543425"/>
            <a:ext cx="1847850" cy="542925"/>
          </a:xfrm>
          <a:prstGeom xmlns:a="http://schemas.openxmlformats.org/drawingml/2006/main" prst="roundRect">
            <a:avLst>
              <a:gd name="adj" fmla="val 2280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Text CLS T</a:t>
            </a:r>
          </a:p>
        </p:txBody>
      </p:sp>
      <p:sp>
        <p:nvSpPr>
          <p:cNvPr id="22" name="">
            <a:extLst xmlns:a="http://schemas.openxmlformats.org/drawingml/2006/main">
              <a:ext uri="{FF2B5EF4-FFF2-40B4-BE49-F238E27FC236}">
                <a16:creationId xmlns:a16="http://schemas.microsoft.com/office/drawing/2014/main" id="{A132595E-7906-415D-A324-A7F65000F345}"/>
              </a:ext>
            </a:extLst>
          </p:cNvPr>
          <p:cNvSpPr>
            <a:spLocks xmlns:a="http://schemas.openxmlformats.org/drawingml/2006/main" noGrp="1"/>
          </p:cNvSpPr>
          <p:nvPr/>
        </p:nvSpPr>
        <p:spPr>
          <a:xfrm xmlns:a="http://schemas.openxmlformats.org/drawingml/2006/main">
            <a:off x="3162300" y="5600700"/>
            <a:ext cx="1847850" cy="542925"/>
          </a:xfrm>
          <a:prstGeom xmlns:a="http://schemas.openxmlformats.org/drawingml/2006/main" prst="roundRect">
            <a:avLst>
              <a:gd name="adj" fmla="val 2280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Upsampled D</a:t>
            </a:r>
          </a:p>
        </p:txBody>
      </p:sp>
      <p:sp>
        <p:nvSpPr>
          <p:cNvPr id="23" name="">
            <a:extLst xmlns:a="http://schemas.openxmlformats.org/drawingml/2006/main">
              <a:ext uri="{FF2B5EF4-FFF2-40B4-BE49-F238E27FC236}">
                <a16:creationId xmlns:a16="http://schemas.microsoft.com/office/drawing/2014/main" id="{BD6D7C73-641C-4331-A54B-0DB13784D43C}"/>
              </a:ext>
            </a:extLst>
          </p:cNvPr>
          <p:cNvSpPr>
            <a:spLocks xmlns:a="http://schemas.openxmlformats.org/drawingml/2006/main" noGrp="1"/>
          </p:cNvSpPr>
          <p:nvPr/>
        </p:nvSpPr>
        <p:spPr>
          <a:xfrm xmlns:a="http://schemas.openxmlformats.org/drawingml/2006/main">
            <a:off x="5676900" y="5114925"/>
            <a:ext cx="1695450" cy="714375"/>
          </a:xfrm>
          <a:prstGeom xmlns:a="http://schemas.openxmlformats.org/drawingml/2006/main" prst="roundRect">
            <a:avLst>
              <a:gd name="adj" fmla="val 17333"/>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2025" b="0">
                <a:solidFill>
                  <a:srgbClr val="F4F4F4"/>
                </a:solidFill>
                <a:latin typeface="Calibri"/>
                <a:ea typeface="Calibri"/>
                <a:cs typeface="Calibri"/>
              </a:defRPr>
            </a:pPr>
            <a:r>
              <a:rPr sz="2025" b="0">
                <a:solidFill>
                  <a:srgbClr val="F4F4F4"/>
                </a:solidFill>
                <a:latin typeface="Calibri"/>
                <a:ea typeface="Calibri"/>
                <a:cs typeface="Calibri"/>
              </a:rPr>
              <a:t>FSDR</a:t>
            </a:r>
          </a:p>
        </p:txBody>
      </p:sp>
      <p:sp>
        <p:nvSpPr>
          <p:cNvPr id="24" name="">
            <a:extLst xmlns:a="http://schemas.openxmlformats.org/drawingml/2006/main">
              <a:ext uri="{FF2B5EF4-FFF2-40B4-BE49-F238E27FC236}">
                <a16:creationId xmlns:a16="http://schemas.microsoft.com/office/drawing/2014/main" id="{A254DEA0-3B53-45D4-8613-433D0FE3C882}"/>
              </a:ext>
            </a:extLst>
          </p:cNvPr>
          <p:cNvSpPr>
            <a:spLocks xmlns:a="http://schemas.openxmlformats.org/drawingml/2006/main" noGrp="1"/>
          </p:cNvSpPr>
          <p:nvPr/>
        </p:nvSpPr>
        <p:spPr>
          <a:xfrm xmlns:a="http://schemas.openxmlformats.org/drawingml/2006/main">
            <a:off x="8105775" y="4552950"/>
            <a:ext cx="1343025" cy="542925"/>
          </a:xfrm>
          <a:prstGeom xmlns:a="http://schemas.openxmlformats.org/drawingml/2006/main" prst="roundRect">
            <a:avLst>
              <a:gd name="adj" fmla="val 2280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Skip Y</a:t>
            </a:r>
          </a:p>
        </p:txBody>
      </p:sp>
      <p:sp>
        <p:nvSpPr>
          <p:cNvPr id="25" name="">
            <a:extLst xmlns:a="http://schemas.openxmlformats.org/drawingml/2006/main">
              <a:ext uri="{FF2B5EF4-FFF2-40B4-BE49-F238E27FC236}">
                <a16:creationId xmlns:a16="http://schemas.microsoft.com/office/drawing/2014/main" id="{27119666-5381-42F8-A769-E68D30684A55}"/>
              </a:ext>
            </a:extLst>
          </p:cNvPr>
          <p:cNvSpPr>
            <a:spLocks xmlns:a="http://schemas.openxmlformats.org/drawingml/2006/main" noGrp="1"/>
          </p:cNvSpPr>
          <p:nvPr/>
        </p:nvSpPr>
        <p:spPr>
          <a:xfrm xmlns:a="http://schemas.openxmlformats.org/drawingml/2006/main">
            <a:off x="8105775" y="5629275"/>
            <a:ext cx="1343025" cy="542925"/>
          </a:xfrm>
          <a:prstGeom xmlns:a="http://schemas.openxmlformats.org/drawingml/2006/main" prst="roundRect">
            <a:avLst>
              <a:gd name="adj" fmla="val 2280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Decoder D′</a:t>
            </a:r>
          </a:p>
        </p:txBody>
      </p:sp>
      <p:sp>
        <p:nvSpPr>
          <p:cNvPr id="26" name="">
            <a:extLst xmlns:a="http://schemas.openxmlformats.org/drawingml/2006/main">
              <a:ext uri="{FF2B5EF4-FFF2-40B4-BE49-F238E27FC236}">
                <a16:creationId xmlns:a16="http://schemas.microsoft.com/office/drawing/2014/main" id="{13E820E1-DECA-4BDE-983C-7CA627D2BAE3}"/>
              </a:ext>
            </a:extLst>
          </p:cNvPr>
          <p:cNvSpPr>
            <a:spLocks xmlns:a="http://schemas.openxmlformats.org/drawingml/2006/main" noGrp="1"/>
          </p:cNvSpPr>
          <p:nvPr/>
        </p:nvSpPr>
        <p:spPr>
          <a:xfrm xmlns:a="http://schemas.openxmlformats.org/drawingml/2006/main">
            <a:off x="10172700" y="5057775"/>
            <a:ext cx="1371600" cy="904875"/>
          </a:xfrm>
          <a:prstGeom xmlns:a="http://schemas.openxmlformats.org/drawingml/2006/main" prst="roundRect">
            <a:avLst>
              <a:gd name="adj" fmla="val 13684"/>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650" b="0">
                <a:solidFill>
                  <a:srgbClr val="F4F4F4"/>
                </a:solidFill>
                <a:latin typeface="Calibri"/>
                <a:ea typeface="Calibri"/>
                <a:cs typeface="Calibri"/>
              </a:defRPr>
            </a:pPr>
            <a:r>
              <a:rPr sz="1650" b="0">
                <a:solidFill>
                  <a:srgbClr val="F4F4F4"/>
                </a:solidFill>
                <a:latin typeface="Calibri"/>
                <a:ea typeface="Calibri"/>
                <a:cs typeface="Calibri"/>
              </a:rPr>
              <a:t>Concatenate</a:t>
            </a:r>
          </a:p>
          <a:p xmlns:a="http://schemas.openxmlformats.org/drawingml/2006/main">
            <a:pPr algn="ctr">
              <a:defRPr sz="1650" b="0">
                <a:solidFill>
                  <a:srgbClr val="F4F4F4"/>
                </a:solidFill>
                <a:latin typeface="Calibri"/>
                <a:ea typeface="Calibri"/>
                <a:cs typeface="Calibri"/>
              </a:defRPr>
            </a:pPr>
            <a:r>
              <a:rPr sz="1650" b="0">
                <a:solidFill>
                  <a:srgbClr val="F4F4F4"/>
                </a:solidFill>
                <a:latin typeface="Calibri"/>
                <a:ea typeface="Calibri"/>
                <a:cs typeface="Calibri"/>
              </a:rPr>
              <a:t>+ 2 × 3 × 3 conv</a:t>
            </a:r>
          </a:p>
        </p:txBody>
      </p:sp>
      <p:cxnSp>
        <p:nvCxnSpPr>
          <p:cNvPr id="61" name=""/>
          <p:cNvCxnSpPr>
            <a:stCxn xmlns:a="http://schemas.openxmlformats.org/drawingml/2006/main" id="19" idx="3"/>
            <a:endCxn xmlns:a="http://schemas.openxmlformats.org/drawingml/2006/main" id="23" idx="1"/>
          </p:cNvCxnSpPr>
          <p:nvPr/>
        </p:nvCxnSpPr>
        <p:spPr>
          <a:xfrm xmlns:a="http://schemas.openxmlformats.org/drawingml/2006/main" rot="16200000" flipH="1">
            <a:off x="3845719" y="3640931"/>
            <a:ext cx="509588" cy="3152775"/>
          </a:xfrm>
          <a:prstGeom xmlns:a="http://schemas.openxmlformats.org/drawingml/2006/main" prst="curvedConnector3">
            <a:avLst>
              <a:gd name="adj1" fmla="val 28625"/>
            </a:avLst>
          </a:prstGeom>
          <a:ln xmlns:a="http://schemas.openxmlformats.org/drawingml/2006/main" w="17145">
            <a:solidFill>
              <a:srgbClr val="B8B8B8"/>
            </a:solidFill>
            <a:tailEnd type="triangle" w="sm" len="sm"/>
          </a:ln>
        </p:spPr>
      </p:cxnSp>
      <p:cxnSp>
        <p:nvCxnSpPr>
          <p:cNvPr id="62" name=""/>
          <p:cNvCxnSpPr>
            <a:stCxn xmlns:a="http://schemas.openxmlformats.org/drawingml/2006/main" id="20" idx="3"/>
            <a:endCxn xmlns:a="http://schemas.openxmlformats.org/drawingml/2006/main" id="23" idx="1"/>
          </p:cNvCxnSpPr>
          <p:nvPr/>
        </p:nvCxnSpPr>
        <p:spPr>
          <a:xfrm xmlns:a="http://schemas.openxmlformats.org/drawingml/2006/main" rot="5400000">
            <a:off x="3886200" y="4110038"/>
            <a:ext cx="428625" cy="3152775"/>
          </a:xfrm>
          <a:prstGeom xmlns:a="http://schemas.openxmlformats.org/drawingml/2006/main" prst="curvedConnector3">
            <a:avLst>
              <a:gd name="adj1" fmla="val 28625"/>
            </a:avLst>
          </a:prstGeom>
          <a:ln xmlns:a="http://schemas.openxmlformats.org/drawingml/2006/main" w="17145">
            <a:solidFill>
              <a:srgbClr val="B8B8B8"/>
            </a:solidFill>
            <a:tailEnd type="triangle" w="sm" len="sm"/>
          </a:ln>
        </p:spPr>
      </p:cxnSp>
      <p:cxnSp>
        <p:nvCxnSpPr>
          <p:cNvPr id="63" name=""/>
          <p:cNvCxnSpPr>
            <a:stCxn xmlns:a="http://schemas.openxmlformats.org/drawingml/2006/main" id="21" idx="3"/>
            <a:endCxn xmlns:a="http://schemas.openxmlformats.org/drawingml/2006/main" id="23" idx="1"/>
          </p:cNvCxnSpPr>
          <p:nvPr/>
        </p:nvCxnSpPr>
        <p:spPr>
          <a:xfrm xmlns:a="http://schemas.openxmlformats.org/drawingml/2006/main" rot="16200000" flipH="1">
            <a:off x="5014913" y="4810125"/>
            <a:ext cx="657225" cy="66675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64" name=""/>
          <p:cNvCxnSpPr>
            <a:stCxn xmlns:a="http://schemas.openxmlformats.org/drawingml/2006/main" id="22" idx="3"/>
            <a:endCxn xmlns:a="http://schemas.openxmlformats.org/drawingml/2006/main" id="23" idx="1"/>
          </p:cNvCxnSpPr>
          <p:nvPr/>
        </p:nvCxnSpPr>
        <p:spPr>
          <a:xfrm xmlns:a="http://schemas.openxmlformats.org/drawingml/2006/main" rot="5400000">
            <a:off x="5143500" y="5338763"/>
            <a:ext cx="400050" cy="66675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65" name=""/>
          <p:cNvCxnSpPr>
            <a:stCxn xmlns:a="http://schemas.openxmlformats.org/drawingml/2006/main" id="23" idx="3"/>
            <a:endCxn xmlns:a="http://schemas.openxmlformats.org/drawingml/2006/main" id="24" idx="1"/>
          </p:cNvCxnSpPr>
          <p:nvPr/>
        </p:nvCxnSpPr>
        <p:spPr>
          <a:xfrm xmlns:a="http://schemas.openxmlformats.org/drawingml/2006/main" rot="5400000">
            <a:off x="7415213" y="4781550"/>
            <a:ext cx="647700" cy="7334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66" name=""/>
          <p:cNvCxnSpPr>
            <a:stCxn xmlns:a="http://schemas.openxmlformats.org/drawingml/2006/main" id="23" idx="3"/>
            <a:endCxn xmlns:a="http://schemas.openxmlformats.org/drawingml/2006/main" id="25" idx="1"/>
          </p:cNvCxnSpPr>
          <p:nvPr/>
        </p:nvCxnSpPr>
        <p:spPr>
          <a:xfrm xmlns:a="http://schemas.openxmlformats.org/drawingml/2006/main" rot="16200000" flipH="1">
            <a:off x="7524750" y="5319713"/>
            <a:ext cx="428625" cy="7334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67" name=""/>
          <p:cNvCxnSpPr>
            <a:stCxn xmlns:a="http://schemas.openxmlformats.org/drawingml/2006/main" id="24" idx="3"/>
            <a:endCxn xmlns:a="http://schemas.openxmlformats.org/drawingml/2006/main" id="26" idx="1"/>
          </p:cNvCxnSpPr>
          <p:nvPr/>
        </p:nvCxnSpPr>
        <p:spPr>
          <a:xfrm xmlns:a="http://schemas.openxmlformats.org/drawingml/2006/main" rot="16200000" flipH="1">
            <a:off x="9467850" y="4805363"/>
            <a:ext cx="685800" cy="7239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68" name=""/>
          <p:cNvCxnSpPr>
            <a:stCxn xmlns:a="http://schemas.openxmlformats.org/drawingml/2006/main" id="25" idx="3"/>
            <a:endCxn xmlns:a="http://schemas.openxmlformats.org/drawingml/2006/main" id="26" idx="1"/>
          </p:cNvCxnSpPr>
          <p:nvPr/>
        </p:nvCxnSpPr>
        <p:spPr>
          <a:xfrm xmlns:a="http://schemas.openxmlformats.org/drawingml/2006/main" rot="5400000">
            <a:off x="9615488" y="5343525"/>
            <a:ext cx="390525" cy="7239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spTree>
    <p:extLst>
      <p:ext uri="{BB962C8B-B14F-4D97-AF65-F5344CB8AC3E}">
        <p14:creationId xmlns:p14="http://schemas.microsoft.com/office/powerpoint/2010/main" val="434970787"/>
      </p:ext>
    </p:extLst>
  </p:cSld>
</p:sld>
</file>

<file path=ppt/slides/slide6.xml><?xml version="1.0" encoding="utf-8"?>
<p:sld xmlns:p="http://schemas.openxmlformats.org/presentationml/2006/main">
  <p:cSld>
    <p:bg>
      <p:bgPr>
        <a:solidFill xmlns:a="http://schemas.openxmlformats.org/drawingml/2006/main">
          <a:srgbClr val="191919"/>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D011327-CB56-4A9B-BEBF-42B4A998A15E}"/>
              </a:ext>
            </a:extLst>
          </p:cNvPr>
          <p:cNvSpPr>
            <a:spLocks xmlns:a="http://schemas.openxmlformats.org/drawingml/2006/main" noGrp="1"/>
          </p:cNvSpPr>
          <p:nvPr/>
        </p:nvSpPr>
        <p:spPr>
          <a:xfrm xmlns:a="http://schemas.openxmlformats.org/drawingml/2006/main">
            <a:off x="638175" y="381000"/>
            <a:ext cx="109156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F4F4F4"/>
                </a:solidFill>
                <a:latin typeface="Cambria"/>
                <a:ea typeface="Cambria"/>
                <a:cs typeface="Cambria"/>
              </a:defRPr>
            </a:pPr>
            <a:r>
              <a:rPr sz="2925" b="1">
                <a:solidFill>
                  <a:srgbClr val="F4F4F4"/>
                </a:solidFill>
                <a:latin typeface="Cambria"/>
                <a:ea typeface="Cambria"/>
                <a:cs typeface="Cambria"/>
              </a:rPr>
              <a:t>FSDR: semantic guidance and detail refinement</a:t>
            </a:r>
          </a:p>
        </p:txBody>
      </p:sp>
      <p:sp>
        <p:nvSpPr>
          <p:cNvPr id="2" name="">
            <a:extLst xmlns:a="http://schemas.openxmlformats.org/drawingml/2006/main">
              <a:ext uri="{FF2B5EF4-FFF2-40B4-BE49-F238E27FC236}">
                <a16:creationId xmlns:a16="http://schemas.microsoft.com/office/drawing/2014/main" id="{F8A7BA33-A0C6-4495-B5D5-4A865B6D1A91}"/>
              </a:ext>
            </a:extLst>
          </p:cNvPr>
          <p:cNvSpPr>
            <a:spLocks xmlns:a="http://schemas.openxmlformats.org/drawingml/2006/main" noGrp="1"/>
          </p:cNvSpPr>
          <p:nvPr/>
        </p:nvSpPr>
        <p:spPr>
          <a:xfrm xmlns:a="http://schemas.openxmlformats.org/drawingml/2006/main">
            <a:off x="638175" y="64674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Inside the FSDR node of each LViT decoder stage</a:t>
            </a:r>
          </a:p>
        </p:txBody>
      </p:sp>
      <p:sp>
        <p:nvSpPr>
          <p:cNvPr id="3" name="">
            <a:extLst xmlns:a="http://schemas.openxmlformats.org/drawingml/2006/main">
              <a:ext uri="{FF2B5EF4-FFF2-40B4-BE49-F238E27FC236}">
                <a16:creationId xmlns:a16="http://schemas.microsoft.com/office/drawing/2014/main" id="{0E564BC1-293D-4526-A1B6-785157512A8F}"/>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6</a:t>
            </a:r>
          </a:p>
        </p:txBody>
      </p:sp>
      <p:sp>
        <p:nvSpPr>
          <p:cNvPr id="4" name="">
            <a:extLst xmlns:a="http://schemas.openxmlformats.org/drawingml/2006/main">
              <a:ext uri="{FF2B5EF4-FFF2-40B4-BE49-F238E27FC236}">
                <a16:creationId xmlns:a16="http://schemas.microsoft.com/office/drawing/2014/main" id="{06352544-A006-4647-B999-3AA4E497D730}"/>
              </a:ext>
            </a:extLst>
          </p:cNvPr>
          <p:cNvSpPr>
            <a:spLocks xmlns:a="http://schemas.openxmlformats.org/drawingml/2006/main" noGrp="1"/>
          </p:cNvSpPr>
          <p:nvPr/>
        </p:nvSpPr>
        <p:spPr>
          <a:xfrm xmlns:a="http://schemas.openxmlformats.org/drawingml/2006/main">
            <a:off x="638175" y="2047875"/>
            <a:ext cx="1466850"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CNN skip C*</a:t>
            </a:r>
          </a:p>
        </p:txBody>
      </p:sp>
      <p:sp>
        <p:nvSpPr>
          <p:cNvPr id="5" name="">
            <a:extLst xmlns:a="http://schemas.openxmlformats.org/drawingml/2006/main">
              <a:ext uri="{FF2B5EF4-FFF2-40B4-BE49-F238E27FC236}">
                <a16:creationId xmlns:a16="http://schemas.microsoft.com/office/drawing/2014/main" id="{77A9DFFD-2333-4135-AC35-20B28D31A5B4}"/>
              </a:ext>
            </a:extLst>
          </p:cNvPr>
          <p:cNvSpPr>
            <a:spLocks xmlns:a="http://schemas.openxmlformats.org/drawingml/2006/main" noGrp="1"/>
          </p:cNvSpPr>
          <p:nvPr/>
        </p:nvSpPr>
        <p:spPr>
          <a:xfrm xmlns:a="http://schemas.openxmlformats.org/drawingml/2006/main">
            <a:off x="2600325" y="2047875"/>
            <a:ext cx="1571625"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Haar split</a:t>
            </a:r>
          </a:p>
        </p:txBody>
      </p:sp>
      <p:sp>
        <p:nvSpPr>
          <p:cNvPr id="6" name="">
            <a:extLst xmlns:a="http://schemas.openxmlformats.org/drawingml/2006/main">
              <a:ext uri="{FF2B5EF4-FFF2-40B4-BE49-F238E27FC236}">
                <a16:creationId xmlns:a16="http://schemas.microsoft.com/office/drawing/2014/main" id="{39CB5712-541B-4D68-B2DE-CF6ACEDB136B}"/>
              </a:ext>
            </a:extLst>
          </p:cNvPr>
          <p:cNvSpPr>
            <a:spLocks xmlns:a="http://schemas.openxmlformats.org/drawingml/2006/main" noGrp="1"/>
          </p:cNvSpPr>
          <p:nvPr/>
        </p:nvSpPr>
        <p:spPr>
          <a:xfrm xmlns:a="http://schemas.openxmlformats.org/drawingml/2006/main">
            <a:off x="4629150" y="1952625"/>
            <a:ext cx="1562100"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 low</a:t>
            </a:r>
          </a:p>
        </p:txBody>
      </p:sp>
      <p:sp>
        <p:nvSpPr>
          <p:cNvPr id="7" name="">
            <a:extLst xmlns:a="http://schemas.openxmlformats.org/drawingml/2006/main">
              <a:ext uri="{FF2B5EF4-FFF2-40B4-BE49-F238E27FC236}">
                <a16:creationId xmlns:a16="http://schemas.microsoft.com/office/drawing/2014/main" id="{269C3614-FE09-42D4-A0EC-8F8A544DD330}"/>
              </a:ext>
            </a:extLst>
          </p:cNvPr>
          <p:cNvSpPr>
            <a:spLocks xmlns:a="http://schemas.openxmlformats.org/drawingml/2006/main" noGrp="1"/>
          </p:cNvSpPr>
          <p:nvPr/>
        </p:nvSpPr>
        <p:spPr>
          <a:xfrm xmlns:a="http://schemas.openxmlformats.org/drawingml/2006/main">
            <a:off x="4629150" y="4314825"/>
            <a:ext cx="1562100"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 high</a:t>
            </a:r>
          </a:p>
        </p:txBody>
      </p:sp>
      <p:sp>
        <p:nvSpPr>
          <p:cNvPr id="8" name="">
            <a:extLst xmlns:a="http://schemas.openxmlformats.org/drawingml/2006/main">
              <a:ext uri="{FF2B5EF4-FFF2-40B4-BE49-F238E27FC236}">
                <a16:creationId xmlns:a16="http://schemas.microsoft.com/office/drawing/2014/main" id="{BF1B74AE-58F7-4C1B-9ACB-19F37FF7D369}"/>
              </a:ext>
            </a:extLst>
          </p:cNvPr>
          <p:cNvSpPr>
            <a:spLocks xmlns:a="http://schemas.openxmlformats.org/drawingml/2006/main" noGrp="1"/>
          </p:cNvSpPr>
          <p:nvPr/>
        </p:nvSpPr>
        <p:spPr>
          <a:xfrm xmlns:a="http://schemas.openxmlformats.org/drawingml/2006/main">
            <a:off x="638175" y="3314700"/>
            <a:ext cx="1695450"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V, decoder D′</a:t>
            </a:r>
          </a:p>
        </p:txBody>
      </p:sp>
      <p:sp>
        <p:nvSpPr>
          <p:cNvPr id="9" name="">
            <a:extLst xmlns:a="http://schemas.openxmlformats.org/drawingml/2006/main">
              <a:ext uri="{FF2B5EF4-FFF2-40B4-BE49-F238E27FC236}">
                <a16:creationId xmlns:a16="http://schemas.microsoft.com/office/drawing/2014/main" id="{97BC495B-3498-4EAB-BBC1-F1D8D3BA48AC}"/>
              </a:ext>
            </a:extLst>
          </p:cNvPr>
          <p:cNvSpPr>
            <a:spLocks xmlns:a="http://schemas.openxmlformats.org/drawingml/2006/main" noGrp="1"/>
          </p:cNvSpPr>
          <p:nvPr/>
        </p:nvSpPr>
        <p:spPr>
          <a:xfrm xmlns:a="http://schemas.openxmlformats.org/drawingml/2006/main">
            <a:off x="2600325" y="3314700"/>
            <a:ext cx="1571625"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Haar low</a:t>
            </a:r>
          </a:p>
        </p:txBody>
      </p:sp>
      <p:sp>
        <p:nvSpPr>
          <p:cNvPr id="10" name="">
            <a:extLst xmlns:a="http://schemas.openxmlformats.org/drawingml/2006/main">
              <a:ext uri="{FF2B5EF4-FFF2-40B4-BE49-F238E27FC236}">
                <a16:creationId xmlns:a16="http://schemas.microsoft.com/office/drawing/2014/main" id="{2A7CDF50-670C-464E-A630-ADF069F94BC5}"/>
              </a:ext>
            </a:extLst>
          </p:cNvPr>
          <p:cNvSpPr>
            <a:spLocks xmlns:a="http://schemas.openxmlformats.org/drawingml/2006/main" noGrp="1"/>
          </p:cNvSpPr>
          <p:nvPr/>
        </p:nvSpPr>
        <p:spPr>
          <a:xfrm xmlns:a="http://schemas.openxmlformats.org/drawingml/2006/main">
            <a:off x="6962775" y="2562225"/>
            <a:ext cx="2324100" cy="847725"/>
          </a:xfrm>
          <a:prstGeom xmlns:a="http://schemas.openxmlformats.org/drawingml/2006/main" prst="roundRect">
            <a:avLst>
              <a:gd name="adj" fmla="val 14607"/>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Semantic refinement</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Channel + region</a:t>
            </a:r>
          </a:p>
        </p:txBody>
      </p:sp>
      <p:sp>
        <p:nvSpPr>
          <p:cNvPr id="11" name="">
            <a:extLst xmlns:a="http://schemas.openxmlformats.org/drawingml/2006/main">
              <a:ext uri="{FF2B5EF4-FFF2-40B4-BE49-F238E27FC236}">
                <a16:creationId xmlns:a16="http://schemas.microsoft.com/office/drawing/2014/main" id="{1F1F7035-84A9-40F0-A943-E10C776C88AC}"/>
              </a:ext>
            </a:extLst>
          </p:cNvPr>
          <p:cNvSpPr>
            <a:spLocks xmlns:a="http://schemas.openxmlformats.org/drawingml/2006/main" noGrp="1"/>
          </p:cNvSpPr>
          <p:nvPr/>
        </p:nvSpPr>
        <p:spPr>
          <a:xfrm xmlns:a="http://schemas.openxmlformats.org/drawingml/2006/main">
            <a:off x="4629150" y="1381125"/>
            <a:ext cx="1562100" cy="457200"/>
          </a:xfrm>
          <a:prstGeom xmlns:a="http://schemas.openxmlformats.org/drawingml/2006/main" prst="roundRect">
            <a:avLst>
              <a:gd name="adj" fmla="val 2708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Text CLS T</a:t>
            </a:r>
          </a:p>
        </p:txBody>
      </p:sp>
      <p:sp>
        <p:nvSpPr>
          <p:cNvPr id="12" name="">
            <a:extLst xmlns:a="http://schemas.openxmlformats.org/drawingml/2006/main">
              <a:ext uri="{FF2B5EF4-FFF2-40B4-BE49-F238E27FC236}">
                <a16:creationId xmlns:a16="http://schemas.microsoft.com/office/drawing/2014/main" id="{7A409221-D3DA-4FA7-ADAA-4480513A4346}"/>
              </a:ext>
            </a:extLst>
          </p:cNvPr>
          <p:cNvSpPr>
            <a:spLocks xmlns:a="http://schemas.openxmlformats.org/drawingml/2006/main" noGrp="1"/>
          </p:cNvSpPr>
          <p:nvPr/>
        </p:nvSpPr>
        <p:spPr>
          <a:xfrm xmlns:a="http://schemas.openxmlformats.org/drawingml/2006/main">
            <a:off x="6962775" y="4276725"/>
            <a:ext cx="2324100" cy="800100"/>
          </a:xfrm>
          <a:prstGeom xmlns:a="http://schemas.openxmlformats.org/drawingml/2006/main" prst="roundRect">
            <a:avLst>
              <a:gd name="adj" fmla="val 15476"/>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Detail refinement</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Local + context</a:t>
            </a:r>
          </a:p>
        </p:txBody>
      </p:sp>
      <p:sp>
        <p:nvSpPr>
          <p:cNvPr id="13" name="">
            <a:extLst xmlns:a="http://schemas.openxmlformats.org/drawingml/2006/main">
              <a:ext uri="{FF2B5EF4-FFF2-40B4-BE49-F238E27FC236}">
                <a16:creationId xmlns:a16="http://schemas.microsoft.com/office/drawing/2014/main" id="{A08CD94A-A7F5-45C6-A12E-C251498BCA47}"/>
              </a:ext>
            </a:extLst>
          </p:cNvPr>
          <p:cNvSpPr>
            <a:spLocks xmlns:a="http://schemas.openxmlformats.org/drawingml/2006/main" noGrp="1"/>
          </p:cNvSpPr>
          <p:nvPr/>
        </p:nvSpPr>
        <p:spPr>
          <a:xfrm xmlns:a="http://schemas.openxmlformats.org/drawingml/2006/main">
            <a:off x="10106025" y="3390900"/>
            <a:ext cx="1457325" cy="914400"/>
          </a:xfrm>
          <a:prstGeom xmlns:a="http://schemas.openxmlformats.org/drawingml/2006/main" prst="roundRect">
            <a:avLst>
              <a:gd name="adj" fmla="val 13542"/>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650" b="0">
                <a:solidFill>
                  <a:srgbClr val="F4F4F4"/>
                </a:solidFill>
                <a:latin typeface="Calibri"/>
                <a:ea typeface="Calibri"/>
                <a:cs typeface="Calibri"/>
              </a:defRPr>
            </a:pPr>
            <a:r>
              <a:rPr sz="1650" b="0">
                <a:solidFill>
                  <a:srgbClr val="F4F4F4"/>
                </a:solidFill>
                <a:latin typeface="Calibri"/>
                <a:ea typeface="Calibri"/>
                <a:cs typeface="Calibri"/>
              </a:rPr>
              <a:t>Residual sum</a:t>
            </a:r>
          </a:p>
          <a:p xmlns:a="http://schemas.openxmlformats.org/drawingml/2006/main">
            <a:pPr algn="ctr">
              <a:defRPr sz="1650" b="0">
                <a:solidFill>
                  <a:srgbClr val="F4F4F4"/>
                </a:solidFill>
                <a:latin typeface="Calibri"/>
                <a:ea typeface="Calibri"/>
                <a:cs typeface="Calibri"/>
              </a:defRPr>
            </a:pPr>
            <a:r>
              <a:rPr sz="1650" b="0">
                <a:solidFill>
                  <a:srgbClr val="F4F4F4"/>
                </a:solidFill>
                <a:latin typeface="Calibri"/>
                <a:ea typeface="Calibri"/>
                <a:cs typeface="Calibri"/>
              </a:rPr>
              <a:t>Refined skip Y</a:t>
            </a:r>
          </a:p>
        </p:txBody>
      </p:sp>
      <p:sp>
        <p:nvSpPr>
          <p:cNvPr id="14" name="">
            <a:extLst xmlns:a="http://schemas.openxmlformats.org/drawingml/2006/main">
              <a:ext uri="{FF2B5EF4-FFF2-40B4-BE49-F238E27FC236}">
                <a16:creationId xmlns:a16="http://schemas.microsoft.com/office/drawing/2014/main" id="{5BF15FBE-FE5C-4D03-AA86-BCF745B2B22C}"/>
              </a:ext>
            </a:extLst>
          </p:cNvPr>
          <p:cNvSpPr>
            <a:spLocks xmlns:a="http://schemas.openxmlformats.org/drawingml/2006/main" noGrp="1"/>
          </p:cNvSpPr>
          <p:nvPr/>
        </p:nvSpPr>
        <p:spPr>
          <a:xfrm xmlns:a="http://schemas.openxmlformats.org/drawingml/2006/main">
            <a:off x="9972675" y="1666875"/>
            <a:ext cx="1581150" cy="542925"/>
          </a:xfrm>
          <a:prstGeom xmlns:a="http://schemas.openxmlformats.org/drawingml/2006/main" prst="roundRect">
            <a:avLst>
              <a:gd name="adj" fmla="val 2280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 identity</a:t>
            </a:r>
          </a:p>
        </p:txBody>
      </p:sp>
      <p:cxnSp>
        <p:nvCxnSpPr>
          <p:cNvPr id="44" name=""/>
          <p:cNvCxnSpPr>
            <a:stCxn xmlns:a="http://schemas.openxmlformats.org/drawingml/2006/main" id="4" idx="3"/>
            <a:endCxn xmlns:a="http://schemas.openxmlformats.org/drawingml/2006/main" id="5" idx="1"/>
          </p:cNvCxnSpPr>
          <p:nvPr/>
        </p:nvCxnSpPr>
        <p:spPr>
          <a:xfrm xmlns:a="http://schemas.openxmlformats.org/drawingml/2006/main">
            <a:off x="2105025" y="2352675"/>
            <a:ext cx="495300"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45" name=""/>
          <p:cNvCxnSpPr>
            <a:stCxn xmlns:a="http://schemas.openxmlformats.org/drawingml/2006/main" id="5" idx="3"/>
            <a:endCxn xmlns:a="http://schemas.openxmlformats.org/drawingml/2006/main" id="6" idx="1"/>
          </p:cNvCxnSpPr>
          <p:nvPr/>
        </p:nvCxnSpPr>
        <p:spPr>
          <a:xfrm xmlns:a="http://schemas.openxmlformats.org/drawingml/2006/main" rot="5400000">
            <a:off x="4352925" y="2076450"/>
            <a:ext cx="95250" cy="4572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6" name=""/>
          <p:cNvCxnSpPr>
            <a:stCxn xmlns:a="http://schemas.openxmlformats.org/drawingml/2006/main" id="5" idx="2"/>
            <a:endCxn xmlns:a="http://schemas.openxmlformats.org/drawingml/2006/main" id="7" idx="1"/>
          </p:cNvCxnSpPr>
          <p:nvPr/>
        </p:nvCxnSpPr>
        <p:spPr>
          <a:xfrm xmlns:a="http://schemas.openxmlformats.org/drawingml/2006/main" rot="16200000" flipH="1">
            <a:off x="3026569" y="3017044"/>
            <a:ext cx="1962150" cy="1243013"/>
          </a:xfrm>
          <a:prstGeom xmlns:a="http://schemas.openxmlformats.org/drawingml/2006/main" prst="curvedConnector3">
            <a:avLst>
              <a:gd name="adj1" fmla="val 58908"/>
            </a:avLst>
          </a:prstGeom>
          <a:ln xmlns:a="http://schemas.openxmlformats.org/drawingml/2006/main" w="17145">
            <a:solidFill>
              <a:srgbClr val="B8B8B8"/>
            </a:solidFill>
            <a:tailEnd type="triangle" w="sm" len="sm"/>
          </a:ln>
        </p:spPr>
      </p:cxnSp>
      <p:cxnSp>
        <p:nvCxnSpPr>
          <p:cNvPr id="47" name=""/>
          <p:cNvCxnSpPr>
            <a:stCxn xmlns:a="http://schemas.openxmlformats.org/drawingml/2006/main" id="8" idx="3"/>
            <a:endCxn xmlns:a="http://schemas.openxmlformats.org/drawingml/2006/main" id="9" idx="1"/>
          </p:cNvCxnSpPr>
          <p:nvPr/>
        </p:nvCxnSpPr>
        <p:spPr>
          <a:xfrm xmlns:a="http://schemas.openxmlformats.org/drawingml/2006/main">
            <a:off x="2333625" y="3619500"/>
            <a:ext cx="266700"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48" name=""/>
          <p:cNvCxnSpPr>
            <a:stCxn xmlns:a="http://schemas.openxmlformats.org/drawingml/2006/main" id="6" idx="3"/>
            <a:endCxn xmlns:a="http://schemas.openxmlformats.org/drawingml/2006/main" id="10" idx="1"/>
          </p:cNvCxnSpPr>
          <p:nvPr/>
        </p:nvCxnSpPr>
        <p:spPr>
          <a:xfrm xmlns:a="http://schemas.openxmlformats.org/drawingml/2006/main" rot="16200000" flipH="1">
            <a:off x="6212681" y="2235994"/>
            <a:ext cx="728663" cy="7715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9" name=""/>
          <p:cNvCxnSpPr>
            <a:stCxn xmlns:a="http://schemas.openxmlformats.org/drawingml/2006/main" id="9" idx="3"/>
            <a:endCxn xmlns:a="http://schemas.openxmlformats.org/drawingml/2006/main" id="10" idx="1"/>
          </p:cNvCxnSpPr>
          <p:nvPr/>
        </p:nvCxnSpPr>
        <p:spPr>
          <a:xfrm xmlns:a="http://schemas.openxmlformats.org/drawingml/2006/main" rot="5400000">
            <a:off x="5250656" y="1907381"/>
            <a:ext cx="633413" cy="27908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0" name=""/>
          <p:cNvCxnSpPr>
            <a:stCxn xmlns:a="http://schemas.openxmlformats.org/drawingml/2006/main" id="11" idx="3"/>
            <a:endCxn xmlns:a="http://schemas.openxmlformats.org/drawingml/2006/main" id="10" idx="0"/>
          </p:cNvCxnSpPr>
          <p:nvPr/>
        </p:nvCxnSpPr>
        <p:spPr>
          <a:xfrm xmlns:a="http://schemas.openxmlformats.org/drawingml/2006/main" rot="16200000" flipH="1">
            <a:off x="6681788" y="1119188"/>
            <a:ext cx="952500" cy="1933575"/>
          </a:xfrm>
          <a:prstGeom xmlns:a="http://schemas.openxmlformats.org/drawingml/2006/main" prst="curvedConnector3">
            <a:avLst>
              <a:gd name="adj1" fmla="val 79433"/>
            </a:avLst>
          </a:prstGeom>
          <a:ln xmlns:a="http://schemas.openxmlformats.org/drawingml/2006/main" w="17145">
            <a:solidFill>
              <a:srgbClr val="B8B8B8"/>
            </a:solidFill>
            <a:tailEnd type="triangle" w="sm" len="sm"/>
          </a:ln>
        </p:spPr>
      </p:cxnSp>
      <p:cxnSp>
        <p:nvCxnSpPr>
          <p:cNvPr id="51" name=""/>
          <p:cNvCxnSpPr>
            <a:stCxn xmlns:a="http://schemas.openxmlformats.org/drawingml/2006/main" id="7" idx="3"/>
            <a:endCxn xmlns:a="http://schemas.openxmlformats.org/drawingml/2006/main" id="12" idx="1"/>
          </p:cNvCxnSpPr>
          <p:nvPr/>
        </p:nvCxnSpPr>
        <p:spPr>
          <a:xfrm xmlns:a="http://schemas.openxmlformats.org/drawingml/2006/main" rot="16200000" flipH="1">
            <a:off x="6548438" y="4262438"/>
            <a:ext cx="57150" cy="7715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2" name=""/>
          <p:cNvCxnSpPr>
            <a:stCxn xmlns:a="http://schemas.openxmlformats.org/drawingml/2006/main" id="10" idx="2"/>
            <a:endCxn xmlns:a="http://schemas.openxmlformats.org/drawingml/2006/main" id="12" idx="0"/>
          </p:cNvCxnSpPr>
          <p:nvPr/>
        </p:nvCxnSpPr>
        <p:spPr>
          <a:xfrm xmlns:a="http://schemas.openxmlformats.org/drawingml/2006/main">
            <a:off x="8124825" y="3409950"/>
            <a:ext cx="0" cy="866775"/>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53" name=""/>
          <p:cNvCxnSpPr>
            <a:stCxn xmlns:a="http://schemas.openxmlformats.org/drawingml/2006/main" id="10" idx="3"/>
            <a:endCxn xmlns:a="http://schemas.openxmlformats.org/drawingml/2006/main" id="13" idx="1"/>
          </p:cNvCxnSpPr>
          <p:nvPr/>
        </p:nvCxnSpPr>
        <p:spPr>
          <a:xfrm xmlns:a="http://schemas.openxmlformats.org/drawingml/2006/main" rot="16200000" flipH="1">
            <a:off x="9265444" y="3007519"/>
            <a:ext cx="862013" cy="819150"/>
          </a:xfrm>
          <a:prstGeom xmlns:a="http://schemas.openxmlformats.org/drawingml/2006/main" prst="curvedConnector3">
            <a:avLst>
              <a:gd name="adj1" fmla="val 61047"/>
            </a:avLst>
          </a:prstGeom>
          <a:ln xmlns:a="http://schemas.openxmlformats.org/drawingml/2006/main" w="17145">
            <a:solidFill>
              <a:srgbClr val="B8B8B8"/>
            </a:solidFill>
            <a:tailEnd type="triangle" w="sm" len="sm"/>
          </a:ln>
        </p:spPr>
      </p:cxnSp>
      <p:cxnSp>
        <p:nvCxnSpPr>
          <p:cNvPr id="54" name=""/>
          <p:cNvCxnSpPr>
            <a:stCxn xmlns:a="http://schemas.openxmlformats.org/drawingml/2006/main" id="12" idx="3"/>
            <a:endCxn xmlns:a="http://schemas.openxmlformats.org/drawingml/2006/main" id="13" idx="1"/>
          </p:cNvCxnSpPr>
          <p:nvPr/>
        </p:nvCxnSpPr>
        <p:spPr>
          <a:xfrm xmlns:a="http://schemas.openxmlformats.org/drawingml/2006/main" rot="5400000">
            <a:off x="9282113" y="3852863"/>
            <a:ext cx="828675" cy="819150"/>
          </a:xfrm>
          <a:prstGeom xmlns:a="http://schemas.openxmlformats.org/drawingml/2006/main" prst="curvedConnector3">
            <a:avLst>
              <a:gd name="adj1" fmla="val 61047"/>
            </a:avLst>
          </a:prstGeom>
          <a:ln xmlns:a="http://schemas.openxmlformats.org/drawingml/2006/main" w="17145">
            <a:solidFill>
              <a:srgbClr val="B8B8B8"/>
            </a:solidFill>
            <a:tailEnd type="triangle" w="sm" len="sm"/>
          </a:ln>
        </p:spPr>
      </p:cxnSp>
      <p:cxnSp>
        <p:nvCxnSpPr>
          <p:cNvPr id="55" name=""/>
          <p:cNvCxnSpPr>
            <a:stCxn xmlns:a="http://schemas.openxmlformats.org/drawingml/2006/main" id="14" idx="2"/>
            <a:endCxn xmlns:a="http://schemas.openxmlformats.org/drawingml/2006/main" id="13" idx="0"/>
          </p:cNvCxnSpPr>
          <p:nvPr/>
        </p:nvCxnSpPr>
        <p:spPr>
          <a:xfrm xmlns:a="http://schemas.openxmlformats.org/drawingml/2006/main" rot="16200000" flipH="1">
            <a:off x="10208419" y="2764631"/>
            <a:ext cx="1181100" cy="71438"/>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sp>
        <p:nvSpPr>
          <p:cNvPr id="27" name="">
            <a:extLst xmlns:a="http://schemas.openxmlformats.org/drawingml/2006/main">
              <a:ext uri="{FF2B5EF4-FFF2-40B4-BE49-F238E27FC236}">
                <a16:creationId xmlns:a16="http://schemas.microsoft.com/office/drawing/2014/main" id="{EFCBE79F-C8EB-4E1E-9A41-EAD97BB034CB}"/>
              </a:ext>
            </a:extLst>
          </p:cNvPr>
          <p:cNvSpPr>
            <a:spLocks xmlns:a="http://schemas.openxmlformats.org/drawingml/2006/main" noGrp="1"/>
          </p:cNvSpPr>
          <p:nvPr/>
        </p:nvSpPr>
        <p:spPr>
          <a:xfrm xmlns:a="http://schemas.openxmlformats.org/drawingml/2006/main">
            <a:off x="8324850" y="3676650"/>
            <a:ext cx="1362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BBBBBB"/>
                </a:solidFill>
                <a:latin typeface="Calibri"/>
                <a:ea typeface="Calibri"/>
                <a:cs typeface="Calibri"/>
              </a:defRPr>
            </a:pPr>
            <a:r>
              <a:rPr sz="1575" b="0">
                <a:solidFill>
                  <a:srgbClr val="BBBBBB"/>
                </a:solidFill>
                <a:latin typeface="Calibri"/>
                <a:ea typeface="Calibri"/>
                <a:cs typeface="Calibri"/>
              </a:rPr>
              <a:t>Support S</a:t>
            </a:r>
          </a:p>
        </p:txBody>
      </p:sp>
      <p:sp>
        <p:nvSpPr>
          <p:cNvPr id="28" name="">
            <a:extLst xmlns:a="http://schemas.openxmlformats.org/drawingml/2006/main">
              <a:ext uri="{FF2B5EF4-FFF2-40B4-BE49-F238E27FC236}">
                <a16:creationId xmlns:a16="http://schemas.microsoft.com/office/drawing/2014/main" id="{754A0F5B-3A76-495F-975B-62754C930E9A}"/>
              </a:ext>
            </a:extLst>
          </p:cNvPr>
          <p:cNvSpPr>
            <a:spLocks xmlns:a="http://schemas.openxmlformats.org/drawingml/2006/main" noGrp="1"/>
          </p:cNvSpPr>
          <p:nvPr/>
        </p:nvSpPr>
        <p:spPr>
          <a:xfrm xmlns:a="http://schemas.openxmlformats.org/drawingml/2006/main">
            <a:off x="638175" y="542925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BBBBBB"/>
                </a:solidFill>
                <a:latin typeface="Calibri"/>
                <a:ea typeface="Calibri"/>
                <a:cs typeface="Calibri"/>
              </a:defRPr>
            </a:pPr>
            <a:r>
              <a:rPr sz="1725" b="0">
                <a:solidFill>
                  <a:srgbClr val="BBBBBB"/>
                </a:solidFill>
                <a:latin typeface="Calibri"/>
                <a:ea typeface="Calibri"/>
                <a:cs typeface="Calibri"/>
              </a:rPr>
              <a:t>C* = C′ with RACE; C otherwise</a:t>
            </a:r>
          </a:p>
        </p:txBody>
      </p:sp>
      <p:sp>
        <p:nvSpPr>
          <p:cNvPr id="29" name="">
            <a:extLst xmlns:a="http://schemas.openxmlformats.org/drawingml/2006/main">
              <a:ext uri="{FF2B5EF4-FFF2-40B4-BE49-F238E27FC236}">
                <a16:creationId xmlns:a16="http://schemas.microsoft.com/office/drawing/2014/main" id="{2862DA48-7F16-4172-AA63-A3214A780032}"/>
              </a:ext>
            </a:extLst>
          </p:cNvPr>
          <p:cNvSpPr>
            <a:spLocks xmlns:a="http://schemas.openxmlformats.org/drawingml/2006/main" noGrp="1"/>
          </p:cNvSpPr>
          <p:nvPr/>
        </p:nvSpPr>
        <p:spPr>
          <a:xfrm xmlns:a="http://schemas.openxmlformats.org/drawingml/2006/main">
            <a:off x="638175" y="5876925"/>
            <a:ext cx="10906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FFFFFF"/>
                </a:solidFill>
                <a:latin typeface="Calibri"/>
                <a:ea typeface="Calibri"/>
                <a:cs typeface="Calibri"/>
              </a:defRPr>
            </a:pPr>
            <a:r>
              <a:rPr sz="1875" b="0">
                <a:solidFill>
                  <a:srgbClr val="FFFFFF"/>
                </a:solidFill>
                <a:latin typeface="Calibri"/>
                <a:ea typeface="Calibri"/>
                <a:cs typeface="Calibri"/>
              </a:rPr>
              <a:t>Y = C* + αp Vlow + Rchannel + αr Rregion + αd Rdetail + Radaptive</a:t>
            </a:r>
          </a:p>
        </p:txBody>
      </p:sp>
    </p:spTree>
    <p:extLst>
      <p:ext uri="{BB962C8B-B14F-4D97-AF65-F5344CB8AC3E}">
        <p14:creationId xmlns:p14="http://schemas.microsoft.com/office/powerpoint/2010/main" val="7373958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19B0A0-8CCA-4AFC-B7F2-4775990984CE}"/>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11111"/>
                </a:solidFill>
                <a:latin typeface="Cambria"/>
                <a:ea typeface="Cambria"/>
                <a:cs typeface="Cambria"/>
              </a:defRPr>
            </a:pPr>
            <a:r>
              <a:rPr sz="3000" b="1">
                <a:solidFill>
                  <a:srgbClr val="111111"/>
                </a:solidFill>
                <a:latin typeface="Cambria"/>
                <a:ea typeface="Cambria"/>
                <a:cs typeface="Cambria"/>
              </a:rPr>
              <a:t>Matched experimental design</a:t>
            </a:r>
          </a:p>
        </p:txBody>
      </p:sp>
      <p:sp>
        <p:nvSpPr>
          <p:cNvPr id="2" name="">
            <a:extLst xmlns:a="http://schemas.openxmlformats.org/drawingml/2006/main">
              <a:ext uri="{FF2B5EF4-FFF2-40B4-BE49-F238E27FC236}">
                <a16:creationId xmlns:a16="http://schemas.microsoft.com/office/drawing/2014/main" id="{F12A0839-CC14-4B03-97BF-5AE42A1D9E02}"/>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Primary study: four configurations, three seeds</a:t>
            </a:r>
          </a:p>
        </p:txBody>
      </p:sp>
      <p:sp>
        <p:nvSpPr>
          <p:cNvPr id="3" name="">
            <a:extLst xmlns:a="http://schemas.openxmlformats.org/drawingml/2006/main">
              <a:ext uri="{FF2B5EF4-FFF2-40B4-BE49-F238E27FC236}">
                <a16:creationId xmlns:a16="http://schemas.microsoft.com/office/drawing/2014/main" id="{97D52CF2-D281-4AAB-8F78-97CC79530CD8}"/>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7</a:t>
            </a:r>
          </a:p>
        </p:txBody>
      </p:sp>
      <p:graphicFrame>
        <p:nvGraphicFramePr>
          <p:cNvPr id="10" name=""/>
          <p:cNvGraphicFramePr/>
          <p:nvPr/>
        </p:nvGraphicFramePr>
        <p:xfrm>
          <a:off xmlns:a="http://schemas.openxmlformats.org/drawingml/2006/main" x="638175" y="1657350"/>
          <a:ext xmlns:a="http://schemas.openxmlformats.org/drawingml/2006/main" cx="10915650" cy="3448050"/>
        </p:xfrm>
        <a:graphic xmlns:a="http://schemas.openxmlformats.org/drawingml/2006/main">
          <a:graphicData uri="http://schemas.openxmlformats.org/drawingml/2006/table">
            <a:tbl>
              <a:tblPr/>
              <a:tblGrid>
                <a:gridCol w="3000375"/>
                <a:gridCol w="7915275"/>
              </a:tblGrid>
              <a:tr h="574675">
                <a:tc>
                  <a:txBody>
                    <a:bodyPr>
                      <a:noAutofit/>
                    </a:bodyPr>
                    <a:lstStyle/>
                    <a:p>
                      <a:r>
                        <a:rPr sz="1875" b="1">
                          <a:solidFill>
                            <a:srgbClr val="FFFFFF"/>
                          </a:solidFill>
                          <a:latin typeface="Calibri"/>
                          <a:ea typeface="Calibri"/>
                          <a:cs typeface="Calibri"/>
                        </a:rPr>
                        <a:t>Setting</a:t>
                      </a:r>
                    </a:p>
                  </a:txBody>
                  <a:tcPr marL="114300" marR="95250" marT="47625" marB="47625" anchor="ctr">
                    <a:solidFill>
                      <a:srgbClr val="111111"/>
                    </a:solidFill>
                  </a:tcPr>
                </a:tc>
                <a:tc>
                  <a:txBody>
                    <a:bodyPr>
                      <a:noAutofit/>
                    </a:bodyPr>
                    <a:lstStyle/>
                    <a:p>
                      <a:r>
                        <a:rPr sz="1875" b="1">
                          <a:solidFill>
                            <a:srgbClr val="FFFFFF"/>
                          </a:solidFill>
                          <a:latin typeface="Calibri"/>
                          <a:ea typeface="Calibri"/>
                          <a:cs typeface="Calibri"/>
                        </a:rPr>
                        <a:t>Shared protocol</a:t>
                      </a:r>
                    </a:p>
                  </a:txBody>
                  <a:tcPr marL="114300" marR="95250" marT="47625" marB="47625" anchor="ctr">
                    <a:solidFill>
                      <a:srgbClr val="111111"/>
                    </a:solidFill>
                  </a:tcPr>
                </a:tc>
              </a:tr>
              <a:tr h="574675">
                <a:tc>
                  <a:txBody>
                    <a:bodyPr>
                      <a:noAutofit/>
                    </a:bodyPr>
                    <a:lstStyle/>
                    <a:p>
                      <a:r>
                        <a:rPr sz="1875" b="0">
                          <a:solidFill>
                            <a:srgbClr val="111111"/>
                          </a:solidFill>
                          <a:latin typeface="Calibri"/>
                          <a:ea typeface="Calibri"/>
                          <a:cs typeface="Calibri"/>
                        </a:rPr>
                        <a:t>Configurations</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PLAM, FSDR, PLAM + RACE, FSDR + RACE</a:t>
                      </a:r>
                    </a:p>
                  </a:txBody>
                  <a:tcPr marL="114300" marR="95250" marT="47625" marB="47625" anchor="ctr">
                    <a:solidFill>
                      <a:srgbClr val="FFFFFF"/>
                    </a:solidFill>
                  </a:tcPr>
                </a:tc>
              </a:tr>
              <a:tr h="574675">
                <a:tc>
                  <a:txBody>
                    <a:bodyPr>
                      <a:noAutofit/>
                    </a:bodyPr>
                    <a:lstStyle/>
                    <a:p>
                      <a:r>
                        <a:rPr sz="1875" b="0">
                          <a:solidFill>
                            <a:srgbClr val="111111"/>
                          </a:solidFill>
                          <a:latin typeface="Calibri"/>
                          <a:ea typeface="Calibri"/>
                          <a:cs typeface="Calibri"/>
                        </a:rPr>
                        <a:t>Training</a:t>
                      </a:r>
                    </a:p>
                  </a:txBody>
                  <a:tcPr marL="114300" marR="95250" marT="47625" marB="47625" anchor="ctr">
                    <a:solidFill>
                      <a:srgbClr val="F3F3F3"/>
                    </a:solidFill>
                  </a:tcPr>
                </a:tc>
                <a:tc>
                  <a:txBody>
                    <a:bodyPr>
                      <a:noAutofit/>
                    </a:bodyPr>
                    <a:lstStyle/>
                    <a:p>
                      <a:r>
                        <a:rPr sz="1875" b="0">
                          <a:solidFill>
                            <a:srgbClr val="111111"/>
                          </a:solidFill>
                          <a:latin typeface="Calibri"/>
                          <a:ea typeface="Calibri"/>
                          <a:cs typeface="Calibri"/>
                        </a:rPr>
                        <a:t>80 epochs, batch 16, 224 × 224 images</a:t>
                      </a:r>
                    </a:p>
                  </a:txBody>
                  <a:tcPr marL="114300" marR="95250" marT="47625" marB="47625" anchor="ctr">
                    <a:solidFill>
                      <a:srgbClr val="F3F3F3"/>
                    </a:solidFill>
                  </a:tcPr>
                </a:tc>
              </a:tr>
              <a:tr h="574675">
                <a:tc>
                  <a:txBody>
                    <a:bodyPr>
                      <a:noAutofit/>
                    </a:bodyPr>
                    <a:lstStyle/>
                    <a:p>
                      <a:r>
                        <a:rPr sz="1875" b="0">
                          <a:solidFill>
                            <a:srgbClr val="111111"/>
                          </a:solidFill>
                          <a:latin typeface="Calibri"/>
                          <a:ea typeface="Calibri"/>
                          <a:cs typeface="Calibri"/>
                        </a:rPr>
                        <a:t>Text encoder</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Frozen CXR-BERT, 32 tokens, no LoRA</a:t>
                      </a:r>
                    </a:p>
                  </a:txBody>
                  <a:tcPr marL="114300" marR="95250" marT="47625" marB="47625" anchor="ctr">
                    <a:solidFill>
                      <a:srgbClr val="FFFFFF"/>
                    </a:solidFill>
                  </a:tcPr>
                </a:tc>
              </a:tr>
              <a:tr h="574675">
                <a:tc>
                  <a:txBody>
                    <a:bodyPr>
                      <a:noAutofit/>
                    </a:bodyPr>
                    <a:lstStyle/>
                    <a:p>
                      <a:r>
                        <a:rPr sz="1875" b="0">
                          <a:solidFill>
                            <a:srgbClr val="111111"/>
                          </a:solidFill>
                          <a:latin typeface="Calibri"/>
                          <a:ea typeface="Calibri"/>
                          <a:cs typeface="Calibri"/>
                        </a:rPr>
                        <a:t>Optimisation</a:t>
                      </a:r>
                    </a:p>
                  </a:txBody>
                  <a:tcPr marL="114300" marR="95250" marT="47625" marB="47625" anchor="ctr">
                    <a:solidFill>
                      <a:srgbClr val="F3F3F3"/>
                    </a:solidFill>
                  </a:tcPr>
                </a:tc>
                <a:tc>
                  <a:txBody>
                    <a:bodyPr>
                      <a:noAutofit/>
                    </a:bodyPr>
                    <a:lstStyle/>
                    <a:p>
                      <a:r>
                        <a:rPr sz="1875" b="0">
                          <a:solidFill>
                            <a:srgbClr val="111111"/>
                          </a:solidFill>
                          <a:latin typeface="Calibri"/>
                          <a:ea typeface="Calibri"/>
                          <a:cs typeface="Calibri"/>
                        </a:rPr>
                        <a:t>Adam, Dice/Focal, single-cycle cosine</a:t>
                      </a:r>
                    </a:p>
                  </a:txBody>
                  <a:tcPr marL="114300" marR="95250" marT="47625" marB="47625" anchor="ctr">
                    <a:solidFill>
                      <a:srgbClr val="F3F3F3"/>
                    </a:solidFill>
                  </a:tcPr>
                </a:tc>
              </a:tr>
              <a:tr h="574675">
                <a:tc>
                  <a:txBody>
                    <a:bodyPr>
                      <a:noAutofit/>
                    </a:bodyPr>
                    <a:lstStyle/>
                    <a:p>
                      <a:r>
                        <a:rPr sz="1875" b="0">
                          <a:solidFill>
                            <a:srgbClr val="111111"/>
                          </a:solidFill>
                          <a:latin typeface="Calibri"/>
                          <a:ea typeface="Calibri"/>
                          <a:cs typeface="Calibri"/>
                        </a:rPr>
                        <a:t>Checkpoint and Test</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Best Val macro IoU, fixed probability &gt; 0.5</a:t>
                      </a:r>
                    </a:p>
                  </a:txBody>
                  <a:tcPr marL="114300" marR="95250"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91F7D7A-0D53-413F-BE74-1C9FE714F3A4}"/>
              </a:ext>
            </a:extLst>
          </p:cNvPr>
          <p:cNvSpPr>
            <a:spLocks xmlns:a="http://schemas.openxmlformats.org/drawingml/2006/main" noGrp="1"/>
          </p:cNvSpPr>
          <p:nvPr/>
        </p:nvSpPr>
        <p:spPr>
          <a:xfrm xmlns:a="http://schemas.openxmlformats.org/drawingml/2006/main">
            <a:off x="638175" y="5362575"/>
            <a:ext cx="10915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11111"/>
                </a:solidFill>
                <a:latin typeface="Calibri"/>
                <a:ea typeface="Calibri"/>
                <a:cs typeface="Calibri"/>
              </a:defRPr>
            </a:pPr>
            <a:r>
              <a:rPr sz="1875" b="1">
                <a:solidFill>
                  <a:srgbClr val="111111"/>
                </a:solidFill>
                <a:latin typeface="Calibri"/>
                <a:ea typeface="Calibri"/>
                <a:cs typeface="Calibri"/>
              </a:rPr>
              <a:t>Seeds 1219, 2027 and 3407 for every configuration. All 12 models are complete.</a:t>
            </a:r>
          </a:p>
        </p:txBody>
      </p:sp>
      <p:sp>
        <p:nvSpPr>
          <p:cNvPr id="6" name="">
            <a:extLst xmlns:a="http://schemas.openxmlformats.org/drawingml/2006/main">
              <a:ext uri="{FF2B5EF4-FFF2-40B4-BE49-F238E27FC236}">
                <a16:creationId xmlns:a16="http://schemas.microsoft.com/office/drawing/2014/main" id="{9DAF171C-12A4-42FE-928B-8FA5F8E9C7A4}"/>
              </a:ext>
            </a:extLst>
          </p:cNvPr>
          <p:cNvSpPr>
            <a:spLocks xmlns:a="http://schemas.openxmlformats.org/drawingml/2006/main" noGrp="1"/>
          </p:cNvSpPr>
          <p:nvPr/>
        </p:nvSpPr>
        <p:spPr>
          <a:xfrm xmlns:a="http://schemas.openxmlformats.org/drawingml/2006/main">
            <a:off x="638175" y="5848350"/>
            <a:ext cx="1091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606060"/>
                </a:solidFill>
                <a:latin typeface="Calibri"/>
                <a:ea typeface="Calibri"/>
                <a:cs typeface="Calibri"/>
              </a:defRPr>
            </a:pPr>
            <a:r>
              <a:rPr sz="1725" b="0">
                <a:solidFill>
                  <a:srgbClr val="606060"/>
                </a:solidFill>
                <a:latin typeface="Calibri"/>
                <a:ea typeface="Calibri"/>
                <a:cs typeface="Calibri"/>
              </a:rPr>
              <a:t>Train 5,716 / Val 1,429 / Test 2,113. Complete RACE includes routing and auxiliary training.</a:t>
            </a:r>
          </a:p>
        </p:txBody>
      </p:sp>
    </p:spTree>
    <p:extLst>
      <p:ext uri="{BB962C8B-B14F-4D97-AF65-F5344CB8AC3E}">
        <p14:creationId xmlns:p14="http://schemas.microsoft.com/office/powerpoint/2010/main" val="1112871147"/>
      </p:ext>
    </p:extLst>
  </p:cSld>
</p:sld>
</file>

<file path=ppt/slides/slide8.xml><?xml version="1.0" encoding="utf-8"?>
<p:sld xmlns:p="http://schemas.openxmlformats.org/presentationml/2006/main">
  <p:cSld>
    <p:bg>
      <p:bgPr>
        <a:solidFill xmlns:a="http://schemas.openxmlformats.org/drawingml/2006/main">
          <a:srgbClr val="191919"/>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E6DDC49-7959-4C68-B3C4-D360A1485FF3}"/>
              </a:ext>
            </a:extLst>
          </p:cNvPr>
          <p:cNvSpPr>
            <a:spLocks xmlns:a="http://schemas.openxmlformats.org/drawingml/2006/main" noGrp="1"/>
          </p:cNvSpPr>
          <p:nvPr/>
        </p:nvSpPr>
        <p:spPr>
          <a:xfrm xmlns:a="http://schemas.openxmlformats.org/drawingml/2006/main">
            <a:off x="638175" y="381000"/>
            <a:ext cx="109156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F4F4F4"/>
                </a:solidFill>
                <a:latin typeface="Cambria"/>
                <a:ea typeface="Cambria"/>
                <a:cs typeface="Cambria"/>
              </a:defRPr>
            </a:pPr>
            <a:r>
              <a:rPr sz="2925" b="1">
                <a:solidFill>
                  <a:srgbClr val="F4F4F4"/>
                </a:solidFill>
                <a:latin typeface="Cambria"/>
                <a:ea typeface="Cambria"/>
                <a:cs typeface="Cambria"/>
              </a:rPr>
              <a:t>RACE: report and visual evidence control the skip</a:t>
            </a:r>
          </a:p>
        </p:txBody>
      </p:sp>
      <p:sp>
        <p:nvSpPr>
          <p:cNvPr id="2" name="">
            <a:extLst xmlns:a="http://schemas.openxmlformats.org/drawingml/2006/main">
              <a:ext uri="{FF2B5EF4-FFF2-40B4-BE49-F238E27FC236}">
                <a16:creationId xmlns:a16="http://schemas.microsoft.com/office/drawing/2014/main" id="{44EC3C0D-9433-4F77-A14C-6741797E04D8}"/>
              </a:ext>
            </a:extLst>
          </p:cNvPr>
          <p:cNvSpPr>
            <a:spLocks xmlns:a="http://schemas.openxmlformats.org/drawingml/2006/main" noGrp="1"/>
          </p:cNvSpPr>
          <p:nvPr/>
        </p:nvSpPr>
        <p:spPr>
          <a:xfrm xmlns:a="http://schemas.openxmlformats.org/drawingml/2006/main">
            <a:off x="638175" y="64674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One RACE route shown. Four routes act on C₁, C₂, C₃ and C₄ before decoder fusion.</a:t>
            </a:r>
          </a:p>
        </p:txBody>
      </p:sp>
      <p:sp>
        <p:nvSpPr>
          <p:cNvPr id="3" name="">
            <a:extLst xmlns:a="http://schemas.openxmlformats.org/drawingml/2006/main">
              <a:ext uri="{FF2B5EF4-FFF2-40B4-BE49-F238E27FC236}">
                <a16:creationId xmlns:a16="http://schemas.microsoft.com/office/drawing/2014/main" id="{10D1E562-E642-46B2-923B-FE22A663ECBC}"/>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8</a:t>
            </a:r>
          </a:p>
        </p:txBody>
      </p:sp>
      <p:sp>
        <p:nvSpPr>
          <p:cNvPr id="4" name="">
            <a:extLst xmlns:a="http://schemas.openxmlformats.org/drawingml/2006/main">
              <a:ext uri="{FF2B5EF4-FFF2-40B4-BE49-F238E27FC236}">
                <a16:creationId xmlns:a16="http://schemas.microsoft.com/office/drawing/2014/main" id="{71DB115A-BAF1-4552-B19E-16EB26848E91}"/>
              </a:ext>
            </a:extLst>
          </p:cNvPr>
          <p:cNvSpPr>
            <a:spLocks xmlns:a="http://schemas.openxmlformats.org/drawingml/2006/main" noGrp="1"/>
          </p:cNvSpPr>
          <p:nvPr/>
        </p:nvSpPr>
        <p:spPr>
          <a:xfrm xmlns:a="http://schemas.openxmlformats.org/drawingml/2006/main">
            <a:off x="638175" y="1600200"/>
            <a:ext cx="1714500"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Frozen text T</a:t>
            </a:r>
          </a:p>
        </p:txBody>
      </p:sp>
      <p:sp>
        <p:nvSpPr>
          <p:cNvPr id="5" name="">
            <a:extLst xmlns:a="http://schemas.openxmlformats.org/drawingml/2006/main">
              <a:ext uri="{FF2B5EF4-FFF2-40B4-BE49-F238E27FC236}">
                <a16:creationId xmlns:a16="http://schemas.microsoft.com/office/drawing/2014/main" id="{0CBDB408-4687-4132-AB69-67A0FBA70C69}"/>
              </a:ext>
            </a:extLst>
          </p:cNvPr>
          <p:cNvSpPr>
            <a:spLocks xmlns:a="http://schemas.openxmlformats.org/drawingml/2006/main" noGrp="1"/>
          </p:cNvSpPr>
          <p:nvPr/>
        </p:nvSpPr>
        <p:spPr>
          <a:xfrm xmlns:a="http://schemas.openxmlformats.org/drawingml/2006/main">
            <a:off x="2828925" y="1600200"/>
            <a:ext cx="1714500"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Masked mean</a:t>
            </a:r>
          </a:p>
        </p:txBody>
      </p:sp>
      <p:sp>
        <p:nvSpPr>
          <p:cNvPr id="6" name="">
            <a:extLst xmlns:a="http://schemas.openxmlformats.org/drawingml/2006/main">
              <a:ext uri="{FF2B5EF4-FFF2-40B4-BE49-F238E27FC236}">
                <a16:creationId xmlns:a16="http://schemas.microsoft.com/office/drawing/2014/main" id="{23160C18-8B42-4EBB-A203-B3F08AE9F3D3}"/>
              </a:ext>
            </a:extLst>
          </p:cNvPr>
          <p:cNvSpPr>
            <a:spLocks xmlns:a="http://schemas.openxmlformats.org/drawingml/2006/main" noGrp="1"/>
          </p:cNvSpPr>
          <p:nvPr/>
        </p:nvSpPr>
        <p:spPr>
          <a:xfrm xmlns:a="http://schemas.openxmlformats.org/drawingml/2006/main">
            <a:off x="5019675" y="1457325"/>
            <a:ext cx="2305050" cy="904875"/>
          </a:xfrm>
          <a:prstGeom xmlns:a="http://schemas.openxmlformats.org/drawingml/2006/main" prst="roundRect">
            <a:avLst>
              <a:gd name="adj" fmla="val 13684"/>
            </a:avLst>
          </a:prstGeom>
          <a:solidFill xmlns:a="http://schemas.openxmlformats.org/drawingml/2006/main">
            <a:srgbClr val="276B80"/>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Learned report slots</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6 locations + count</a:t>
            </a:r>
          </a:p>
        </p:txBody>
      </p:sp>
      <p:sp>
        <p:nvSpPr>
          <p:cNvPr id="7" name="">
            <a:extLst xmlns:a="http://schemas.openxmlformats.org/drawingml/2006/main">
              <a:ext uri="{FF2B5EF4-FFF2-40B4-BE49-F238E27FC236}">
                <a16:creationId xmlns:a16="http://schemas.microsoft.com/office/drawing/2014/main" id="{86D72B9F-20A0-4E15-9DAD-A7D2D587DFA2}"/>
              </a:ext>
            </a:extLst>
          </p:cNvPr>
          <p:cNvSpPr>
            <a:spLocks xmlns:a="http://schemas.openxmlformats.org/drawingml/2006/main" noGrp="1"/>
          </p:cNvSpPr>
          <p:nvPr/>
        </p:nvSpPr>
        <p:spPr>
          <a:xfrm xmlns:a="http://schemas.openxmlformats.org/drawingml/2006/main">
            <a:off x="9058275" y="1600200"/>
            <a:ext cx="2495550" cy="609600"/>
          </a:xfrm>
          <a:prstGeom xmlns:a="http://schemas.openxmlformats.org/drawingml/2006/main" prst="roundRect">
            <a:avLst>
              <a:gd name="adj" fmla="val 20313"/>
            </a:avLst>
          </a:prstGeom>
          <a:solidFill xmlns:a="http://schemas.openxmlformats.org/drawingml/2006/main">
            <a:srgbClr val="276B80"/>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Spatial report prior P</a:t>
            </a:r>
          </a:p>
        </p:txBody>
      </p:sp>
      <p:sp>
        <p:nvSpPr>
          <p:cNvPr id="8" name="">
            <a:extLst xmlns:a="http://schemas.openxmlformats.org/drawingml/2006/main">
              <a:ext uri="{FF2B5EF4-FFF2-40B4-BE49-F238E27FC236}">
                <a16:creationId xmlns:a16="http://schemas.microsoft.com/office/drawing/2014/main" id="{7718A0E8-83E4-4090-B8FE-A4B99DFB2731}"/>
              </a:ext>
            </a:extLst>
          </p:cNvPr>
          <p:cNvSpPr>
            <a:spLocks xmlns:a="http://schemas.openxmlformats.org/drawingml/2006/main" noGrp="1"/>
          </p:cNvSpPr>
          <p:nvPr/>
        </p:nvSpPr>
        <p:spPr>
          <a:xfrm xmlns:a="http://schemas.openxmlformats.org/drawingml/2006/main">
            <a:off x="5734050" y="2924175"/>
            <a:ext cx="2181225" cy="571500"/>
          </a:xfrm>
          <a:prstGeom xmlns:a="http://schemas.openxmlformats.org/drawingml/2006/main" prst="roundRect">
            <a:avLst>
              <a:gd name="adj" fmla="val 21667"/>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Six-zone basis B</a:t>
            </a:r>
          </a:p>
        </p:txBody>
      </p:sp>
      <p:sp>
        <p:nvSpPr>
          <p:cNvPr id="9" name="">
            <a:extLst xmlns:a="http://schemas.openxmlformats.org/drawingml/2006/main">
              <a:ext uri="{FF2B5EF4-FFF2-40B4-BE49-F238E27FC236}">
                <a16:creationId xmlns:a16="http://schemas.microsoft.com/office/drawing/2014/main" id="{25011FD3-A8BB-44C9-B6E3-DE4D9931F156}"/>
              </a:ext>
            </a:extLst>
          </p:cNvPr>
          <p:cNvSpPr>
            <a:spLocks xmlns:a="http://schemas.openxmlformats.org/drawingml/2006/main" noGrp="1"/>
          </p:cNvSpPr>
          <p:nvPr/>
        </p:nvSpPr>
        <p:spPr>
          <a:xfrm xmlns:a="http://schemas.openxmlformats.org/drawingml/2006/main">
            <a:off x="638175" y="4019550"/>
            <a:ext cx="1714500"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CNN skip C</a:t>
            </a:r>
          </a:p>
        </p:txBody>
      </p:sp>
      <p:sp>
        <p:nvSpPr>
          <p:cNvPr id="10" name="">
            <a:extLst xmlns:a="http://schemas.openxmlformats.org/drawingml/2006/main">
              <a:ext uri="{FF2B5EF4-FFF2-40B4-BE49-F238E27FC236}">
                <a16:creationId xmlns:a16="http://schemas.microsoft.com/office/drawing/2014/main" id="{06DF7F2F-7A9C-4BBD-B3AA-B8742B15D672}"/>
              </a:ext>
            </a:extLst>
          </p:cNvPr>
          <p:cNvSpPr>
            <a:spLocks xmlns:a="http://schemas.openxmlformats.org/drawingml/2006/main" noGrp="1"/>
          </p:cNvSpPr>
          <p:nvPr/>
        </p:nvSpPr>
        <p:spPr>
          <a:xfrm xmlns:a="http://schemas.openxmlformats.org/drawingml/2006/main">
            <a:off x="3124200" y="3886200"/>
            <a:ext cx="2305050" cy="838200"/>
          </a:xfrm>
          <a:prstGeom xmlns:a="http://schemas.openxmlformats.org/drawingml/2006/main" prst="roundRect">
            <a:avLst>
              <a:gd name="adj" fmla="val 14773"/>
            </a:avLst>
          </a:prstGeom>
          <a:solidFill xmlns:a="http://schemas.openxmlformats.org/drawingml/2006/main">
            <a:srgbClr val="276B80"/>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Visual evidence E</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Conv + sigmoid</a:t>
            </a:r>
          </a:p>
        </p:txBody>
      </p:sp>
      <p:sp>
        <p:nvSpPr>
          <p:cNvPr id="11" name="">
            <a:extLst xmlns:a="http://schemas.openxmlformats.org/drawingml/2006/main">
              <a:ext uri="{FF2B5EF4-FFF2-40B4-BE49-F238E27FC236}">
                <a16:creationId xmlns:a16="http://schemas.microsoft.com/office/drawing/2014/main" id="{BE64B984-C72F-4949-A0FD-6A4B8E6AE3C6}"/>
              </a:ext>
            </a:extLst>
          </p:cNvPr>
          <p:cNvSpPr>
            <a:spLocks xmlns:a="http://schemas.openxmlformats.org/drawingml/2006/main" noGrp="1"/>
          </p:cNvSpPr>
          <p:nvPr/>
        </p:nvSpPr>
        <p:spPr>
          <a:xfrm xmlns:a="http://schemas.openxmlformats.org/drawingml/2006/main">
            <a:off x="6115050" y="4019550"/>
            <a:ext cx="2266950" cy="609600"/>
          </a:xfrm>
          <a:prstGeom xmlns:a="http://schemas.openxmlformats.org/drawingml/2006/main" prst="roundRect">
            <a:avLst>
              <a:gd name="adj" fmla="val 20313"/>
            </a:avLst>
          </a:prstGeom>
          <a:solidFill xmlns:a="http://schemas.openxmlformats.org/drawingml/2006/main">
            <a:srgbClr val="276B80"/>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Zone agreement A</a:t>
            </a:r>
          </a:p>
        </p:txBody>
      </p:sp>
      <p:sp>
        <p:nvSpPr>
          <p:cNvPr id="12" name="">
            <a:extLst xmlns:a="http://schemas.openxmlformats.org/drawingml/2006/main">
              <a:ext uri="{FF2B5EF4-FFF2-40B4-BE49-F238E27FC236}">
                <a16:creationId xmlns:a16="http://schemas.microsoft.com/office/drawing/2014/main" id="{7E097F77-9328-4955-8C83-EF7DBB366064}"/>
              </a:ext>
            </a:extLst>
          </p:cNvPr>
          <p:cNvSpPr>
            <a:spLocks xmlns:a="http://schemas.openxmlformats.org/drawingml/2006/main" noGrp="1"/>
          </p:cNvSpPr>
          <p:nvPr/>
        </p:nvSpPr>
        <p:spPr>
          <a:xfrm xmlns:a="http://schemas.openxmlformats.org/drawingml/2006/main">
            <a:off x="9058275" y="3305175"/>
            <a:ext cx="2495550" cy="609600"/>
          </a:xfrm>
          <a:prstGeom xmlns:a="http://schemas.openxmlformats.org/drawingml/2006/main" prst="roundRect">
            <a:avLst>
              <a:gd name="adj" fmla="val 20313"/>
            </a:avLst>
          </a:prstGeom>
          <a:solidFill xmlns:a="http://schemas.openxmlformats.org/drawingml/2006/main">
            <a:srgbClr val="276B80"/>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Gate G = P × E × A</a:t>
            </a:r>
          </a:p>
        </p:txBody>
      </p:sp>
      <p:sp>
        <p:nvSpPr>
          <p:cNvPr id="13" name="">
            <a:extLst xmlns:a="http://schemas.openxmlformats.org/drawingml/2006/main">
              <a:ext uri="{FF2B5EF4-FFF2-40B4-BE49-F238E27FC236}">
                <a16:creationId xmlns:a16="http://schemas.microsoft.com/office/drawing/2014/main" id="{8BDB2A5E-B167-454C-91A8-ADFFEEAA9C96}"/>
              </a:ext>
            </a:extLst>
          </p:cNvPr>
          <p:cNvSpPr>
            <a:spLocks xmlns:a="http://schemas.openxmlformats.org/drawingml/2006/main" noGrp="1"/>
          </p:cNvSpPr>
          <p:nvPr/>
        </p:nvSpPr>
        <p:spPr>
          <a:xfrm xmlns:a="http://schemas.openxmlformats.org/drawingml/2006/main">
            <a:off x="3124200" y="5324475"/>
            <a:ext cx="2305050" cy="838200"/>
          </a:xfrm>
          <a:prstGeom xmlns:a="http://schemas.openxmlformats.org/drawingml/2006/main" prst="roundRect">
            <a:avLst>
              <a:gd name="adj" fmla="val 1477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Residual R(C)</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Depthwise + pointwise</a:t>
            </a:r>
          </a:p>
        </p:txBody>
      </p:sp>
      <p:sp>
        <p:nvSpPr>
          <p:cNvPr id="14" name="">
            <a:extLst xmlns:a="http://schemas.openxmlformats.org/drawingml/2006/main">
              <a:ext uri="{FF2B5EF4-FFF2-40B4-BE49-F238E27FC236}">
                <a16:creationId xmlns:a16="http://schemas.microsoft.com/office/drawing/2014/main" id="{1B5B30B7-8ED5-478C-906B-1775D519FD40}"/>
              </a:ext>
            </a:extLst>
          </p:cNvPr>
          <p:cNvSpPr>
            <a:spLocks xmlns:a="http://schemas.openxmlformats.org/drawingml/2006/main" noGrp="1"/>
          </p:cNvSpPr>
          <p:nvPr/>
        </p:nvSpPr>
        <p:spPr>
          <a:xfrm xmlns:a="http://schemas.openxmlformats.org/drawingml/2006/main">
            <a:off x="9058275" y="5324475"/>
            <a:ext cx="2495550" cy="838200"/>
          </a:xfrm>
          <a:prstGeom xmlns:a="http://schemas.openxmlformats.org/drawingml/2006/main" prst="roundRect">
            <a:avLst>
              <a:gd name="adj" fmla="val 14773"/>
            </a:avLst>
          </a:prstGeom>
          <a:solidFill xmlns:a="http://schemas.openxmlformats.org/drawingml/2006/main">
            <a:srgbClr val="276B80"/>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650" b="0">
                <a:solidFill>
                  <a:srgbClr val="F4F4F4"/>
                </a:solidFill>
                <a:latin typeface="Calibri"/>
                <a:ea typeface="Calibri"/>
                <a:cs typeface="Calibri"/>
              </a:defRPr>
            </a:pPr>
            <a:r>
              <a:rPr sz="1650" b="0">
                <a:solidFill>
                  <a:srgbClr val="F4F4F4"/>
                </a:solidFill>
                <a:latin typeface="Calibri"/>
                <a:ea typeface="Calibri"/>
                <a:cs typeface="Calibri"/>
              </a:rPr>
              <a:t>C′ = C + s G ⊙ R(C)</a:t>
            </a:r>
          </a:p>
          <a:p xmlns:a="http://schemas.openxmlformats.org/drawingml/2006/main">
            <a:pPr algn="ctr">
              <a:defRPr sz="1650" b="0">
                <a:solidFill>
                  <a:srgbClr val="F4F4F4"/>
                </a:solidFill>
                <a:latin typeface="Calibri"/>
                <a:ea typeface="Calibri"/>
                <a:cs typeface="Calibri"/>
              </a:defRPr>
            </a:pPr>
            <a:r>
              <a:rPr sz="1650" b="0">
                <a:solidFill>
                  <a:srgbClr val="F4F4F4"/>
                </a:solidFill>
                <a:latin typeface="Calibri"/>
                <a:ea typeface="Calibri"/>
                <a:cs typeface="Calibri"/>
              </a:rPr>
              <a:t>Bounded skip correction</a:t>
            </a:r>
          </a:p>
        </p:txBody>
      </p:sp>
      <p:cxnSp>
        <p:nvCxnSpPr>
          <p:cNvPr id="45" name=""/>
          <p:cNvCxnSpPr>
            <a:stCxn xmlns:a="http://schemas.openxmlformats.org/drawingml/2006/main" id="4" idx="3"/>
            <a:endCxn xmlns:a="http://schemas.openxmlformats.org/drawingml/2006/main" id="5" idx="1"/>
          </p:cNvCxnSpPr>
          <p:nvPr/>
        </p:nvCxnSpPr>
        <p:spPr>
          <a:xfrm xmlns:a="http://schemas.openxmlformats.org/drawingml/2006/main">
            <a:off x="2352675" y="1905000"/>
            <a:ext cx="476250"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46" name=""/>
          <p:cNvCxnSpPr>
            <a:stCxn xmlns:a="http://schemas.openxmlformats.org/drawingml/2006/main" id="5" idx="3"/>
            <a:endCxn xmlns:a="http://schemas.openxmlformats.org/drawingml/2006/main" id="6" idx="1"/>
          </p:cNvCxnSpPr>
          <p:nvPr/>
        </p:nvCxnSpPr>
        <p:spPr>
          <a:xfrm xmlns:a="http://schemas.openxmlformats.org/drawingml/2006/main" rot="16200000" flipH="1">
            <a:off x="4779169" y="1669256"/>
            <a:ext cx="4763" cy="47625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7" name=""/>
          <p:cNvCxnSpPr>
            <a:stCxn xmlns:a="http://schemas.openxmlformats.org/drawingml/2006/main" id="6" idx="3"/>
            <a:endCxn xmlns:a="http://schemas.openxmlformats.org/drawingml/2006/main" id="7" idx="1"/>
          </p:cNvCxnSpPr>
          <p:nvPr/>
        </p:nvCxnSpPr>
        <p:spPr>
          <a:xfrm xmlns:a="http://schemas.openxmlformats.org/drawingml/2006/main" rot="5400000">
            <a:off x="8189119" y="1040606"/>
            <a:ext cx="4763" cy="173355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8" name=""/>
          <p:cNvCxnSpPr>
            <a:stCxn xmlns:a="http://schemas.openxmlformats.org/drawingml/2006/main" id="8" idx="3"/>
            <a:endCxn xmlns:a="http://schemas.openxmlformats.org/drawingml/2006/main" id="7" idx="1"/>
          </p:cNvCxnSpPr>
          <p:nvPr/>
        </p:nvCxnSpPr>
        <p:spPr>
          <a:xfrm xmlns:a="http://schemas.openxmlformats.org/drawingml/2006/main" rot="5400000">
            <a:off x="7834313" y="1985963"/>
            <a:ext cx="1304925" cy="11430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9" name=""/>
          <p:cNvCxnSpPr>
            <a:stCxn xmlns:a="http://schemas.openxmlformats.org/drawingml/2006/main" id="6" idx="2"/>
            <a:endCxn xmlns:a="http://schemas.openxmlformats.org/drawingml/2006/main" id="11" idx="0"/>
          </p:cNvCxnSpPr>
          <p:nvPr/>
        </p:nvCxnSpPr>
        <p:spPr>
          <a:xfrm xmlns:a="http://schemas.openxmlformats.org/drawingml/2006/main">
            <a:off x="6172200" y="2362200"/>
            <a:ext cx="1857375" cy="1657350"/>
          </a:xfrm>
          <a:prstGeom xmlns:a="http://schemas.openxmlformats.org/drawingml/2006/main" prst="curvedConnector4">
            <a:avLst/>
          </a:prstGeom>
          <a:ln xmlns:a="http://schemas.openxmlformats.org/drawingml/2006/main" w="17145">
            <a:solidFill>
              <a:srgbClr val="B8B8B8"/>
            </a:solidFill>
            <a:tailEnd type="triangle" w="sm" len="sm"/>
          </a:ln>
        </p:spPr>
      </p:cxnSp>
      <p:cxnSp>
        <p:nvCxnSpPr>
          <p:cNvPr id="50" name=""/>
          <p:cNvCxnSpPr>
            <a:stCxn xmlns:a="http://schemas.openxmlformats.org/drawingml/2006/main" id="8" idx="2"/>
            <a:endCxn xmlns:a="http://schemas.openxmlformats.org/drawingml/2006/main" id="11" idx="0"/>
          </p:cNvCxnSpPr>
          <p:nvPr/>
        </p:nvCxnSpPr>
        <p:spPr>
          <a:xfrm xmlns:a="http://schemas.openxmlformats.org/drawingml/2006/main" rot="16200000" flipH="1">
            <a:off x="6774656" y="3545681"/>
            <a:ext cx="523875" cy="423863"/>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1" name=""/>
          <p:cNvCxnSpPr>
            <a:stCxn xmlns:a="http://schemas.openxmlformats.org/drawingml/2006/main" id="9" idx="3"/>
            <a:endCxn xmlns:a="http://schemas.openxmlformats.org/drawingml/2006/main" id="10" idx="1"/>
          </p:cNvCxnSpPr>
          <p:nvPr/>
        </p:nvCxnSpPr>
        <p:spPr>
          <a:xfrm xmlns:a="http://schemas.openxmlformats.org/drawingml/2006/main" rot="5400000">
            <a:off x="2728913" y="3929063"/>
            <a:ext cx="19050" cy="7715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2" name=""/>
          <p:cNvCxnSpPr>
            <a:stCxn xmlns:a="http://schemas.openxmlformats.org/drawingml/2006/main" id="10" idx="3"/>
            <a:endCxn xmlns:a="http://schemas.openxmlformats.org/drawingml/2006/main" id="11" idx="1"/>
          </p:cNvCxnSpPr>
          <p:nvPr/>
        </p:nvCxnSpPr>
        <p:spPr>
          <a:xfrm xmlns:a="http://schemas.openxmlformats.org/drawingml/2006/main" rot="16200000" flipH="1">
            <a:off x="5762625" y="3971925"/>
            <a:ext cx="19050" cy="6858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3" name=""/>
          <p:cNvCxnSpPr>
            <a:stCxn xmlns:a="http://schemas.openxmlformats.org/drawingml/2006/main" id="10" idx="0"/>
            <a:endCxn xmlns:a="http://schemas.openxmlformats.org/drawingml/2006/main" id="12" idx="1"/>
          </p:cNvCxnSpPr>
          <p:nvPr/>
        </p:nvCxnSpPr>
        <p:spPr>
          <a:xfrm xmlns:a="http://schemas.openxmlformats.org/drawingml/2006/main" flipV="1">
            <a:off x="4276725" y="3609975"/>
            <a:ext cx="4781550" cy="276225"/>
          </a:xfrm>
          <a:prstGeom xmlns:a="http://schemas.openxmlformats.org/drawingml/2006/main" prst="straightConnector1">
            <a:avLst/>
          </a:prstGeom>
          <a:ln xmlns:a="http://schemas.openxmlformats.org/drawingml/2006/main" w="17145">
            <a:solidFill>
              <a:srgbClr val="B8B8B8"/>
            </a:solidFill>
            <a:tailEnd type="triangle" w="sm" len="sm"/>
          </a:ln>
        </p:spPr>
      </p:cxnSp>
      <p:cxnSp>
        <p:nvCxnSpPr>
          <p:cNvPr id="54" name=""/>
          <p:cNvCxnSpPr>
            <a:stCxn xmlns:a="http://schemas.openxmlformats.org/drawingml/2006/main" id="11" idx="3"/>
            <a:endCxn xmlns:a="http://schemas.openxmlformats.org/drawingml/2006/main" id="12" idx="1"/>
          </p:cNvCxnSpPr>
          <p:nvPr/>
        </p:nvCxnSpPr>
        <p:spPr>
          <a:xfrm xmlns:a="http://schemas.openxmlformats.org/drawingml/2006/main" rot="5400000">
            <a:off x="8362950" y="3629025"/>
            <a:ext cx="714375" cy="67627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55" name=""/>
          <p:cNvCxnSpPr>
            <a:stCxn xmlns:a="http://schemas.openxmlformats.org/drawingml/2006/main" id="7" idx="2"/>
            <a:endCxn xmlns:a="http://schemas.openxmlformats.org/drawingml/2006/main" id="12" idx="0"/>
          </p:cNvCxnSpPr>
          <p:nvPr/>
        </p:nvCxnSpPr>
        <p:spPr>
          <a:xfrm xmlns:a="http://schemas.openxmlformats.org/drawingml/2006/main">
            <a:off x="10306050" y="2209800"/>
            <a:ext cx="0" cy="1095375"/>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56" name=""/>
          <p:cNvCxnSpPr>
            <a:stCxn xmlns:a="http://schemas.openxmlformats.org/drawingml/2006/main" id="9" idx="2"/>
            <a:endCxn xmlns:a="http://schemas.openxmlformats.org/drawingml/2006/main" id="13" idx="1"/>
          </p:cNvCxnSpPr>
          <p:nvPr/>
        </p:nvCxnSpPr>
        <p:spPr>
          <a:xfrm xmlns:a="http://schemas.openxmlformats.org/drawingml/2006/main" rot="16200000" flipH="1">
            <a:off x="1752600" y="4371975"/>
            <a:ext cx="1114425" cy="1628775"/>
          </a:xfrm>
          <a:prstGeom xmlns:a="http://schemas.openxmlformats.org/drawingml/2006/main" prst="curvedConnector3">
            <a:avLst>
              <a:gd name="adj1" fmla="val 62719"/>
            </a:avLst>
          </a:prstGeom>
          <a:ln xmlns:a="http://schemas.openxmlformats.org/drawingml/2006/main" w="17145">
            <a:solidFill>
              <a:srgbClr val="B8B8B8"/>
            </a:solidFill>
            <a:tailEnd type="triangle" w="sm" len="sm"/>
          </a:ln>
        </p:spPr>
      </p:cxnSp>
      <p:cxnSp>
        <p:nvCxnSpPr>
          <p:cNvPr id="57" name=""/>
          <p:cNvCxnSpPr>
            <a:stCxn xmlns:a="http://schemas.openxmlformats.org/drawingml/2006/main" id="13" idx="3"/>
            <a:endCxn xmlns:a="http://schemas.openxmlformats.org/drawingml/2006/main" id="14" idx="1"/>
          </p:cNvCxnSpPr>
          <p:nvPr/>
        </p:nvCxnSpPr>
        <p:spPr>
          <a:xfrm xmlns:a="http://schemas.openxmlformats.org/drawingml/2006/main">
            <a:off x="5429250" y="5743575"/>
            <a:ext cx="3629025"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58" name=""/>
          <p:cNvCxnSpPr>
            <a:stCxn xmlns:a="http://schemas.openxmlformats.org/drawingml/2006/main" id="12" idx="2"/>
            <a:endCxn xmlns:a="http://schemas.openxmlformats.org/drawingml/2006/main" id="14" idx="0"/>
          </p:cNvCxnSpPr>
          <p:nvPr/>
        </p:nvCxnSpPr>
        <p:spPr>
          <a:xfrm xmlns:a="http://schemas.openxmlformats.org/drawingml/2006/main">
            <a:off x="10306050" y="3914775"/>
            <a:ext cx="0" cy="1409700"/>
          </a:xfrm>
          <a:prstGeom xmlns:a="http://schemas.openxmlformats.org/drawingml/2006/main" prst="curvedConnector2">
            <a:avLst/>
          </a:prstGeom>
          <a:ln xmlns:a="http://schemas.openxmlformats.org/drawingml/2006/main" w="17145">
            <a:solidFill>
              <a:srgbClr val="B8B8B8"/>
            </a:solidFill>
            <a:tailEnd type="triangle" w="sm" len="sm"/>
          </a:ln>
        </p:spPr>
      </p:cxnSp>
      <p:sp>
        <p:nvSpPr>
          <p:cNvPr id="29" name="">
            <a:extLst xmlns:a="http://schemas.openxmlformats.org/drawingml/2006/main">
              <a:ext uri="{FF2B5EF4-FFF2-40B4-BE49-F238E27FC236}">
                <a16:creationId xmlns:a16="http://schemas.microsoft.com/office/drawing/2014/main" id="{254AC73A-2DEF-4513-B68C-EB91FC777804}"/>
              </a:ext>
            </a:extLst>
          </p:cNvPr>
          <p:cNvSpPr>
            <a:spLocks xmlns:a="http://schemas.openxmlformats.org/drawingml/2006/main" noGrp="1"/>
          </p:cNvSpPr>
          <p:nvPr/>
        </p:nvSpPr>
        <p:spPr>
          <a:xfrm xmlns:a="http://schemas.openxmlformats.org/drawingml/2006/main">
            <a:off x="5905500" y="4914900"/>
            <a:ext cx="561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BBBBBB"/>
                </a:solidFill>
                <a:latin typeface="Calibri"/>
                <a:ea typeface="Calibri"/>
                <a:cs typeface="Calibri"/>
              </a:defRPr>
            </a:pPr>
            <a:r>
              <a:rPr sz="1650" b="0">
                <a:solidFill>
                  <a:srgbClr val="BBBBBB"/>
                </a:solidFill>
                <a:latin typeface="Calibri"/>
                <a:ea typeface="Calibri"/>
                <a:cs typeface="Calibri"/>
              </a:rPr>
              <a:t>|s| ≤ 0.15; zero initial correction</a:t>
            </a:r>
          </a:p>
        </p:txBody>
      </p:sp>
      <p:sp>
        <p:nvSpPr>
          <p:cNvPr id="30" name="">
            <a:extLst xmlns:a="http://schemas.openxmlformats.org/drawingml/2006/main">
              <a:ext uri="{FF2B5EF4-FFF2-40B4-BE49-F238E27FC236}">
                <a16:creationId xmlns:a16="http://schemas.microsoft.com/office/drawing/2014/main" id="{39ED72E9-47D2-4BA9-B3D7-1500ACF279F6}"/>
              </a:ext>
            </a:extLst>
          </p:cNvPr>
          <p:cNvSpPr>
            <a:spLocks xmlns:a="http://schemas.openxmlformats.org/drawingml/2006/main" noGrp="1"/>
          </p:cNvSpPr>
          <p:nvPr/>
        </p:nvSpPr>
        <p:spPr>
          <a:xfrm xmlns:a="http://schemas.openxmlformats.org/drawingml/2006/main">
            <a:off x="638175" y="6181725"/>
            <a:ext cx="1091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BBBBBB"/>
                </a:solidFill>
                <a:latin typeface="Calibri"/>
                <a:ea typeface="Calibri"/>
                <a:cs typeface="Calibri"/>
              </a:defRPr>
            </a:pPr>
            <a:r>
              <a:rPr sz="1500" b="0">
                <a:solidFill>
                  <a:srgbClr val="BBBBBB"/>
                </a:solidFill>
                <a:latin typeface="Calibri"/>
                <a:ea typeface="Calibri"/>
                <a:cs typeface="Calibri"/>
              </a:rPr>
              <a:t>Auxiliary training teaches the slots and evidence branches. Inference uses learned predictions.</a:t>
            </a:r>
          </a:p>
        </p:txBody>
      </p:sp>
    </p:spTree>
    <p:extLst>
      <p:ext uri="{BB962C8B-B14F-4D97-AF65-F5344CB8AC3E}">
        <p14:creationId xmlns:p14="http://schemas.microsoft.com/office/powerpoint/2010/main" val="19664393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B6BBED-5F87-4BF4-BBD1-7106083AAF09}"/>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11111"/>
                </a:solidFill>
                <a:latin typeface="Cambria"/>
                <a:ea typeface="Cambria"/>
                <a:cs typeface="Cambria"/>
              </a:defRPr>
            </a:pPr>
            <a:r>
              <a:rPr sz="3000" b="1">
                <a:solidFill>
                  <a:srgbClr val="111111"/>
                </a:solidFill>
                <a:latin typeface="Cambria"/>
                <a:ea typeface="Cambria"/>
                <a:cs typeface="Cambria"/>
              </a:rPr>
              <a:t>Test results: complete three-seed ablation</a:t>
            </a:r>
          </a:p>
        </p:txBody>
      </p:sp>
      <p:sp>
        <p:nvSpPr>
          <p:cNvPr id="2" name="">
            <a:extLst xmlns:a="http://schemas.openxmlformats.org/drawingml/2006/main">
              <a:ext uri="{FF2B5EF4-FFF2-40B4-BE49-F238E27FC236}">
                <a16:creationId xmlns:a16="http://schemas.microsoft.com/office/drawing/2014/main" id="{D4BD1DC0-7BAD-4DC4-B94C-E469519FCC3C}"/>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Primary results: per-image macro metrics</a:t>
            </a:r>
          </a:p>
        </p:txBody>
      </p:sp>
      <p:sp>
        <p:nvSpPr>
          <p:cNvPr id="3" name="">
            <a:extLst xmlns:a="http://schemas.openxmlformats.org/drawingml/2006/main">
              <a:ext uri="{FF2B5EF4-FFF2-40B4-BE49-F238E27FC236}">
                <a16:creationId xmlns:a16="http://schemas.microsoft.com/office/drawing/2014/main" id="{4B9F2265-DEBE-4C9E-9A98-5C10432A8FB2}"/>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9</a:t>
            </a:r>
          </a:p>
        </p:txBody>
      </p:sp>
      <p:sp>
        <p:nvSpPr>
          <p:cNvPr id="4" name="">
            <a:extLst xmlns:a="http://schemas.openxmlformats.org/drawingml/2006/main">
              <a:ext uri="{FF2B5EF4-FFF2-40B4-BE49-F238E27FC236}">
                <a16:creationId xmlns:a16="http://schemas.microsoft.com/office/drawing/2014/main" id="{85A04BED-7B78-4080-81D1-6236D0EACFF5}"/>
              </a:ext>
            </a:extLst>
          </p:cNvPr>
          <p:cNvSpPr>
            <a:spLocks xmlns:a="http://schemas.openxmlformats.org/drawingml/2006/main" noGrp="1"/>
          </p:cNvSpPr>
          <p:nvPr/>
        </p:nvSpPr>
        <p:spPr>
          <a:xfrm xmlns:a="http://schemas.openxmlformats.org/drawingml/2006/main">
            <a:off x="638175" y="1390650"/>
            <a:ext cx="1091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606060"/>
                </a:solidFill>
                <a:latin typeface="Calibri"/>
                <a:ea typeface="Calibri"/>
                <a:cs typeface="Calibri"/>
              </a:defRPr>
            </a:pPr>
            <a:r>
              <a:rPr sz="1875" b="0">
                <a:solidFill>
                  <a:srgbClr val="606060"/>
                </a:solidFill>
                <a:latin typeface="Calibri"/>
                <a:ea typeface="Calibri"/>
                <a:cs typeface="Calibri"/>
              </a:rPr>
              <a:t>Mean ± sample SD across seeds 1219, 2027 and 3407</a:t>
            </a:r>
          </a:p>
        </p:txBody>
      </p:sp>
      <p:graphicFrame>
        <p:nvGraphicFramePr>
          <p:cNvPr id="12" name=""/>
          <p:cNvGraphicFramePr/>
          <p:nvPr/>
        </p:nvGraphicFramePr>
        <p:xfrm>
          <a:off xmlns:a="http://schemas.openxmlformats.org/drawingml/2006/main" x="638175" y="1885950"/>
          <a:ext xmlns:a="http://schemas.openxmlformats.org/drawingml/2006/main" cx="10915650" cy="3114675"/>
        </p:xfrm>
        <a:graphic xmlns:a="http://schemas.openxmlformats.org/drawingml/2006/main">
          <a:graphicData uri="http://schemas.openxmlformats.org/drawingml/2006/table">
            <a:tbl>
              <a:tblPr/>
              <a:tblGrid>
                <a:gridCol w="5067300"/>
                <a:gridCol w="2924175"/>
                <a:gridCol w="2924175"/>
              </a:tblGrid>
              <a:tr h="622935">
                <a:tc>
                  <a:txBody>
                    <a:bodyPr>
                      <a:noAutofit/>
                    </a:bodyPr>
                    <a:lstStyle/>
                    <a:p>
                      <a:r>
                        <a:rPr sz="1950" b="1">
                          <a:solidFill>
                            <a:srgbClr val="FFFFFF"/>
                          </a:solidFill>
                          <a:latin typeface="Calibri"/>
                          <a:ea typeface="Calibri"/>
                          <a:cs typeface="Calibri"/>
                        </a:rPr>
                        <a:t>Model configuration</a:t>
                      </a:r>
                    </a:p>
                  </a:txBody>
                  <a:tcPr marL="114300" marR="95250" marT="47625" marB="47625" anchor="ctr">
                    <a:solidFill>
                      <a:srgbClr val="111111"/>
                    </a:solidFill>
                  </a:tcPr>
                </a:tc>
                <a:tc>
                  <a:txBody>
                    <a:bodyPr>
                      <a:noAutofit/>
                    </a:bodyPr>
                    <a:lstStyle/>
                    <a:p>
                      <a:r>
                        <a:rPr sz="1950" b="1">
                          <a:solidFill>
                            <a:srgbClr val="FFFFFF"/>
                          </a:solidFill>
                          <a:latin typeface="Calibri"/>
                          <a:ea typeface="Calibri"/>
                          <a:cs typeface="Calibri"/>
                        </a:rPr>
                        <a:t>Test IoU (%)</a:t>
                      </a:r>
                    </a:p>
                  </a:txBody>
                  <a:tcPr marL="114300" marR="95250" marT="47625" marB="47625" anchor="ctr">
                    <a:solidFill>
                      <a:srgbClr val="111111"/>
                    </a:solidFill>
                  </a:tcPr>
                </a:tc>
                <a:tc>
                  <a:txBody>
                    <a:bodyPr>
                      <a:noAutofit/>
                    </a:bodyPr>
                    <a:lstStyle/>
                    <a:p>
                      <a:r>
                        <a:rPr sz="1950" b="1">
                          <a:solidFill>
                            <a:srgbClr val="FFFFFF"/>
                          </a:solidFill>
                          <a:latin typeface="Calibri"/>
                          <a:ea typeface="Calibri"/>
                          <a:cs typeface="Calibri"/>
                        </a:rPr>
                        <a:t>Test Dice (%)</a:t>
                      </a:r>
                    </a:p>
                  </a:txBody>
                  <a:tcPr marL="114300" marR="95250" marT="47625" marB="47625" anchor="ctr">
                    <a:solidFill>
                      <a:srgbClr val="111111"/>
                    </a:solidFill>
                  </a:tcPr>
                </a:tc>
              </a:tr>
              <a:tr h="622935">
                <a:tc>
                  <a:txBody>
                    <a:bodyPr>
                      <a:noAutofit/>
                    </a:bodyPr>
                    <a:lstStyle/>
                    <a:p>
                      <a:r>
                        <a:rPr sz="1950" b="0">
                          <a:solidFill>
                            <a:srgbClr val="111111"/>
                          </a:solidFill>
                          <a:latin typeface="Calibri"/>
                          <a:ea typeface="Calibri"/>
                          <a:cs typeface="Calibri"/>
                        </a:rPr>
                        <a:t>LViT-PLAM</a:t>
                      </a:r>
                    </a:p>
                  </a:txBody>
                  <a:tcPr marL="114300" marR="95250" marT="47625" marB="47625" anchor="ctr">
                    <a:solidFill>
                      <a:srgbClr val="FFFFFF"/>
                    </a:solidFill>
                  </a:tcPr>
                </a:tc>
                <a:tc>
                  <a:txBody>
                    <a:bodyPr>
                      <a:noAutofit/>
                    </a:bodyPr>
                    <a:lstStyle/>
                    <a:p>
                      <a:r>
                        <a:rPr sz="1950" b="0">
                          <a:solidFill>
                            <a:srgbClr val="111111"/>
                          </a:solidFill>
                          <a:latin typeface="Calibri"/>
                          <a:ea typeface="Calibri"/>
                          <a:cs typeface="Calibri"/>
                        </a:rPr>
                        <a:t>75.4775 ± 0.0851</a:t>
                      </a:r>
                    </a:p>
                  </a:txBody>
                  <a:tcPr marL="114300" marR="95250" marT="47625" marB="47625" anchor="ctr">
                    <a:solidFill>
                      <a:srgbClr val="FFFFFF"/>
                    </a:solidFill>
                  </a:tcPr>
                </a:tc>
                <a:tc>
                  <a:txBody>
                    <a:bodyPr>
                      <a:noAutofit/>
                    </a:bodyPr>
                    <a:lstStyle/>
                    <a:p>
                      <a:r>
                        <a:rPr sz="1950" b="0">
                          <a:solidFill>
                            <a:srgbClr val="111111"/>
                          </a:solidFill>
                          <a:latin typeface="Calibri"/>
                          <a:ea typeface="Calibri"/>
                          <a:cs typeface="Calibri"/>
                        </a:rPr>
                        <a:t>84.0251 ± 0.0760</a:t>
                      </a:r>
                    </a:p>
                  </a:txBody>
                  <a:tcPr marL="114300" marR="95250" marT="47625" marB="47625" anchor="ctr">
                    <a:solidFill>
                      <a:srgbClr val="FFFFFF"/>
                    </a:solidFill>
                  </a:tcPr>
                </a:tc>
              </a:tr>
              <a:tr h="622935">
                <a:tc>
                  <a:txBody>
                    <a:bodyPr>
                      <a:noAutofit/>
                    </a:bodyPr>
                    <a:lstStyle/>
                    <a:p>
                      <a:r>
                        <a:rPr sz="1950" b="0">
                          <a:solidFill>
                            <a:srgbClr val="111111"/>
                          </a:solidFill>
                          <a:latin typeface="Calibri"/>
                          <a:ea typeface="Calibri"/>
                          <a:cs typeface="Calibri"/>
                        </a:rPr>
                        <a:t>FSDR only</a:t>
                      </a:r>
                    </a:p>
                  </a:txBody>
                  <a:tcPr marL="114300" marR="95250" marT="47625" marB="47625" anchor="ctr">
                    <a:solidFill>
                      <a:srgbClr val="F3F3F3"/>
                    </a:solidFill>
                  </a:tcPr>
                </a:tc>
                <a:tc>
                  <a:txBody>
                    <a:bodyPr>
                      <a:noAutofit/>
                    </a:bodyPr>
                    <a:lstStyle/>
                    <a:p>
                      <a:r>
                        <a:rPr sz="1950" b="0">
                          <a:solidFill>
                            <a:srgbClr val="111111"/>
                          </a:solidFill>
                          <a:latin typeface="Calibri"/>
                          <a:ea typeface="Calibri"/>
                          <a:cs typeface="Calibri"/>
                        </a:rPr>
                        <a:t>75.9833 ± 0.1511</a:t>
                      </a:r>
                    </a:p>
                  </a:txBody>
                  <a:tcPr marL="114300" marR="95250" marT="47625" marB="47625" anchor="ctr">
                    <a:solidFill>
                      <a:srgbClr val="F3F3F3"/>
                    </a:solidFill>
                  </a:tcPr>
                </a:tc>
                <a:tc>
                  <a:txBody>
                    <a:bodyPr>
                      <a:noAutofit/>
                    </a:bodyPr>
                    <a:lstStyle/>
                    <a:p>
                      <a:r>
                        <a:rPr sz="1950" b="0">
                          <a:solidFill>
                            <a:srgbClr val="111111"/>
                          </a:solidFill>
                          <a:latin typeface="Calibri"/>
                          <a:ea typeface="Calibri"/>
                          <a:cs typeface="Calibri"/>
                        </a:rPr>
                        <a:t>84.5031 ± 0.0755</a:t>
                      </a:r>
                    </a:p>
                  </a:txBody>
                  <a:tcPr marL="114300" marR="95250" marT="47625" marB="47625" anchor="ctr">
                    <a:solidFill>
                      <a:srgbClr val="F3F3F3"/>
                    </a:solidFill>
                  </a:tcPr>
                </a:tc>
              </a:tr>
              <a:tr h="622935">
                <a:tc>
                  <a:txBody>
                    <a:bodyPr>
                      <a:noAutofit/>
                    </a:bodyPr>
                    <a:lstStyle/>
                    <a:p>
                      <a:r>
                        <a:rPr sz="1950" b="0">
                          <a:solidFill>
                            <a:srgbClr val="111111"/>
                          </a:solidFill>
                          <a:latin typeface="Calibri"/>
                          <a:ea typeface="Calibri"/>
                          <a:cs typeface="Calibri"/>
                        </a:rPr>
                        <a:t>PLAM + complete RACE</a:t>
                      </a:r>
                    </a:p>
                  </a:txBody>
                  <a:tcPr marL="114300" marR="95250" marT="47625" marB="47625" anchor="ctr">
                    <a:solidFill>
                      <a:srgbClr val="FFFFFF"/>
                    </a:solidFill>
                  </a:tcPr>
                </a:tc>
                <a:tc>
                  <a:txBody>
                    <a:bodyPr>
                      <a:noAutofit/>
                    </a:bodyPr>
                    <a:lstStyle/>
                    <a:p>
                      <a:r>
                        <a:rPr sz="1950" b="0">
                          <a:solidFill>
                            <a:srgbClr val="111111"/>
                          </a:solidFill>
                          <a:latin typeface="Calibri"/>
                          <a:ea typeface="Calibri"/>
                          <a:cs typeface="Calibri"/>
                        </a:rPr>
                        <a:t>75.6962 ± 0.1068</a:t>
                      </a:r>
                    </a:p>
                  </a:txBody>
                  <a:tcPr marL="114300" marR="95250" marT="47625" marB="47625" anchor="ctr">
                    <a:solidFill>
                      <a:srgbClr val="FFFFFF"/>
                    </a:solidFill>
                  </a:tcPr>
                </a:tc>
                <a:tc>
                  <a:txBody>
                    <a:bodyPr>
                      <a:noAutofit/>
                    </a:bodyPr>
                    <a:lstStyle/>
                    <a:p>
                      <a:r>
                        <a:rPr sz="1950" b="0">
                          <a:solidFill>
                            <a:srgbClr val="111111"/>
                          </a:solidFill>
                          <a:latin typeface="Calibri"/>
                          <a:ea typeface="Calibri"/>
                          <a:cs typeface="Calibri"/>
                        </a:rPr>
                        <a:t>84.1928 ± 0.0688</a:t>
                      </a:r>
                    </a:p>
                  </a:txBody>
                  <a:tcPr marL="114300" marR="95250" marT="47625" marB="47625" anchor="ctr">
                    <a:solidFill>
                      <a:srgbClr val="FFFFFF"/>
                    </a:solidFill>
                  </a:tcPr>
                </a:tc>
              </a:tr>
              <a:tr h="622935">
                <a:tc>
                  <a:txBody>
                    <a:bodyPr>
                      <a:noAutofit/>
                    </a:bodyPr>
                    <a:lstStyle/>
                    <a:p>
                      <a:r>
                        <a:rPr sz="1950" b="1">
                          <a:solidFill>
                            <a:srgbClr val="111111"/>
                          </a:solidFill>
                          <a:latin typeface="Calibri"/>
                          <a:ea typeface="Calibri"/>
                          <a:cs typeface="Calibri"/>
                        </a:rPr>
                        <a:t>FSDR + complete RACE (ours)</a:t>
                      </a:r>
                    </a:p>
                  </a:txBody>
                  <a:tcPr marL="114300" marR="95250" marT="47625" marB="47625" anchor="ctr">
                    <a:solidFill>
                      <a:srgbClr val="F3F3F3"/>
                    </a:solidFill>
                  </a:tcPr>
                </a:tc>
                <a:tc>
                  <a:txBody>
                    <a:bodyPr>
                      <a:noAutofit/>
                    </a:bodyPr>
                    <a:lstStyle/>
                    <a:p>
                      <a:r>
                        <a:rPr sz="1950" b="1">
                          <a:solidFill>
                            <a:srgbClr val="111111"/>
                          </a:solidFill>
                          <a:latin typeface="Calibri"/>
                          <a:ea typeface="Calibri"/>
                          <a:cs typeface="Calibri"/>
                        </a:rPr>
                        <a:t>76.2262 ± 0.0456</a:t>
                      </a:r>
                    </a:p>
                  </a:txBody>
                  <a:tcPr marL="114300" marR="95250" marT="47625" marB="47625" anchor="ctr">
                    <a:solidFill>
                      <a:srgbClr val="F3F3F3"/>
                    </a:solidFill>
                  </a:tcPr>
                </a:tc>
                <a:tc>
                  <a:txBody>
                    <a:bodyPr>
                      <a:noAutofit/>
                    </a:bodyPr>
                    <a:lstStyle/>
                    <a:p>
                      <a:r>
                        <a:rPr sz="1950" b="1">
                          <a:solidFill>
                            <a:srgbClr val="111111"/>
                          </a:solidFill>
                          <a:latin typeface="Calibri"/>
                          <a:ea typeface="Calibri"/>
                          <a:cs typeface="Calibri"/>
                        </a:rPr>
                        <a:t>84.7112 ± 0.0348</a:t>
                      </a:r>
                    </a:p>
                  </a:txBody>
                  <a:tcPr marL="114300" marR="95250" marT="47625" marB="47625" anchor="ctr">
                    <a:solidFill>
                      <a:srgbClr val="F3F3F3"/>
                    </a:solidFill>
                  </a:tcPr>
                </a:tc>
              </a:tr>
            </a:tbl>
          </a:graphicData>
        </a:graphic>
      </p:graphicFrame>
      <p:sp>
        <p:nvSpPr>
          <p:cNvPr id="6" name="">
            <a:extLst xmlns:a="http://schemas.openxmlformats.org/drawingml/2006/main">
              <a:ext uri="{FF2B5EF4-FFF2-40B4-BE49-F238E27FC236}">
                <a16:creationId xmlns:a16="http://schemas.microsoft.com/office/drawing/2014/main" id="{BB5ECA60-5AA2-490E-AFE3-0BC79BAC580E}"/>
              </a:ext>
            </a:extLst>
          </p:cNvPr>
          <p:cNvSpPr>
            <a:spLocks xmlns:a="http://schemas.openxmlformats.org/drawingml/2006/main" noGrp="1"/>
          </p:cNvSpPr>
          <p:nvPr/>
        </p:nvSpPr>
        <p:spPr>
          <a:xfrm xmlns:a="http://schemas.openxmlformats.org/drawingml/2006/main">
            <a:off x="638175" y="5305425"/>
            <a:ext cx="1091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111111"/>
                </a:solidFill>
                <a:latin typeface="Calibri"/>
                <a:ea typeface="Calibri"/>
                <a:cs typeface="Calibri"/>
              </a:defRPr>
            </a:pPr>
            <a:r>
              <a:rPr sz="1950" b="1">
                <a:solidFill>
                  <a:srgbClr val="111111"/>
                </a:solidFill>
                <a:latin typeface="Calibri"/>
                <a:ea typeface="Calibri"/>
                <a:cs typeface="Calibri"/>
              </a:rPr>
              <a:t>Combined gain over matched PLAM: +0.7487 pp IoU and +0.6861 pp Dice.</a:t>
            </a:r>
          </a:p>
        </p:txBody>
      </p:sp>
      <p:sp>
        <p:nvSpPr>
          <p:cNvPr id="7" name="">
            <a:extLst xmlns:a="http://schemas.openxmlformats.org/drawingml/2006/main">
              <a:ext uri="{FF2B5EF4-FFF2-40B4-BE49-F238E27FC236}">
                <a16:creationId xmlns:a16="http://schemas.microsoft.com/office/drawing/2014/main" id="{EE2D1472-6C98-4426-92BD-A3A5973716C0}"/>
              </a:ext>
            </a:extLst>
          </p:cNvPr>
          <p:cNvSpPr>
            <a:spLocks xmlns:a="http://schemas.openxmlformats.org/drawingml/2006/main" noGrp="1"/>
          </p:cNvSpPr>
          <p:nvPr/>
        </p:nvSpPr>
        <p:spPr>
          <a:xfrm xmlns:a="http://schemas.openxmlformats.org/drawingml/2006/main">
            <a:off x="638175" y="5876925"/>
            <a:ext cx="1091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606060"/>
                </a:solidFill>
                <a:latin typeface="Calibri"/>
                <a:ea typeface="Calibri"/>
                <a:cs typeface="Calibri"/>
              </a:defRPr>
            </a:pPr>
            <a:r>
              <a:rPr sz="1800" b="0">
                <a:solidFill>
                  <a:srgbClr val="606060"/>
                </a:solidFill>
                <a:latin typeface="Calibri"/>
                <a:ea typeface="Calibri"/>
                <a:cs typeface="Calibri"/>
              </a:rPr>
              <a:t>Both modules improve the mean. These three seeds support repeatability under this protocol.</a:t>
            </a:r>
          </a:p>
        </p:txBody>
      </p:sp>
    </p:spTree>
    <p:extLst>
      <p:ext uri="{BB962C8B-B14F-4D97-AF65-F5344CB8AC3E}">
        <p14:creationId xmlns:p14="http://schemas.microsoft.com/office/powerpoint/2010/main" val="19354370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96D00F-262A-4FD6-BB2E-5FD50F97DCD7}"/>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11111"/>
                </a:solidFill>
                <a:latin typeface="Cambria"/>
                <a:ea typeface="Cambria"/>
                <a:cs typeface="Cambria"/>
              </a:defRPr>
            </a:pPr>
            <a:r>
              <a:rPr sz="3000" b="1">
                <a:solidFill>
                  <a:srgbClr val="111111"/>
                </a:solidFill>
                <a:latin typeface="Cambria"/>
                <a:ea typeface="Cambria"/>
                <a:cs typeface="Cambria"/>
              </a:rPr>
              <a:t>Paired-seed Test IoU improvements</a:t>
            </a:r>
          </a:p>
        </p:txBody>
      </p:sp>
      <p:sp>
        <p:nvSpPr>
          <p:cNvPr id="2" name="">
            <a:extLst xmlns:a="http://schemas.openxmlformats.org/drawingml/2006/main">
              <a:ext uri="{FF2B5EF4-FFF2-40B4-BE49-F238E27FC236}">
                <a16:creationId xmlns:a16="http://schemas.microsoft.com/office/drawing/2014/main" id="{77C605B6-C81C-4064-BEE9-16DE7F16C5F1}"/>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Primary results: matched seed differences</a:t>
            </a:r>
          </a:p>
        </p:txBody>
      </p:sp>
      <p:sp>
        <p:nvSpPr>
          <p:cNvPr id="3" name="">
            <a:extLst xmlns:a="http://schemas.openxmlformats.org/drawingml/2006/main">
              <a:ext uri="{FF2B5EF4-FFF2-40B4-BE49-F238E27FC236}">
                <a16:creationId xmlns:a16="http://schemas.microsoft.com/office/drawing/2014/main" id="{1CD8EEC6-5445-4AF6-86B8-D3D9C332748D}"/>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10</a:t>
            </a:r>
          </a:p>
        </p:txBody>
      </p:sp>
      <p:graphicFrame>
        <p:nvGraphicFramePr>
          <p:cNvPr id="10" name=""/>
          <p:cNvGraphicFramePr/>
          <p:nvPr/>
        </p:nvGraphicFramePr>
        <p:xfrm>
          <a:off xmlns:a="http://schemas.openxmlformats.org/drawingml/2006/main" x="638175" y="1685925"/>
          <a:ext xmlns:a="http://schemas.openxmlformats.org/drawingml/2006/main" cx="10915650" cy="3448050"/>
        </p:xfrm>
        <a:graphic xmlns:a="http://schemas.openxmlformats.org/drawingml/2006/main">
          <a:graphicData uri="http://schemas.openxmlformats.org/drawingml/2006/table">
            <a:tbl>
              <a:tblPr/>
              <a:tblGrid>
                <a:gridCol w="4819650"/>
                <a:gridCol w="1524000"/>
                <a:gridCol w="1524000"/>
                <a:gridCol w="1524000"/>
                <a:gridCol w="1524000"/>
              </a:tblGrid>
              <a:tr h="574675">
                <a:tc>
                  <a:txBody>
                    <a:bodyPr>
                      <a:noAutofit/>
                    </a:bodyPr>
                    <a:lstStyle/>
                    <a:p>
                      <a:r>
                        <a:rPr sz="1800" b="1">
                          <a:solidFill>
                            <a:srgbClr val="FFFFFF"/>
                          </a:solidFill>
                          <a:latin typeface="Calibri"/>
                          <a:ea typeface="Calibri"/>
                          <a:cs typeface="Calibri"/>
                        </a:rPr>
                        <a:t>Change</a:t>
                      </a:r>
                    </a:p>
                  </a:txBody>
                  <a:tcPr marL="114300" marR="95250" marT="47625" marB="47625" anchor="ctr">
                    <a:solidFill>
                      <a:srgbClr val="111111"/>
                    </a:solidFill>
                  </a:tcPr>
                </a:tc>
                <a:tc>
                  <a:txBody>
                    <a:bodyPr>
                      <a:noAutofit/>
                    </a:bodyPr>
                    <a:lstStyle/>
                    <a:p>
                      <a:r>
                        <a:rPr sz="1800" b="1">
                          <a:solidFill>
                            <a:srgbClr val="FFFFFF"/>
                          </a:solidFill>
                          <a:latin typeface="Calibri"/>
                          <a:ea typeface="Calibri"/>
                          <a:cs typeface="Calibri"/>
                        </a:rPr>
                        <a:t>1219</a:t>
                      </a:r>
                    </a:p>
                  </a:txBody>
                  <a:tcPr marL="114300" marR="95250" marT="47625" marB="47625" anchor="ctr">
                    <a:solidFill>
                      <a:srgbClr val="111111"/>
                    </a:solidFill>
                  </a:tcPr>
                </a:tc>
                <a:tc>
                  <a:txBody>
                    <a:bodyPr>
                      <a:noAutofit/>
                    </a:bodyPr>
                    <a:lstStyle/>
                    <a:p>
                      <a:r>
                        <a:rPr sz="1800" b="1">
                          <a:solidFill>
                            <a:srgbClr val="FFFFFF"/>
                          </a:solidFill>
                          <a:latin typeface="Calibri"/>
                          <a:ea typeface="Calibri"/>
                          <a:cs typeface="Calibri"/>
                        </a:rPr>
                        <a:t>2027</a:t>
                      </a:r>
                    </a:p>
                  </a:txBody>
                  <a:tcPr marL="114300" marR="95250" marT="47625" marB="47625" anchor="ctr">
                    <a:solidFill>
                      <a:srgbClr val="111111"/>
                    </a:solidFill>
                  </a:tcPr>
                </a:tc>
                <a:tc>
                  <a:txBody>
                    <a:bodyPr>
                      <a:noAutofit/>
                    </a:bodyPr>
                    <a:lstStyle/>
                    <a:p>
                      <a:r>
                        <a:rPr sz="1800" b="1">
                          <a:solidFill>
                            <a:srgbClr val="FFFFFF"/>
                          </a:solidFill>
                          <a:latin typeface="Calibri"/>
                          <a:ea typeface="Calibri"/>
                          <a:cs typeface="Calibri"/>
                        </a:rPr>
                        <a:t>3407</a:t>
                      </a:r>
                    </a:p>
                  </a:txBody>
                  <a:tcPr marL="114300" marR="95250" marT="47625" marB="47625" anchor="ctr">
                    <a:solidFill>
                      <a:srgbClr val="111111"/>
                    </a:solidFill>
                  </a:tcPr>
                </a:tc>
                <a:tc>
                  <a:txBody>
                    <a:bodyPr>
                      <a:noAutofit/>
                    </a:bodyPr>
                    <a:lstStyle/>
                    <a:p>
                      <a:r>
                        <a:rPr sz="1800" b="1">
                          <a:solidFill>
                            <a:srgbClr val="FFFFFF"/>
                          </a:solidFill>
                          <a:latin typeface="Calibri"/>
                          <a:ea typeface="Calibri"/>
                          <a:cs typeface="Calibri"/>
                        </a:rPr>
                        <a:t>Mean (pp)</a:t>
                      </a:r>
                    </a:p>
                  </a:txBody>
                  <a:tcPr marL="114300" marR="95250" marT="47625" marB="47625" anchor="ctr">
                    <a:solidFill>
                      <a:srgbClr val="111111"/>
                    </a:solidFill>
                  </a:tcPr>
                </a:tc>
              </a:tr>
              <a:tr h="574675">
                <a:tc>
                  <a:txBody>
                    <a:bodyPr>
                      <a:noAutofit/>
                    </a:bodyPr>
                    <a:lstStyle/>
                    <a:p>
                      <a:r>
                        <a:rPr sz="1800" b="0">
                          <a:solidFill>
                            <a:srgbClr val="111111"/>
                          </a:solidFill>
                          <a:latin typeface="Calibri"/>
                          <a:ea typeface="Calibri"/>
                          <a:cs typeface="Calibri"/>
                        </a:rPr>
                        <a:t>FSDR replacing PLAM</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+0.2423</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+0.6191</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+0.6561</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+0.5058</a:t>
                      </a:r>
                    </a:p>
                  </a:txBody>
                  <a:tcPr marL="114300" marR="95250" marT="47625" marB="47625" anchor="ctr">
                    <a:solidFill>
                      <a:srgbClr val="FFFFFF"/>
                    </a:solidFill>
                  </a:tcPr>
                </a:tc>
              </a:tr>
              <a:tr h="574675">
                <a:tc>
                  <a:txBody>
                    <a:bodyPr>
                      <a:noAutofit/>
                    </a:bodyPr>
                    <a:lstStyle/>
                    <a:p>
                      <a:r>
                        <a:rPr sz="1800" b="0">
                          <a:solidFill>
                            <a:srgbClr val="111111"/>
                          </a:solidFill>
                          <a:latin typeface="Calibri"/>
                          <a:ea typeface="Calibri"/>
                          <a:cs typeface="Calibri"/>
                        </a:rPr>
                        <a:t>Complete RACE added to PLAM</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+0.2514</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+0.1790</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+0.2257</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+0.2187</a:t>
                      </a:r>
                    </a:p>
                  </a:txBody>
                  <a:tcPr marL="114300" marR="95250" marT="47625" marB="47625" anchor="ctr">
                    <a:solidFill>
                      <a:srgbClr val="F3F3F3"/>
                    </a:solidFill>
                  </a:tcPr>
                </a:tc>
              </a:tr>
              <a:tr h="574675">
                <a:tc>
                  <a:txBody>
                    <a:bodyPr>
                      <a:noAutofit/>
                    </a:bodyPr>
                    <a:lstStyle/>
                    <a:p>
                      <a:r>
                        <a:rPr sz="1800" b="0">
                          <a:solidFill>
                            <a:srgbClr val="111111"/>
                          </a:solidFill>
                          <a:latin typeface="Calibri"/>
                          <a:ea typeface="Calibri"/>
                          <a:cs typeface="Calibri"/>
                        </a:rPr>
                        <a:t>Complete RACE added to FSDR</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+0.4387</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+0.1704</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+0.1194</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+0.2428</a:t>
                      </a:r>
                    </a:p>
                  </a:txBody>
                  <a:tcPr marL="114300" marR="95250" marT="47625" marB="47625" anchor="ctr">
                    <a:solidFill>
                      <a:srgbClr val="FFFFFF"/>
                    </a:solidFill>
                  </a:tcPr>
                </a:tc>
              </a:tr>
              <a:tr h="574675">
                <a:tc>
                  <a:txBody>
                    <a:bodyPr>
                      <a:noAutofit/>
                    </a:bodyPr>
                    <a:lstStyle/>
                    <a:p>
                      <a:r>
                        <a:rPr sz="1800" b="0">
                          <a:solidFill>
                            <a:srgbClr val="111111"/>
                          </a:solidFill>
                          <a:latin typeface="Calibri"/>
                          <a:ea typeface="Calibri"/>
                          <a:cs typeface="Calibri"/>
                        </a:rPr>
                        <a:t>FSDR with complete RACE</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+0.4296</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+0.6104</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+0.5498</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+0.5300</a:t>
                      </a:r>
                    </a:p>
                  </a:txBody>
                  <a:tcPr marL="114300" marR="95250" marT="47625" marB="47625" anchor="ctr">
                    <a:solidFill>
                      <a:srgbClr val="F3F3F3"/>
                    </a:solidFill>
                  </a:tcPr>
                </a:tc>
              </a:tr>
              <a:tr h="574675">
                <a:tc>
                  <a:txBody>
                    <a:bodyPr>
                      <a:noAutofit/>
                    </a:bodyPr>
                    <a:lstStyle/>
                    <a:p>
                      <a:r>
                        <a:rPr sz="1800" b="1">
                          <a:solidFill>
                            <a:srgbClr val="111111"/>
                          </a:solidFill>
                          <a:latin typeface="Calibri"/>
                          <a:ea typeface="Calibri"/>
                          <a:cs typeface="Calibri"/>
                        </a:rPr>
                        <a:t>Combined model vs PLAM</a:t>
                      </a:r>
                    </a:p>
                  </a:txBody>
                  <a:tcPr marL="114300" marR="95250" marT="47625" marB="47625" anchor="ctr">
                    <a:solidFill>
                      <a:srgbClr val="FFFFFF"/>
                    </a:solidFill>
                  </a:tcPr>
                </a:tc>
                <a:tc>
                  <a:txBody>
                    <a:bodyPr>
                      <a:noAutofit/>
                    </a:bodyPr>
                    <a:lstStyle/>
                    <a:p>
                      <a:r>
                        <a:rPr sz="1800" b="1">
                          <a:solidFill>
                            <a:srgbClr val="111111"/>
                          </a:solidFill>
                          <a:latin typeface="Calibri"/>
                          <a:ea typeface="Calibri"/>
                          <a:cs typeface="Calibri"/>
                        </a:rPr>
                        <a:t>+0.6810</a:t>
                      </a:r>
                    </a:p>
                  </a:txBody>
                  <a:tcPr marL="114300" marR="95250" marT="47625" marB="47625" anchor="ctr">
                    <a:solidFill>
                      <a:srgbClr val="FFFFFF"/>
                    </a:solidFill>
                  </a:tcPr>
                </a:tc>
                <a:tc>
                  <a:txBody>
                    <a:bodyPr>
                      <a:noAutofit/>
                    </a:bodyPr>
                    <a:lstStyle/>
                    <a:p>
                      <a:r>
                        <a:rPr sz="1800" b="1">
                          <a:solidFill>
                            <a:srgbClr val="111111"/>
                          </a:solidFill>
                          <a:latin typeface="Calibri"/>
                          <a:ea typeface="Calibri"/>
                          <a:cs typeface="Calibri"/>
                        </a:rPr>
                        <a:t>+0.7895</a:t>
                      </a:r>
                    </a:p>
                  </a:txBody>
                  <a:tcPr marL="114300" marR="95250" marT="47625" marB="47625" anchor="ctr">
                    <a:solidFill>
                      <a:srgbClr val="FFFFFF"/>
                    </a:solidFill>
                  </a:tcPr>
                </a:tc>
                <a:tc>
                  <a:txBody>
                    <a:bodyPr>
                      <a:noAutofit/>
                    </a:bodyPr>
                    <a:lstStyle/>
                    <a:p>
                      <a:r>
                        <a:rPr sz="1800" b="1">
                          <a:solidFill>
                            <a:srgbClr val="111111"/>
                          </a:solidFill>
                          <a:latin typeface="Calibri"/>
                          <a:ea typeface="Calibri"/>
                          <a:cs typeface="Calibri"/>
                        </a:rPr>
                        <a:t>+0.7755</a:t>
                      </a:r>
                    </a:p>
                  </a:txBody>
                  <a:tcPr marL="114300" marR="95250" marT="47625" marB="47625" anchor="ctr">
                    <a:solidFill>
                      <a:srgbClr val="FFFFFF"/>
                    </a:solidFill>
                  </a:tcPr>
                </a:tc>
                <a:tc>
                  <a:txBody>
                    <a:bodyPr>
                      <a:noAutofit/>
                    </a:bodyPr>
                    <a:lstStyle/>
                    <a:p>
                      <a:r>
                        <a:rPr sz="1800" b="1">
                          <a:solidFill>
                            <a:srgbClr val="111111"/>
                          </a:solidFill>
                          <a:latin typeface="Calibri"/>
                          <a:ea typeface="Calibri"/>
                          <a:cs typeface="Calibri"/>
                        </a:rPr>
                        <a:t>+0.7487</a:t>
                      </a:r>
                    </a:p>
                  </a:txBody>
                  <a:tcPr marL="114300" marR="95250"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93390D4-15CF-40D9-BB61-6F1AF8108081}"/>
              </a:ext>
            </a:extLst>
          </p:cNvPr>
          <p:cNvSpPr>
            <a:spLocks xmlns:a="http://schemas.openxmlformats.org/drawingml/2006/main" noGrp="1"/>
          </p:cNvSpPr>
          <p:nvPr/>
        </p:nvSpPr>
        <p:spPr>
          <a:xfrm xmlns:a="http://schemas.openxmlformats.org/drawingml/2006/main">
            <a:off x="638175" y="5429250"/>
            <a:ext cx="10915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111111"/>
                </a:solidFill>
                <a:latin typeface="Calibri"/>
                <a:ea typeface="Calibri"/>
                <a:cs typeface="Calibri"/>
              </a:defRPr>
            </a:pPr>
            <a:r>
              <a:rPr sz="1950" b="1">
                <a:solidFill>
                  <a:srgbClr val="111111"/>
                </a:solidFill>
                <a:latin typeface="Calibri"/>
                <a:ea typeface="Calibri"/>
                <a:cs typeface="Calibri"/>
              </a:rPr>
              <a:t>All five paired contrasts are positive for each of the three seeds.</a:t>
            </a:r>
          </a:p>
        </p:txBody>
      </p:sp>
      <p:sp>
        <p:nvSpPr>
          <p:cNvPr id="6" name="">
            <a:extLst xmlns:a="http://schemas.openxmlformats.org/drawingml/2006/main">
              <a:ext uri="{FF2B5EF4-FFF2-40B4-BE49-F238E27FC236}">
                <a16:creationId xmlns:a16="http://schemas.microsoft.com/office/drawing/2014/main" id="{CB210686-1F86-4E19-929E-BEB9729C3E08}"/>
              </a:ext>
            </a:extLst>
          </p:cNvPr>
          <p:cNvSpPr>
            <a:spLocks xmlns:a="http://schemas.openxmlformats.org/drawingml/2006/main" noGrp="1"/>
          </p:cNvSpPr>
          <p:nvPr/>
        </p:nvSpPr>
        <p:spPr>
          <a:xfrm xmlns:a="http://schemas.openxmlformats.org/drawingml/2006/main">
            <a:off x="638175" y="5867400"/>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606060"/>
                </a:solidFill>
                <a:latin typeface="Calibri"/>
                <a:ea typeface="Calibri"/>
                <a:cs typeface="Calibri"/>
              </a:defRPr>
            </a:pPr>
            <a:r>
              <a:rPr sz="1725" b="0">
                <a:solidFill>
                  <a:srgbClr val="606060"/>
                </a:solidFill>
                <a:latin typeface="Calibri"/>
                <a:ea typeface="Calibri"/>
                <a:cs typeface="Calibri"/>
              </a:rPr>
              <a:t>This supports the two complete modules under the tested recipe. Three seeds do not establish significance.</a:t>
            </a:r>
          </a:p>
        </p:txBody>
      </p:sp>
    </p:spTree>
    <p:extLst>
      <p:ext uri="{BB962C8B-B14F-4D97-AF65-F5344CB8AC3E}">
        <p14:creationId xmlns:p14="http://schemas.microsoft.com/office/powerpoint/2010/main" val="12264182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792B00-9400-4E96-8C31-D1A78D5B10E1}"/>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11111"/>
                </a:solidFill>
                <a:latin typeface="Cambria"/>
                <a:ea typeface="Cambria"/>
                <a:cs typeface="Cambria"/>
              </a:defRPr>
            </a:pPr>
            <a:r>
              <a:rPr sz="3000" b="1">
                <a:solidFill>
                  <a:srgbClr val="111111"/>
                </a:solidFill>
                <a:latin typeface="Cambria"/>
                <a:ea typeface="Cambria"/>
                <a:cs typeface="Cambria"/>
              </a:rPr>
              <a:t>Text-guided external comparisons</a:t>
            </a:r>
          </a:p>
        </p:txBody>
      </p:sp>
      <p:sp>
        <p:nvSpPr>
          <p:cNvPr id="2" name="">
            <a:extLst xmlns:a="http://schemas.openxmlformats.org/drawingml/2006/main">
              <a:ext uri="{FF2B5EF4-FFF2-40B4-BE49-F238E27FC236}">
                <a16:creationId xmlns:a16="http://schemas.microsoft.com/office/drawing/2014/main" id="{C36F73E2-EBB4-4E55-8E3F-0BF0AAD97793}"/>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Full Test set: 2,113 images, per-image macro metrics</a:t>
            </a:r>
          </a:p>
        </p:txBody>
      </p:sp>
      <p:sp>
        <p:nvSpPr>
          <p:cNvPr id="3" name="">
            <a:extLst xmlns:a="http://schemas.openxmlformats.org/drawingml/2006/main">
              <a:ext uri="{FF2B5EF4-FFF2-40B4-BE49-F238E27FC236}">
                <a16:creationId xmlns:a16="http://schemas.microsoft.com/office/drawing/2014/main" id="{4991BB25-4B2D-4E32-A139-D3AFBED16DE6}"/>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11</a:t>
            </a:r>
          </a:p>
        </p:txBody>
      </p:sp>
      <p:graphicFrame>
        <p:nvGraphicFramePr>
          <p:cNvPr id="10" name=""/>
          <p:cNvGraphicFramePr/>
          <p:nvPr/>
        </p:nvGraphicFramePr>
        <p:xfrm>
          <a:off xmlns:a="http://schemas.openxmlformats.org/drawingml/2006/main" x="638175" y="1724025"/>
          <a:ext xmlns:a="http://schemas.openxmlformats.org/drawingml/2006/main" cx="10915650" cy="3190875"/>
        </p:xfrm>
        <a:graphic xmlns:a="http://schemas.openxmlformats.org/drawingml/2006/main">
          <a:graphicData uri="http://schemas.openxmlformats.org/drawingml/2006/table">
            <a:tbl>
              <a:tblPr/>
              <a:tblGrid>
                <a:gridCol w="2876550"/>
                <a:gridCol w="2190750"/>
                <a:gridCol w="2190750"/>
                <a:gridCol w="3657600"/>
              </a:tblGrid>
              <a:tr h="638175">
                <a:tc>
                  <a:txBody>
                    <a:bodyPr>
                      <a:noAutofit/>
                    </a:bodyPr>
                    <a:lstStyle/>
                    <a:p>
                      <a:r>
                        <a:rPr sz="1875" b="1">
                          <a:solidFill>
                            <a:srgbClr val="FFFFFF"/>
                          </a:solidFill>
                          <a:latin typeface="Calibri"/>
                          <a:ea typeface="Calibri"/>
                          <a:cs typeface="Calibri"/>
                        </a:rPr>
                        <a:t>Method</a:t>
                      </a:r>
                    </a:p>
                  </a:txBody>
                  <a:tcPr marL="114300" marR="95250" marT="47625" marB="47625" anchor="ctr">
                    <a:solidFill>
                      <a:srgbClr val="111111"/>
                    </a:solidFill>
                  </a:tcPr>
                </a:tc>
                <a:tc>
                  <a:txBody>
                    <a:bodyPr>
                      <a:noAutofit/>
                    </a:bodyPr>
                    <a:lstStyle/>
                    <a:p>
                      <a:r>
                        <a:rPr sz="1875" b="1">
                          <a:solidFill>
                            <a:srgbClr val="FFFFFF"/>
                          </a:solidFill>
                          <a:latin typeface="Calibri"/>
                          <a:ea typeface="Calibri"/>
                          <a:cs typeface="Calibri"/>
                        </a:rPr>
                        <a:t>Test IoU (%)</a:t>
                      </a:r>
                    </a:p>
                  </a:txBody>
                  <a:tcPr marL="114300" marR="95250" marT="47625" marB="47625" anchor="ctr">
                    <a:solidFill>
                      <a:srgbClr val="111111"/>
                    </a:solidFill>
                  </a:tcPr>
                </a:tc>
                <a:tc>
                  <a:txBody>
                    <a:bodyPr>
                      <a:noAutofit/>
                    </a:bodyPr>
                    <a:lstStyle/>
                    <a:p>
                      <a:r>
                        <a:rPr sz="1875" b="1">
                          <a:solidFill>
                            <a:srgbClr val="FFFFFF"/>
                          </a:solidFill>
                          <a:latin typeface="Calibri"/>
                          <a:ea typeface="Calibri"/>
                          <a:cs typeface="Calibri"/>
                        </a:rPr>
                        <a:t>Test Dice (%)</a:t>
                      </a:r>
                    </a:p>
                  </a:txBody>
                  <a:tcPr marL="114300" marR="95250" marT="47625" marB="47625" anchor="ctr">
                    <a:solidFill>
                      <a:srgbClr val="111111"/>
                    </a:solidFill>
                  </a:tcPr>
                </a:tc>
                <a:tc>
                  <a:txBody>
                    <a:bodyPr>
                      <a:noAutofit/>
                    </a:bodyPr>
                    <a:lstStyle/>
                    <a:p>
                      <a:r>
                        <a:rPr sz="1875" b="1">
                          <a:solidFill>
                            <a:srgbClr val="FFFFFF"/>
                          </a:solidFill>
                          <a:latin typeface="Calibri"/>
                          <a:ea typeface="Calibri"/>
                          <a:cs typeface="Calibri"/>
                        </a:rPr>
                        <a:t>Evaluation source</a:t>
                      </a:r>
                    </a:p>
                  </a:txBody>
                  <a:tcPr marL="114300" marR="95250" marT="47625" marB="47625" anchor="ctr">
                    <a:solidFill>
                      <a:srgbClr val="111111"/>
                    </a:solidFill>
                  </a:tcPr>
                </a:tc>
              </a:tr>
              <a:tr h="638175">
                <a:tc>
                  <a:txBody>
                    <a:bodyPr>
                      <a:noAutofit/>
                    </a:bodyPr>
                    <a:lstStyle/>
                    <a:p>
                      <a:r>
                        <a:rPr sz="1875" b="0">
                          <a:solidFill>
                            <a:srgbClr val="111111"/>
                          </a:solidFill>
                          <a:latin typeface="Calibri"/>
                          <a:ea typeface="Calibri"/>
                          <a:cs typeface="Calibri"/>
                        </a:rPr>
                        <a:t>MMI-UNet</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75.4783</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83.9707</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Author checkpoint</a:t>
                      </a:r>
                    </a:p>
                  </a:txBody>
                  <a:tcPr marL="114300" marR="95250" marT="47625" marB="47625" anchor="ctr">
                    <a:solidFill>
                      <a:srgbClr val="FFFFFF"/>
                    </a:solidFill>
                  </a:tcPr>
                </a:tc>
              </a:tr>
              <a:tr h="638175">
                <a:tc>
                  <a:txBody>
                    <a:bodyPr>
                      <a:noAutofit/>
                    </a:bodyPr>
                    <a:lstStyle/>
                    <a:p>
                      <a:r>
                        <a:rPr sz="1875" b="0">
                          <a:solidFill>
                            <a:srgbClr val="111111"/>
                          </a:solidFill>
                          <a:latin typeface="Calibri"/>
                          <a:ea typeface="Calibri"/>
                          <a:cs typeface="Calibri"/>
                        </a:rPr>
                        <a:t>GuideDecoder</a:t>
                      </a:r>
                    </a:p>
                  </a:txBody>
                  <a:tcPr marL="114300" marR="95250" marT="47625" marB="47625" anchor="ctr">
                    <a:solidFill>
                      <a:srgbClr val="F3F3F3"/>
                    </a:solidFill>
                  </a:tcPr>
                </a:tc>
                <a:tc>
                  <a:txBody>
                    <a:bodyPr>
                      <a:noAutofit/>
                    </a:bodyPr>
                    <a:lstStyle/>
                    <a:p>
                      <a:r>
                        <a:rPr sz="1875" b="0">
                          <a:solidFill>
                            <a:srgbClr val="111111"/>
                          </a:solidFill>
                          <a:latin typeface="Calibri"/>
                          <a:ea typeface="Calibri"/>
                          <a:cs typeface="Calibri"/>
                        </a:rPr>
                        <a:t>75.2936</a:t>
                      </a:r>
                    </a:p>
                  </a:txBody>
                  <a:tcPr marL="114300" marR="95250" marT="47625" marB="47625" anchor="ctr">
                    <a:solidFill>
                      <a:srgbClr val="F3F3F3"/>
                    </a:solidFill>
                  </a:tcPr>
                </a:tc>
                <a:tc>
                  <a:txBody>
                    <a:bodyPr>
                      <a:noAutofit/>
                    </a:bodyPr>
                    <a:lstStyle/>
                    <a:p>
                      <a:r>
                        <a:rPr sz="1875" b="0">
                          <a:solidFill>
                            <a:srgbClr val="111111"/>
                          </a:solidFill>
                          <a:latin typeface="Calibri"/>
                          <a:ea typeface="Calibri"/>
                          <a:cs typeface="Calibri"/>
                        </a:rPr>
                        <a:t>83.8836</a:t>
                      </a:r>
                    </a:p>
                  </a:txBody>
                  <a:tcPr marL="114300" marR="95250" marT="47625" marB="47625" anchor="ctr">
                    <a:solidFill>
                      <a:srgbClr val="F3F3F3"/>
                    </a:solidFill>
                  </a:tcPr>
                </a:tc>
                <a:tc>
                  <a:txBody>
                    <a:bodyPr>
                      <a:noAutofit/>
                    </a:bodyPr>
                    <a:lstStyle/>
                    <a:p>
                      <a:r>
                        <a:rPr sz="1875" b="0">
                          <a:solidFill>
                            <a:srgbClr val="111111"/>
                          </a:solidFill>
                          <a:latin typeface="Calibri"/>
                          <a:ea typeface="Calibri"/>
                          <a:cs typeface="Calibri"/>
                        </a:rPr>
                        <a:t>Project-split retraining</a:t>
                      </a:r>
                    </a:p>
                  </a:txBody>
                  <a:tcPr marL="114300" marR="95250" marT="47625" marB="47625" anchor="ctr">
                    <a:solidFill>
                      <a:srgbClr val="F3F3F3"/>
                    </a:solidFill>
                  </a:tcPr>
                </a:tc>
              </a:tr>
              <a:tr h="638175">
                <a:tc>
                  <a:txBody>
                    <a:bodyPr>
                      <a:noAutofit/>
                    </a:bodyPr>
                    <a:lstStyle/>
                    <a:p>
                      <a:r>
                        <a:rPr sz="1875" b="0">
                          <a:solidFill>
                            <a:srgbClr val="111111"/>
                          </a:solidFill>
                          <a:latin typeface="Calibri"/>
                          <a:ea typeface="Calibri"/>
                          <a:cs typeface="Calibri"/>
                        </a:rPr>
                        <a:t>DD-CMD</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76.2994</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84.7533</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Project-split retraining</a:t>
                      </a:r>
                    </a:p>
                  </a:txBody>
                  <a:tcPr marL="114300" marR="95250" marT="47625" marB="47625" anchor="ctr">
                    <a:solidFill>
                      <a:srgbClr val="FFFFFF"/>
                    </a:solidFill>
                  </a:tcPr>
                </a:tc>
              </a:tr>
              <a:tr h="638175">
                <a:tc>
                  <a:txBody>
                    <a:bodyPr>
                      <a:noAutofit/>
                    </a:bodyPr>
                    <a:lstStyle/>
                    <a:p>
                      <a:r>
                        <a:rPr sz="1875" b="1">
                          <a:solidFill>
                            <a:srgbClr val="111111"/>
                          </a:solidFill>
                          <a:latin typeface="Calibri"/>
                          <a:ea typeface="Calibri"/>
                          <a:cs typeface="Calibri"/>
                        </a:rPr>
                        <a:t>Ours</a:t>
                      </a:r>
                    </a:p>
                  </a:txBody>
                  <a:tcPr marL="114300" marR="95250" marT="47625" marB="47625" anchor="ctr">
                    <a:solidFill>
                      <a:srgbClr val="F3F3F3"/>
                    </a:solidFill>
                  </a:tcPr>
                </a:tc>
                <a:tc>
                  <a:txBody>
                    <a:bodyPr>
                      <a:noAutofit/>
                    </a:bodyPr>
                    <a:lstStyle/>
                    <a:p>
                      <a:r>
                        <a:rPr sz="1875" b="1">
                          <a:solidFill>
                            <a:srgbClr val="111111"/>
                          </a:solidFill>
                          <a:latin typeface="Calibri"/>
                          <a:ea typeface="Calibri"/>
                          <a:cs typeface="Calibri"/>
                        </a:rPr>
                        <a:t>76.2262</a:t>
                      </a:r>
                    </a:p>
                  </a:txBody>
                  <a:tcPr marL="114300" marR="95250" marT="47625" marB="47625" anchor="ctr">
                    <a:solidFill>
                      <a:srgbClr val="F3F3F3"/>
                    </a:solidFill>
                  </a:tcPr>
                </a:tc>
                <a:tc>
                  <a:txBody>
                    <a:bodyPr>
                      <a:noAutofit/>
                    </a:bodyPr>
                    <a:lstStyle/>
                    <a:p>
                      <a:r>
                        <a:rPr sz="1875" b="1">
                          <a:solidFill>
                            <a:srgbClr val="111111"/>
                          </a:solidFill>
                          <a:latin typeface="Calibri"/>
                          <a:ea typeface="Calibri"/>
                          <a:cs typeface="Calibri"/>
                        </a:rPr>
                        <a:t>84.7112</a:t>
                      </a:r>
                    </a:p>
                  </a:txBody>
                  <a:tcPr marL="114300" marR="95250" marT="47625" marB="47625" anchor="ctr">
                    <a:solidFill>
                      <a:srgbClr val="F3F3F3"/>
                    </a:solidFill>
                  </a:tcPr>
                </a:tc>
                <a:tc>
                  <a:txBody>
                    <a:bodyPr>
                      <a:noAutofit/>
                    </a:bodyPr>
                    <a:lstStyle/>
                    <a:p>
                      <a:r>
                        <a:rPr sz="1875" b="1">
                          <a:solidFill>
                            <a:srgbClr val="111111"/>
                          </a:solidFill>
                          <a:latin typeface="Calibri"/>
                          <a:ea typeface="Calibri"/>
                          <a:cs typeface="Calibri"/>
                        </a:rPr>
                        <a:t>Three-seed mean</a:t>
                      </a:r>
                    </a:p>
                  </a:txBody>
                  <a:tcPr marL="114300" marR="95250" marT="47625" marB="47625" anchor="ctr">
                    <a:solidFill>
                      <a:srgbClr val="F3F3F3"/>
                    </a:solidFill>
                  </a:tcPr>
                </a:tc>
              </a:tr>
            </a:tbl>
          </a:graphicData>
        </a:graphic>
      </p:graphicFrame>
      <p:sp>
        <p:nvSpPr>
          <p:cNvPr id="5" name="">
            <a:extLst xmlns:a="http://schemas.openxmlformats.org/drawingml/2006/main">
              <a:ext uri="{FF2B5EF4-FFF2-40B4-BE49-F238E27FC236}">
                <a16:creationId xmlns:a16="http://schemas.microsoft.com/office/drawing/2014/main" id="{A52D0B1E-54D7-432D-9857-076575D61FD6}"/>
              </a:ext>
            </a:extLst>
          </p:cNvPr>
          <p:cNvSpPr>
            <a:spLocks xmlns:a="http://schemas.openxmlformats.org/drawingml/2006/main" noGrp="1"/>
          </p:cNvSpPr>
          <p:nvPr/>
        </p:nvSpPr>
        <p:spPr>
          <a:xfrm xmlns:a="http://schemas.openxmlformats.org/drawingml/2006/main">
            <a:off x="638175" y="5238750"/>
            <a:ext cx="1091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111111"/>
                </a:solidFill>
                <a:latin typeface="Calibri"/>
                <a:ea typeface="Calibri"/>
                <a:cs typeface="Calibri"/>
              </a:defRPr>
            </a:pPr>
            <a:r>
              <a:rPr sz="1950" b="1">
                <a:solidFill>
                  <a:srgbClr val="111111"/>
                </a:solidFill>
                <a:latin typeface="Calibri"/>
                <a:ea typeface="Calibri"/>
                <a:cs typeface="Calibri"/>
              </a:rPr>
              <a:t>DD-CMD is 0.0732 pp above our mean IoU in these evaluations.</a:t>
            </a:r>
          </a:p>
        </p:txBody>
      </p:sp>
      <p:sp>
        <p:nvSpPr>
          <p:cNvPr id="6" name="">
            <a:extLst xmlns:a="http://schemas.openxmlformats.org/drawingml/2006/main">
              <a:ext uri="{FF2B5EF4-FFF2-40B4-BE49-F238E27FC236}">
                <a16:creationId xmlns:a16="http://schemas.microsoft.com/office/drawing/2014/main" id="{4EC7D328-6664-45A3-8C26-A76514122C92}"/>
              </a:ext>
            </a:extLst>
          </p:cNvPr>
          <p:cNvSpPr>
            <a:spLocks xmlns:a="http://schemas.openxmlformats.org/drawingml/2006/main" noGrp="1"/>
          </p:cNvSpPr>
          <p:nvPr/>
        </p:nvSpPr>
        <p:spPr>
          <a:xfrm xmlns:a="http://schemas.openxmlformats.org/drawingml/2006/main">
            <a:off x="638175" y="5743575"/>
            <a:ext cx="10915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606060"/>
                </a:solidFill>
                <a:latin typeface="Calibri"/>
                <a:ea typeface="Calibri"/>
                <a:cs typeface="Calibri"/>
              </a:defRPr>
            </a:pPr>
            <a:r>
              <a:rPr sz="1725" b="0">
                <a:solidFill>
                  <a:srgbClr val="606060"/>
                </a:solidFill>
                <a:latin typeface="Calibri"/>
                <a:ea typeface="Calibri"/>
                <a:cs typeface="Calibri"/>
              </a:rPr>
              <a:t>Different training recipes. External rows represent one run or checkpoint.</a:t>
            </a:r>
          </a:p>
          <a:p xmlns:a="http://schemas.openxmlformats.org/drawingml/2006/main">
            <a:pPr algn="l">
              <a:defRPr sz="1725" b="0">
                <a:solidFill>
                  <a:srgbClr val="606060"/>
                </a:solidFill>
                <a:latin typeface="Calibri"/>
                <a:ea typeface="Calibri"/>
                <a:cs typeface="Calibri"/>
              </a:defRPr>
            </a:pPr>
            <a:r>
              <a:rPr sz="1725" b="0">
                <a:solidFill>
                  <a:srgbClr val="606060"/>
                </a:solidFill>
                <a:latin typeface="Calibri"/>
                <a:ea typeface="Calibri"/>
                <a:cs typeface="Calibri"/>
              </a:rPr>
              <a:t>MMI-UNet’s training filename list has not been independently verified.</a:t>
            </a:r>
          </a:p>
        </p:txBody>
      </p:sp>
    </p:spTree>
    <p:extLst>
      <p:ext uri="{BB962C8B-B14F-4D97-AF65-F5344CB8AC3E}">
        <p14:creationId xmlns:p14="http://schemas.microsoft.com/office/powerpoint/2010/main" val="17385357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EA9472-EE5F-41A1-BB37-6D3E09363AC0}"/>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Conclusions</a:t>
            </a:r>
            <a:endParaRPr sz="2800"/>
          </a:p>
        </p:txBody>
      </p:sp>
      <p:sp>
        <p:nvSpPr>
          <p:cNvPr id="3" name="FSDR">
            <a:extLst xmlns:a="http://schemas.openxmlformats.org/drawingml/2006/main">
              <a:ext uri="{FF2B5EF4-FFF2-40B4-BE49-F238E27FC236}">
                <a16:creationId xmlns:a16="http://schemas.microsoft.com/office/drawing/2014/main" id="{BAE9F7B0-FD9B-4233-87E9-68AFD97127CA}"/>
              </a:ext>
            </a:extLst>
          </p:cNvPr>
          <p:cNvSpPr>
            <a:spLocks xmlns:a="http://schemas.openxmlformats.org/drawingml/2006/main" noGrp="1"/>
          </p:cNvSpPr>
          <p:nvPr/>
        </p:nvSpPr>
        <p:spPr>
          <a:xfrm xmlns:a="http://schemas.openxmlformats.org/drawingml/2006/main">
            <a:off x="638175" y="1714500"/>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FSDR</a:t>
            </a:r>
          </a:p>
        </p:txBody>
      </p:sp>
      <p:sp>
        <p:nvSpPr>
          <p:cNvPr id="4" name="Separate semantic and detail refinement improves L">
            <a:extLst xmlns:a="http://schemas.openxmlformats.org/drawingml/2006/main">
              <a:ext uri="{FF2B5EF4-FFF2-40B4-BE49-F238E27FC236}">
                <a16:creationId xmlns:a16="http://schemas.microsoft.com/office/drawing/2014/main" id="{303BC94F-D084-4E69-92EF-FF72BB6B7B29}"/>
              </a:ext>
            </a:extLst>
          </p:cNvPr>
          <p:cNvSpPr>
            <a:spLocks xmlns:a="http://schemas.openxmlformats.org/drawingml/2006/main" noGrp="1"/>
          </p:cNvSpPr>
          <p:nvPr/>
        </p:nvSpPr>
        <p:spPr>
          <a:xfrm xmlns:a="http://schemas.openxmlformats.org/drawingml/2006/main">
            <a:off x="3124200" y="1714500"/>
            <a:ext cx="8429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Semantic and detail refinement improves matched PLAM by</a:t>
            </a:r>
          </a:p>
          <a:p xmlns:a="http://schemas.openxmlformats.org/drawingml/2006/main">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+0.5058 pp mean Test IoU across three seeds.</a:t>
            </a:r>
          </a:p>
        </p:txBody>
      </p:sp>
      <p:sp>
        <p:nvSpPr>
          <p:cNvPr id="5" name="RACE">
            <a:extLst xmlns:a="http://schemas.openxmlformats.org/drawingml/2006/main">
              <a:ext uri="{FF2B5EF4-FFF2-40B4-BE49-F238E27FC236}">
                <a16:creationId xmlns:a16="http://schemas.microsoft.com/office/drawing/2014/main" id="{2DC72114-9C60-4EDC-A6C2-175B70B68E11}"/>
              </a:ext>
            </a:extLst>
          </p:cNvPr>
          <p:cNvSpPr>
            <a:spLocks xmlns:a="http://schemas.openxmlformats.org/drawingml/2006/main" noGrp="1"/>
          </p:cNvSpPr>
          <p:nvPr/>
        </p:nvSpPr>
        <p:spPr>
          <a:xfrm xmlns:a="http://schemas.openxmlformats.org/drawingml/2006/main">
            <a:off x="638175" y="3038475"/>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RACE</a:t>
            </a:r>
          </a:p>
        </p:txBody>
      </p:sp>
      <p:sp>
        <p:nvSpPr>
          <p:cNvPr id="6" name="Report–anatomy–visual agreement guides four CNN sk">
            <a:extLst xmlns:a="http://schemas.openxmlformats.org/drawingml/2006/main">
              <a:ext uri="{FF2B5EF4-FFF2-40B4-BE49-F238E27FC236}">
                <a16:creationId xmlns:a16="http://schemas.microsoft.com/office/drawing/2014/main" id="{79FF013A-1D66-458E-92FC-05EE9D6FE773}"/>
              </a:ext>
            </a:extLst>
          </p:cNvPr>
          <p:cNvSpPr>
            <a:spLocks xmlns:a="http://schemas.openxmlformats.org/drawingml/2006/main" noGrp="1"/>
          </p:cNvSpPr>
          <p:nvPr/>
        </p:nvSpPr>
        <p:spPr>
          <a:xfrm xmlns:a="http://schemas.openxmlformats.org/drawingml/2006/main">
            <a:off x="3124200" y="3038475"/>
            <a:ext cx="8429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Complete RACE adds +0.2428 pp mean Test IoU to FSDR.</a:t>
            </a:r>
          </a:p>
          <a:p xmlns:a="http://schemas.openxmlformats.org/drawingml/2006/main">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Routing and auxiliary training form one contribution.</a:t>
            </a:r>
          </a:p>
        </p:txBody>
      </p:sp>
      <p:sp>
        <p:nvSpPr>
          <p:cNvPr id="7" name="Final result">
            <a:extLst xmlns:a="http://schemas.openxmlformats.org/drawingml/2006/main">
              <a:ext uri="{FF2B5EF4-FFF2-40B4-BE49-F238E27FC236}">
                <a16:creationId xmlns:a16="http://schemas.microsoft.com/office/drawing/2014/main" id="{172602B1-E6D6-4AB6-8799-852BFC10B679}"/>
              </a:ext>
            </a:extLst>
          </p:cNvPr>
          <p:cNvSpPr>
            <a:spLocks xmlns:a="http://schemas.openxmlformats.org/drawingml/2006/main" noGrp="1"/>
          </p:cNvSpPr>
          <p:nvPr/>
        </p:nvSpPr>
        <p:spPr>
          <a:xfrm xmlns:a="http://schemas.openxmlformats.org/drawingml/2006/main">
            <a:off x="638175" y="4362450"/>
            <a:ext cx="233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Final result</a:t>
            </a:r>
          </a:p>
        </p:txBody>
      </p:sp>
      <p:sp>
        <p:nvSpPr>
          <p:cNvPr id="8" name="FSDR + RACE: Test IoU 76.2485%, Dice 84.7097%.&#10;Gai">
            <a:extLst xmlns:a="http://schemas.openxmlformats.org/drawingml/2006/main">
              <a:ext uri="{FF2B5EF4-FFF2-40B4-BE49-F238E27FC236}">
                <a16:creationId xmlns:a16="http://schemas.microsoft.com/office/drawing/2014/main" id="{B7C4DB42-D0FF-4CE7-9BF0-3710CA5833E4}"/>
              </a:ext>
            </a:extLst>
          </p:cNvPr>
          <p:cNvSpPr>
            <a:spLocks xmlns:a="http://schemas.openxmlformats.org/drawingml/2006/main" noGrp="1"/>
          </p:cNvSpPr>
          <p:nvPr/>
        </p:nvSpPr>
        <p:spPr>
          <a:xfrm xmlns:a="http://schemas.openxmlformats.org/drawingml/2006/main">
            <a:off x="3124200" y="4362450"/>
            <a:ext cx="8429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Ours: 76.2262% Test IoU, 84.7112% Dice (three-seed mean).</a:t>
            </a:r>
          </a:p>
          <a:p xmlns:a="http://schemas.openxmlformats.org/drawingml/2006/main">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Gain over matched PLAM: +0.7487 pp IoU.</a:t>
            </a:r>
          </a:p>
        </p:txBody>
      </p:sp>
      <p:sp>
        <p:nvSpPr>
          <p:cNvPr id="9" name="Further validation: paired training seeds, route-s">
            <a:extLst xmlns:a="http://schemas.openxmlformats.org/drawingml/2006/main">
              <a:ext uri="{FF2B5EF4-FFF2-40B4-BE49-F238E27FC236}">
                <a16:creationId xmlns:a16="http://schemas.microsoft.com/office/drawing/2014/main" id="{F4023C86-170C-4833-AE27-6CF7E4CCE857}"/>
              </a:ext>
            </a:extLst>
          </p:cNvPr>
          <p:cNvSpPr>
            <a:spLocks xmlns:a="http://schemas.openxmlformats.org/drawingml/2006/main" noGrp="1"/>
          </p:cNvSpPr>
          <p:nvPr/>
        </p:nvSpPr>
        <p:spPr>
          <a:xfrm xmlns:a="http://schemas.openxmlformats.org/drawingml/2006/main">
            <a:off x="638175" y="5895975"/>
            <a:ext cx="1091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Remaining work: independent data and repeated routing-versus-auxiliary controls.</a:t>
            </a:r>
          </a:p>
        </p:txBody>
      </p:sp>
      <p:sp>
        <p:nvSpPr>
          <p:cNvPr id="10" name="Conclusions">
            <a:extLst xmlns:a="http://schemas.openxmlformats.org/drawingml/2006/main">
              <a:ext uri="{FF2B5EF4-FFF2-40B4-BE49-F238E27FC236}">
                <a16:creationId xmlns:a16="http://schemas.microsoft.com/office/drawing/2014/main" id="{6111F4BB-B1FE-44A0-BCF1-3AB1A05759C7}"/>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Conclusions</a:t>
            </a:r>
          </a:p>
        </p:txBody>
      </p:sp>
      <p:sp>
        <p:nvSpPr>
          <p:cNvPr id="11" name="11">
            <a:extLst xmlns:a="http://schemas.openxmlformats.org/drawingml/2006/main">
              <a:ext uri="{FF2B5EF4-FFF2-40B4-BE49-F238E27FC236}">
                <a16:creationId xmlns:a16="http://schemas.microsoft.com/office/drawing/2014/main" id="{129DA8DB-CAD4-419D-BC6F-0342ABE51859}"/>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12</a:t>
            </a:r>
          </a:p>
        </p:txBody>
      </p:sp>
    </p:spTree>
    <p:extLst>
      <p:ext uri="{BB962C8B-B14F-4D97-AF65-F5344CB8AC3E}">
        <p14:creationId xmlns:p14="http://schemas.microsoft.com/office/powerpoint/2010/main" val="246714432"/>
      </p:ext>
    </p:extLst>
  </p:cSld>
</p:sld>
</file>

<file path=ppt/slides/slide13.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9952FFB-621F-4F4A-822B-574E85752AF7}"/>
              </a:ext>
            </a:extLst>
          </p:cNvPr>
          <p:cNvSpPr>
            <a:spLocks xmlns:a="http://schemas.openxmlformats.org/drawingml/2006/main" noGrp="1"/>
          </p:cNvSpPr>
          <p:nvPr/>
        </p:nvSpPr>
        <p:spPr>
          <a:xfrm xmlns:a="http://schemas.openxmlformats.org/drawingml/2006/main">
            <a:off x="640080" y="2468880"/>
            <a:ext cx="10058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200" b="1">
                <a:solidFill>
                  <a:srgbClr val="FFFFFF"/>
                </a:solidFill>
                <a:latin typeface="Cambria"/>
                <a:ea typeface="Cambria"/>
                <a:cs typeface="Cambria"/>
              </a:rPr>
              <a:t>Thank you</a:t>
            </a:r>
            <a:endParaRPr sz="4200"/>
          </a:p>
        </p:txBody>
      </p:sp>
      <p:sp>
        <p:nvSpPr>
          <p:cNvPr id="3" name="Text 1">
            <a:extLst xmlns:a="http://schemas.openxmlformats.org/drawingml/2006/main">
              <a:ext uri="{FF2B5EF4-FFF2-40B4-BE49-F238E27FC236}">
                <a16:creationId xmlns:a16="http://schemas.microsoft.com/office/drawing/2014/main" id="{DA889A4C-F966-4B0E-BC38-BF4928C85913}"/>
              </a:ext>
            </a:extLst>
          </p:cNvPr>
          <p:cNvSpPr>
            <a:spLocks xmlns:a="http://schemas.openxmlformats.org/drawingml/2006/main" noGrp="1"/>
          </p:cNvSpPr>
          <p:nvPr/>
        </p:nvSpPr>
        <p:spPr>
          <a:xfrm xmlns:a="http://schemas.openxmlformats.org/drawingml/2006/main">
            <a:off x="640080" y="3474720"/>
            <a:ext cx="10058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B8B8"/>
                </a:solidFill>
                <a:latin typeface="Calibri"/>
                <a:ea typeface="Calibri"/>
                <a:cs typeface="Calibri"/>
              </a:rPr>
              <a:t>Questions welcome. Backup material follows.</a:t>
            </a:r>
            <a:endParaRPr sz="1600"/>
          </a:p>
        </p:txBody>
      </p:sp>
      <p:sp>
        <p:nvSpPr>
          <p:cNvPr id="4" name="Text 2">
            <a:extLst xmlns:a="http://schemas.openxmlformats.org/drawingml/2006/main">
              <a:ext uri="{FF2B5EF4-FFF2-40B4-BE49-F238E27FC236}">
                <a16:creationId xmlns:a16="http://schemas.microsoft.com/office/drawing/2014/main" id="{586FF9BE-58B4-41D2-A13C-EA73A6331790}"/>
              </a:ext>
            </a:extLst>
          </p:cNvPr>
          <p:cNvSpPr>
            <a:spLocks xmlns:a="http://schemas.openxmlformats.org/drawingml/2006/main" noGrp="1"/>
          </p:cNvSpPr>
          <p:nvPr/>
        </p:nvSpPr>
        <p:spPr>
          <a:xfrm xmlns:a="http://schemas.openxmlformats.org/drawingml/2006/main">
            <a:off x="640080" y="5943600"/>
            <a:ext cx="10058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767676"/>
                </a:solidFill>
                <a:latin typeface="Calibri"/>
                <a:ea typeface="Calibri"/>
                <a:cs typeface="Calibri"/>
              </a:rPr>
              <a:t>Ruoheng (Ramos) Wang   ·   ELEC5223 Dissertation B   ·   Supervisor: Prof. Yonghui Li</a:t>
            </a:r>
            <a:endParaRPr sz="1200"/>
          </a:p>
        </p:txBody>
      </p:sp>
    </p:spTree>
    <p:extLst>
      <p:ext uri="{BB962C8B-B14F-4D97-AF65-F5344CB8AC3E}">
        <p14:creationId xmlns:p14="http://schemas.microsoft.com/office/powerpoint/2010/main" val="950191753"/>
      </p:ext>
    </p:extLst>
  </p:cSld>
</p:sld>
</file>

<file path=ppt/slides/slide14.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E6B08CD-29EB-40DB-9B06-4A364AE68AF1}"/>
              </a:ext>
            </a:extLst>
          </p:cNvPr>
          <p:cNvSpPr>
            <a:spLocks xmlns:a="http://schemas.openxmlformats.org/drawingml/2006/main" noGrp="1"/>
          </p:cNvSpPr>
          <p:nvPr/>
        </p:nvSpPr>
        <p:spPr>
          <a:xfrm xmlns:a="http://schemas.openxmlformats.org/drawingml/2006/main">
            <a:off x="640080" y="274320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Backup slides</a:t>
            </a:r>
            <a:endParaRPr sz="3400"/>
          </a:p>
        </p:txBody>
      </p:sp>
      <p:sp>
        <p:nvSpPr>
          <p:cNvPr id="3" name="Text 1">
            <a:extLst xmlns:a="http://schemas.openxmlformats.org/drawingml/2006/main">
              <a:ext uri="{FF2B5EF4-FFF2-40B4-BE49-F238E27FC236}">
                <a16:creationId xmlns:a16="http://schemas.microsoft.com/office/drawing/2014/main" id="{33ED6595-77E2-4AC4-B288-97108AD879EC}"/>
              </a:ext>
            </a:extLst>
          </p:cNvPr>
          <p:cNvSpPr>
            <a:spLocks xmlns:a="http://schemas.openxmlformats.org/drawingml/2006/main" noGrp="1"/>
          </p:cNvSpPr>
          <p:nvPr/>
        </p:nvSpPr>
        <p:spPr>
          <a:xfrm xmlns:a="http://schemas.openxmlformats.org/drawingml/2006/main">
            <a:off x="640080" y="361188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800">
                <a:solidFill>
                  <a:srgbClr val="BEBEBE"/>
                </a:solidFill>
                <a:latin typeface="Calibri"/>
                <a:ea typeface="Calibri"/>
                <a:cs typeface="Calibri"/>
              </a:defRPr>
            </a:pPr>
            <a:r>
              <a:rPr sz="1800">
                <a:solidFill>
                  <a:srgbClr val="BEBEBE"/>
                </a:solidFill>
                <a:latin typeface="Calibri"/>
                <a:ea typeface="Calibri"/>
                <a:cs typeface="Calibri"/>
              </a:rPr>
              <a:t>Results, formulation, protocol and supporting evidence</a:t>
            </a:r>
            <a:endParaRPr sz="1500"/>
          </a:p>
        </p:txBody>
      </p:sp>
    </p:spTree>
    <p:extLst>
      <p:ext uri="{BB962C8B-B14F-4D97-AF65-F5344CB8AC3E}">
        <p14:creationId xmlns:p14="http://schemas.microsoft.com/office/powerpoint/2010/main" val="137961107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09FD39-219D-4BB8-B9B6-A4ED3AF8B024}"/>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11111"/>
                </a:solidFill>
                <a:latin typeface="Cambria"/>
                <a:ea typeface="Cambria"/>
                <a:cs typeface="Cambria"/>
              </a:defRPr>
            </a:pPr>
            <a:r>
              <a:rPr sz="3000" b="1">
                <a:solidFill>
                  <a:srgbClr val="111111"/>
                </a:solidFill>
                <a:latin typeface="Cambria"/>
                <a:ea typeface="Cambria"/>
                <a:cs typeface="Cambria"/>
              </a:rPr>
              <a:t>All primary runs: Test results</a:t>
            </a:r>
          </a:p>
        </p:txBody>
      </p:sp>
      <p:sp>
        <p:nvSpPr>
          <p:cNvPr id="2" name="">
            <a:extLst xmlns:a="http://schemas.openxmlformats.org/drawingml/2006/main">
              <a:ext uri="{FF2B5EF4-FFF2-40B4-BE49-F238E27FC236}">
                <a16:creationId xmlns:a16="http://schemas.microsoft.com/office/drawing/2014/main" id="{F6F2A7DB-4E56-458B-A2CA-69A90FFB37EA}"/>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Backup: all 12 primary models</a:t>
            </a:r>
          </a:p>
        </p:txBody>
      </p:sp>
      <p:sp>
        <p:nvSpPr>
          <p:cNvPr id="3" name="">
            <a:extLst xmlns:a="http://schemas.openxmlformats.org/drawingml/2006/main">
              <a:ext uri="{FF2B5EF4-FFF2-40B4-BE49-F238E27FC236}">
                <a16:creationId xmlns:a16="http://schemas.microsoft.com/office/drawing/2014/main" id="{0D4E6F63-2A83-4898-A77B-37974EF2E177}"/>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15</a:t>
            </a:r>
          </a:p>
        </p:txBody>
      </p:sp>
      <p:graphicFrame>
        <p:nvGraphicFramePr>
          <p:cNvPr id="9" name=""/>
          <p:cNvGraphicFramePr/>
          <p:nvPr/>
        </p:nvGraphicFramePr>
        <p:xfrm>
          <a:off xmlns:a="http://schemas.openxmlformats.org/drawingml/2006/main" x="638175" y="1466850"/>
          <a:ext xmlns:a="http://schemas.openxmlformats.org/drawingml/2006/main" cx="10915650" cy="4476750"/>
        </p:xfrm>
        <a:graphic xmlns:a="http://schemas.openxmlformats.org/drawingml/2006/main">
          <a:graphicData uri="http://schemas.openxmlformats.org/drawingml/2006/table">
            <a:tbl>
              <a:tblPr/>
              <a:tblGrid>
                <a:gridCol w="4143375"/>
                <a:gridCol w="1143000"/>
                <a:gridCol w="1628775"/>
                <a:gridCol w="2000250"/>
                <a:gridCol w="2000250"/>
              </a:tblGrid>
              <a:tr h="344365">
                <a:tc>
                  <a:txBody>
                    <a:bodyPr>
                      <a:noAutofit/>
                    </a:bodyPr>
                    <a:lstStyle/>
                    <a:p>
                      <a:r>
                        <a:rPr sz="1575" b="1">
                          <a:solidFill>
                            <a:srgbClr val="FFFFFF"/>
                          </a:solidFill>
                          <a:latin typeface="Calibri"/>
                          <a:ea typeface="Calibri"/>
                          <a:cs typeface="Calibri"/>
                        </a:rPr>
                        <a:t>Configuration</a:t>
                      </a:r>
                    </a:p>
                  </a:txBody>
                  <a:tcPr marL="114300" marR="95250" marT="9525" marB="9525" anchor="ctr">
                    <a:solidFill>
                      <a:srgbClr val="111111"/>
                    </a:solidFill>
                  </a:tcPr>
                </a:tc>
                <a:tc>
                  <a:txBody>
                    <a:bodyPr>
                      <a:noAutofit/>
                    </a:bodyPr>
                    <a:lstStyle/>
                    <a:p>
                      <a:r>
                        <a:rPr sz="1575" b="1">
                          <a:solidFill>
                            <a:srgbClr val="FFFFFF"/>
                          </a:solidFill>
                          <a:latin typeface="Calibri"/>
                          <a:ea typeface="Calibri"/>
                          <a:cs typeface="Calibri"/>
                        </a:rPr>
                        <a:t>Seed</a:t>
                      </a:r>
                    </a:p>
                  </a:txBody>
                  <a:tcPr marL="114300" marR="95250" marT="9525" marB="9525" anchor="ctr">
                    <a:solidFill>
                      <a:srgbClr val="111111"/>
                    </a:solidFill>
                  </a:tcPr>
                </a:tc>
                <a:tc>
                  <a:txBody>
                    <a:bodyPr>
                      <a:noAutofit/>
                    </a:bodyPr>
                    <a:lstStyle/>
                    <a:p>
                      <a:r>
                        <a:rPr sz="1575" b="1">
                          <a:solidFill>
                            <a:srgbClr val="FFFFFF"/>
                          </a:solidFill>
                          <a:latin typeface="Calibri"/>
                          <a:ea typeface="Calibri"/>
                          <a:cs typeface="Calibri"/>
                        </a:rPr>
                        <a:t>Best epoch</a:t>
                      </a:r>
                    </a:p>
                  </a:txBody>
                  <a:tcPr marL="114300" marR="95250" marT="9525" marB="9525" anchor="ctr">
                    <a:solidFill>
                      <a:srgbClr val="111111"/>
                    </a:solidFill>
                  </a:tcPr>
                </a:tc>
                <a:tc>
                  <a:txBody>
                    <a:bodyPr>
                      <a:noAutofit/>
                    </a:bodyPr>
                    <a:lstStyle/>
                    <a:p>
                      <a:r>
                        <a:rPr sz="1575" b="1">
                          <a:solidFill>
                            <a:srgbClr val="FFFFFF"/>
                          </a:solidFill>
                          <a:latin typeface="Calibri"/>
                          <a:ea typeface="Calibri"/>
                          <a:cs typeface="Calibri"/>
                        </a:rPr>
                        <a:t>Test IoU (%)</a:t>
                      </a:r>
                    </a:p>
                  </a:txBody>
                  <a:tcPr marL="114300" marR="95250" marT="9525" marB="9525" anchor="ctr">
                    <a:solidFill>
                      <a:srgbClr val="111111"/>
                    </a:solidFill>
                  </a:tcPr>
                </a:tc>
                <a:tc>
                  <a:txBody>
                    <a:bodyPr>
                      <a:noAutofit/>
                    </a:bodyPr>
                    <a:lstStyle/>
                    <a:p>
                      <a:r>
                        <a:rPr sz="1575" b="1">
                          <a:solidFill>
                            <a:srgbClr val="FFFFFF"/>
                          </a:solidFill>
                          <a:latin typeface="Calibri"/>
                          <a:ea typeface="Calibri"/>
                          <a:cs typeface="Calibri"/>
                        </a:rPr>
                        <a:t>Test Dice (%)</a:t>
                      </a:r>
                    </a:p>
                  </a:txBody>
                  <a:tcPr marL="114300" marR="95250" marT="9525" marB="9525" anchor="ctr">
                    <a:solidFill>
                      <a:srgbClr val="111111"/>
                    </a:solidFill>
                  </a:tcPr>
                </a:tc>
              </a:tr>
              <a:tr h="344365">
                <a:tc>
                  <a:txBody>
                    <a:bodyPr>
                      <a:noAutofit/>
                    </a:bodyPr>
                    <a:lstStyle/>
                    <a:p>
                      <a:r>
                        <a:rPr sz="1575" b="0">
                          <a:solidFill>
                            <a:srgbClr val="111111"/>
                          </a:solidFill>
                          <a:latin typeface="Calibri"/>
                          <a:ea typeface="Calibri"/>
                          <a:cs typeface="Calibri"/>
                        </a:rPr>
                        <a:t>LViT-PLAM</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1219</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61</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75.5675</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84.0604</a:t>
                      </a:r>
                    </a:p>
                  </a:txBody>
                  <a:tcPr marL="114300" marR="95250" marT="9525" marB="9525" anchor="ctr">
                    <a:solidFill>
                      <a:srgbClr val="FFFFFF"/>
                    </a:solidFill>
                  </a:tcPr>
                </a:tc>
              </a:tr>
              <a:tr h="344365">
                <a:tc>
                  <a:txBody>
                    <a:bodyPr>
                      <a:noAutofit/>
                    </a:bodyPr>
                    <a:lstStyle/>
                    <a:p>
                      <a:r>
                        <a:rPr sz="1575" b="0">
                          <a:solidFill>
                            <a:srgbClr val="111111"/>
                          </a:solidFill>
                          <a:latin typeface="Calibri"/>
                          <a:ea typeface="Calibri"/>
                          <a:cs typeface="Calibri"/>
                        </a:rPr>
                        <a:t>LViT-PLAM</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2027</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72</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75.4668</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84.0771</a:t>
                      </a:r>
                    </a:p>
                  </a:txBody>
                  <a:tcPr marL="114300" marR="95250" marT="9525" marB="9525" anchor="ctr">
                    <a:solidFill>
                      <a:srgbClr val="F3F3F3"/>
                    </a:solidFill>
                  </a:tcPr>
                </a:tc>
              </a:tr>
              <a:tr h="344365">
                <a:tc>
                  <a:txBody>
                    <a:bodyPr>
                      <a:noAutofit/>
                    </a:bodyPr>
                    <a:lstStyle/>
                    <a:p>
                      <a:r>
                        <a:rPr sz="1575" b="0">
                          <a:solidFill>
                            <a:srgbClr val="111111"/>
                          </a:solidFill>
                          <a:latin typeface="Calibri"/>
                          <a:ea typeface="Calibri"/>
                          <a:cs typeface="Calibri"/>
                        </a:rPr>
                        <a:t>LViT-PLAM</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3407</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74</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75.3983</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83.9379</a:t>
                      </a:r>
                    </a:p>
                  </a:txBody>
                  <a:tcPr marL="114300" marR="95250" marT="9525" marB="9525" anchor="ctr">
                    <a:solidFill>
                      <a:srgbClr val="FFFFFF"/>
                    </a:solidFill>
                  </a:tcPr>
                </a:tc>
              </a:tr>
              <a:tr h="344365">
                <a:tc>
                  <a:txBody>
                    <a:bodyPr>
                      <a:noAutofit/>
                    </a:bodyPr>
                    <a:lstStyle/>
                    <a:p>
                      <a:r>
                        <a:rPr sz="1575" b="0">
                          <a:solidFill>
                            <a:srgbClr val="111111"/>
                          </a:solidFill>
                          <a:latin typeface="Calibri"/>
                          <a:ea typeface="Calibri"/>
                          <a:cs typeface="Calibri"/>
                        </a:rPr>
                        <a:t>FSDR only</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1219</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67</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75.8098</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84.4236</a:t>
                      </a:r>
                    </a:p>
                  </a:txBody>
                  <a:tcPr marL="114300" marR="95250" marT="9525" marB="9525" anchor="ctr">
                    <a:solidFill>
                      <a:srgbClr val="F3F3F3"/>
                    </a:solidFill>
                  </a:tcPr>
                </a:tc>
              </a:tr>
              <a:tr h="344365">
                <a:tc>
                  <a:txBody>
                    <a:bodyPr>
                      <a:noAutofit/>
                    </a:bodyPr>
                    <a:lstStyle/>
                    <a:p>
                      <a:r>
                        <a:rPr sz="1575" b="0">
                          <a:solidFill>
                            <a:srgbClr val="111111"/>
                          </a:solidFill>
                          <a:latin typeface="Calibri"/>
                          <a:ea typeface="Calibri"/>
                          <a:cs typeface="Calibri"/>
                        </a:rPr>
                        <a:t>FSDR only</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2027</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68</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76.0859</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84.5739</a:t>
                      </a:r>
                    </a:p>
                  </a:txBody>
                  <a:tcPr marL="114300" marR="95250" marT="9525" marB="9525" anchor="ctr">
                    <a:solidFill>
                      <a:srgbClr val="FFFFFF"/>
                    </a:solidFill>
                  </a:tcPr>
                </a:tc>
              </a:tr>
              <a:tr h="344365">
                <a:tc>
                  <a:txBody>
                    <a:bodyPr>
                      <a:noAutofit/>
                    </a:bodyPr>
                    <a:lstStyle/>
                    <a:p>
                      <a:r>
                        <a:rPr sz="1575" b="0">
                          <a:solidFill>
                            <a:srgbClr val="111111"/>
                          </a:solidFill>
                          <a:latin typeface="Calibri"/>
                          <a:ea typeface="Calibri"/>
                          <a:cs typeface="Calibri"/>
                        </a:rPr>
                        <a:t>FSDR only</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3407</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75</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76.0544</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84.5117</a:t>
                      </a:r>
                    </a:p>
                  </a:txBody>
                  <a:tcPr marL="114300" marR="95250" marT="9525" marB="9525" anchor="ctr">
                    <a:solidFill>
                      <a:srgbClr val="F3F3F3"/>
                    </a:solidFill>
                  </a:tcPr>
                </a:tc>
              </a:tr>
              <a:tr h="344365">
                <a:tc>
                  <a:txBody>
                    <a:bodyPr>
                      <a:noAutofit/>
                    </a:bodyPr>
                    <a:lstStyle/>
                    <a:p>
                      <a:r>
                        <a:rPr sz="1575" b="0">
                          <a:solidFill>
                            <a:srgbClr val="111111"/>
                          </a:solidFill>
                          <a:latin typeface="Calibri"/>
                          <a:ea typeface="Calibri"/>
                          <a:cs typeface="Calibri"/>
                        </a:rPr>
                        <a:t>PLAM + complete RACE</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1219</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78</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75.8189</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84.2712</a:t>
                      </a:r>
                    </a:p>
                  </a:txBody>
                  <a:tcPr marL="114300" marR="95250" marT="9525" marB="9525" anchor="ctr">
                    <a:solidFill>
                      <a:srgbClr val="FFFFFF"/>
                    </a:solidFill>
                  </a:tcPr>
                </a:tc>
              </a:tr>
              <a:tr h="344365">
                <a:tc>
                  <a:txBody>
                    <a:bodyPr>
                      <a:noAutofit/>
                    </a:bodyPr>
                    <a:lstStyle/>
                    <a:p>
                      <a:r>
                        <a:rPr sz="1575" b="0">
                          <a:solidFill>
                            <a:srgbClr val="111111"/>
                          </a:solidFill>
                          <a:latin typeface="Calibri"/>
                          <a:ea typeface="Calibri"/>
                          <a:cs typeface="Calibri"/>
                        </a:rPr>
                        <a:t>PLAM + complete RACE</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2027</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72</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75.6458</a:t>
                      </a:r>
                    </a:p>
                  </a:txBody>
                  <a:tcPr marL="114300" marR="95250" marT="9525" marB="9525" anchor="ctr">
                    <a:solidFill>
                      <a:srgbClr val="F3F3F3"/>
                    </a:solidFill>
                  </a:tcPr>
                </a:tc>
                <a:tc>
                  <a:txBody>
                    <a:bodyPr>
                      <a:noAutofit/>
                    </a:bodyPr>
                    <a:lstStyle/>
                    <a:p>
                      <a:r>
                        <a:rPr sz="1575" b="0">
                          <a:solidFill>
                            <a:srgbClr val="111111"/>
                          </a:solidFill>
                          <a:latin typeface="Calibri"/>
                          <a:ea typeface="Calibri"/>
                          <a:cs typeface="Calibri"/>
                        </a:rPr>
                        <a:t>84.1648</a:t>
                      </a:r>
                    </a:p>
                  </a:txBody>
                  <a:tcPr marL="114300" marR="95250" marT="9525" marB="9525" anchor="ctr">
                    <a:solidFill>
                      <a:srgbClr val="F3F3F3"/>
                    </a:solidFill>
                  </a:tcPr>
                </a:tc>
              </a:tr>
              <a:tr h="344365">
                <a:tc>
                  <a:txBody>
                    <a:bodyPr>
                      <a:noAutofit/>
                    </a:bodyPr>
                    <a:lstStyle/>
                    <a:p>
                      <a:r>
                        <a:rPr sz="1575" b="0">
                          <a:solidFill>
                            <a:srgbClr val="111111"/>
                          </a:solidFill>
                          <a:latin typeface="Calibri"/>
                          <a:ea typeface="Calibri"/>
                          <a:cs typeface="Calibri"/>
                        </a:rPr>
                        <a:t>PLAM + complete RACE</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3407</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66</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75.6239</a:t>
                      </a:r>
                    </a:p>
                  </a:txBody>
                  <a:tcPr marL="114300" marR="95250" marT="9525" marB="9525" anchor="ctr">
                    <a:solidFill>
                      <a:srgbClr val="FFFFFF"/>
                    </a:solidFill>
                  </a:tcPr>
                </a:tc>
                <a:tc>
                  <a:txBody>
                    <a:bodyPr>
                      <a:noAutofit/>
                    </a:bodyPr>
                    <a:lstStyle/>
                    <a:p>
                      <a:r>
                        <a:rPr sz="1575" b="0">
                          <a:solidFill>
                            <a:srgbClr val="111111"/>
                          </a:solidFill>
                          <a:latin typeface="Calibri"/>
                          <a:ea typeface="Calibri"/>
                          <a:cs typeface="Calibri"/>
                        </a:rPr>
                        <a:t>84.1425</a:t>
                      </a:r>
                    </a:p>
                  </a:txBody>
                  <a:tcPr marL="114300" marR="95250" marT="9525" marB="9525" anchor="ctr">
                    <a:solidFill>
                      <a:srgbClr val="FFFFFF"/>
                    </a:solidFill>
                  </a:tcPr>
                </a:tc>
              </a:tr>
              <a:tr h="344365">
                <a:tc>
                  <a:txBody>
                    <a:bodyPr>
                      <a:noAutofit/>
                    </a:bodyPr>
                    <a:lstStyle/>
                    <a:p>
                      <a:r>
                        <a:rPr sz="1575" b="1">
                          <a:solidFill>
                            <a:srgbClr val="111111"/>
                          </a:solidFill>
                          <a:latin typeface="Calibri"/>
                          <a:ea typeface="Calibri"/>
                          <a:cs typeface="Calibri"/>
                        </a:rPr>
                        <a:t>FSDR + complete RACE</a:t>
                      </a:r>
                    </a:p>
                  </a:txBody>
                  <a:tcPr marL="114300" marR="95250" marT="9525" marB="9525" anchor="ctr">
                    <a:solidFill>
                      <a:srgbClr val="F3F3F3"/>
                    </a:solidFill>
                  </a:tcPr>
                </a:tc>
                <a:tc>
                  <a:txBody>
                    <a:bodyPr>
                      <a:noAutofit/>
                    </a:bodyPr>
                    <a:lstStyle/>
                    <a:p>
                      <a:r>
                        <a:rPr sz="1575" b="1">
                          <a:solidFill>
                            <a:srgbClr val="111111"/>
                          </a:solidFill>
                          <a:latin typeface="Calibri"/>
                          <a:ea typeface="Calibri"/>
                          <a:cs typeface="Calibri"/>
                        </a:rPr>
                        <a:t>1219</a:t>
                      </a:r>
                    </a:p>
                  </a:txBody>
                  <a:tcPr marL="114300" marR="95250" marT="9525" marB="9525" anchor="ctr">
                    <a:solidFill>
                      <a:srgbClr val="F3F3F3"/>
                    </a:solidFill>
                  </a:tcPr>
                </a:tc>
                <a:tc>
                  <a:txBody>
                    <a:bodyPr>
                      <a:noAutofit/>
                    </a:bodyPr>
                    <a:lstStyle/>
                    <a:p>
                      <a:r>
                        <a:rPr sz="1575" b="1">
                          <a:solidFill>
                            <a:srgbClr val="111111"/>
                          </a:solidFill>
                          <a:latin typeface="Calibri"/>
                          <a:ea typeface="Calibri"/>
                          <a:cs typeface="Calibri"/>
                        </a:rPr>
                        <a:t>75</a:t>
                      </a:r>
                    </a:p>
                  </a:txBody>
                  <a:tcPr marL="114300" marR="95250" marT="9525" marB="9525" anchor="ctr">
                    <a:solidFill>
                      <a:srgbClr val="F3F3F3"/>
                    </a:solidFill>
                  </a:tcPr>
                </a:tc>
                <a:tc>
                  <a:txBody>
                    <a:bodyPr>
                      <a:noAutofit/>
                    </a:bodyPr>
                    <a:lstStyle/>
                    <a:p>
                      <a:r>
                        <a:rPr sz="1575" b="1">
                          <a:solidFill>
                            <a:srgbClr val="111111"/>
                          </a:solidFill>
                          <a:latin typeface="Calibri"/>
                          <a:ea typeface="Calibri"/>
                          <a:cs typeface="Calibri"/>
                        </a:rPr>
                        <a:t>76.2485</a:t>
                      </a:r>
                    </a:p>
                  </a:txBody>
                  <a:tcPr marL="114300" marR="95250" marT="9525" marB="9525" anchor="ctr">
                    <a:solidFill>
                      <a:srgbClr val="F3F3F3"/>
                    </a:solidFill>
                  </a:tcPr>
                </a:tc>
                <a:tc>
                  <a:txBody>
                    <a:bodyPr>
                      <a:noAutofit/>
                    </a:bodyPr>
                    <a:lstStyle/>
                    <a:p>
                      <a:r>
                        <a:rPr sz="1575" b="1">
                          <a:solidFill>
                            <a:srgbClr val="111111"/>
                          </a:solidFill>
                          <a:latin typeface="Calibri"/>
                          <a:ea typeface="Calibri"/>
                          <a:cs typeface="Calibri"/>
                        </a:rPr>
                        <a:t>84.7097</a:t>
                      </a:r>
                    </a:p>
                  </a:txBody>
                  <a:tcPr marL="114300" marR="95250" marT="9525" marB="9525" anchor="ctr">
                    <a:solidFill>
                      <a:srgbClr val="F3F3F3"/>
                    </a:solidFill>
                  </a:tcPr>
                </a:tc>
              </a:tr>
              <a:tr h="344365">
                <a:tc>
                  <a:txBody>
                    <a:bodyPr>
                      <a:noAutofit/>
                    </a:bodyPr>
                    <a:lstStyle/>
                    <a:p>
                      <a:r>
                        <a:rPr sz="1575" b="1">
                          <a:solidFill>
                            <a:srgbClr val="111111"/>
                          </a:solidFill>
                          <a:latin typeface="Calibri"/>
                          <a:ea typeface="Calibri"/>
                          <a:cs typeface="Calibri"/>
                        </a:rPr>
                        <a:t>FSDR + complete RACE</a:t>
                      </a:r>
                    </a:p>
                  </a:txBody>
                  <a:tcPr marL="114300" marR="95250" marT="9525" marB="9525" anchor="ctr">
                    <a:solidFill>
                      <a:srgbClr val="FFFFFF"/>
                    </a:solidFill>
                  </a:tcPr>
                </a:tc>
                <a:tc>
                  <a:txBody>
                    <a:bodyPr>
                      <a:noAutofit/>
                    </a:bodyPr>
                    <a:lstStyle/>
                    <a:p>
                      <a:r>
                        <a:rPr sz="1575" b="1">
                          <a:solidFill>
                            <a:srgbClr val="111111"/>
                          </a:solidFill>
                          <a:latin typeface="Calibri"/>
                          <a:ea typeface="Calibri"/>
                          <a:cs typeface="Calibri"/>
                        </a:rPr>
                        <a:t>2027</a:t>
                      </a:r>
                    </a:p>
                  </a:txBody>
                  <a:tcPr marL="114300" marR="95250" marT="9525" marB="9525" anchor="ctr">
                    <a:solidFill>
                      <a:srgbClr val="FFFFFF"/>
                    </a:solidFill>
                  </a:tcPr>
                </a:tc>
                <a:tc>
                  <a:txBody>
                    <a:bodyPr>
                      <a:noAutofit/>
                    </a:bodyPr>
                    <a:lstStyle/>
                    <a:p>
                      <a:r>
                        <a:rPr sz="1575" b="1">
                          <a:solidFill>
                            <a:srgbClr val="111111"/>
                          </a:solidFill>
                          <a:latin typeface="Calibri"/>
                          <a:ea typeface="Calibri"/>
                          <a:cs typeface="Calibri"/>
                        </a:rPr>
                        <a:t>78</a:t>
                      </a:r>
                    </a:p>
                  </a:txBody>
                  <a:tcPr marL="114300" marR="95250" marT="9525" marB="9525" anchor="ctr">
                    <a:solidFill>
                      <a:srgbClr val="FFFFFF"/>
                    </a:solidFill>
                  </a:tcPr>
                </a:tc>
                <a:tc>
                  <a:txBody>
                    <a:bodyPr>
                      <a:noAutofit/>
                    </a:bodyPr>
                    <a:lstStyle/>
                    <a:p>
                      <a:r>
                        <a:rPr sz="1575" b="1">
                          <a:solidFill>
                            <a:srgbClr val="111111"/>
                          </a:solidFill>
                          <a:latin typeface="Calibri"/>
                          <a:ea typeface="Calibri"/>
                          <a:cs typeface="Calibri"/>
                        </a:rPr>
                        <a:t>76.2562</a:t>
                      </a:r>
                    </a:p>
                  </a:txBody>
                  <a:tcPr marL="114300" marR="95250" marT="9525" marB="9525" anchor="ctr">
                    <a:solidFill>
                      <a:srgbClr val="FFFFFF"/>
                    </a:solidFill>
                  </a:tcPr>
                </a:tc>
                <a:tc>
                  <a:txBody>
                    <a:bodyPr>
                      <a:noAutofit/>
                    </a:bodyPr>
                    <a:lstStyle/>
                    <a:p>
                      <a:r>
                        <a:rPr sz="1575" b="1">
                          <a:solidFill>
                            <a:srgbClr val="111111"/>
                          </a:solidFill>
                          <a:latin typeface="Calibri"/>
                          <a:ea typeface="Calibri"/>
                          <a:cs typeface="Calibri"/>
                        </a:rPr>
                        <a:t>84.7468</a:t>
                      </a:r>
                    </a:p>
                  </a:txBody>
                  <a:tcPr marL="114300" marR="95250" marT="9525" marB="9525" anchor="ctr">
                    <a:solidFill>
                      <a:srgbClr val="FFFFFF"/>
                    </a:solidFill>
                  </a:tcPr>
                </a:tc>
              </a:tr>
              <a:tr h="344365">
                <a:tc>
                  <a:txBody>
                    <a:bodyPr>
                      <a:noAutofit/>
                    </a:bodyPr>
                    <a:lstStyle/>
                    <a:p>
                      <a:r>
                        <a:rPr sz="1575" b="1">
                          <a:solidFill>
                            <a:srgbClr val="111111"/>
                          </a:solidFill>
                          <a:latin typeface="Calibri"/>
                          <a:ea typeface="Calibri"/>
                          <a:cs typeface="Calibri"/>
                        </a:rPr>
                        <a:t>FSDR + complete RACE</a:t>
                      </a:r>
                    </a:p>
                  </a:txBody>
                  <a:tcPr marL="114300" marR="95250" marT="9525" marB="9525" anchor="ctr">
                    <a:solidFill>
                      <a:srgbClr val="F3F3F3"/>
                    </a:solidFill>
                  </a:tcPr>
                </a:tc>
                <a:tc>
                  <a:txBody>
                    <a:bodyPr>
                      <a:noAutofit/>
                    </a:bodyPr>
                    <a:lstStyle/>
                    <a:p>
                      <a:r>
                        <a:rPr sz="1575" b="1">
                          <a:solidFill>
                            <a:srgbClr val="111111"/>
                          </a:solidFill>
                          <a:latin typeface="Calibri"/>
                          <a:ea typeface="Calibri"/>
                          <a:cs typeface="Calibri"/>
                        </a:rPr>
                        <a:t>3407</a:t>
                      </a:r>
                    </a:p>
                  </a:txBody>
                  <a:tcPr marL="114300" marR="95250" marT="9525" marB="9525" anchor="ctr">
                    <a:solidFill>
                      <a:srgbClr val="F3F3F3"/>
                    </a:solidFill>
                  </a:tcPr>
                </a:tc>
                <a:tc>
                  <a:txBody>
                    <a:bodyPr>
                      <a:noAutofit/>
                    </a:bodyPr>
                    <a:lstStyle/>
                    <a:p>
                      <a:r>
                        <a:rPr sz="1575" b="1">
                          <a:solidFill>
                            <a:srgbClr val="111111"/>
                          </a:solidFill>
                          <a:latin typeface="Calibri"/>
                          <a:ea typeface="Calibri"/>
                          <a:cs typeface="Calibri"/>
                        </a:rPr>
                        <a:t>70</a:t>
                      </a:r>
                    </a:p>
                  </a:txBody>
                  <a:tcPr marL="114300" marR="95250" marT="9525" marB="9525" anchor="ctr">
                    <a:solidFill>
                      <a:srgbClr val="F3F3F3"/>
                    </a:solidFill>
                  </a:tcPr>
                </a:tc>
                <a:tc>
                  <a:txBody>
                    <a:bodyPr>
                      <a:noAutofit/>
                    </a:bodyPr>
                    <a:lstStyle/>
                    <a:p>
                      <a:r>
                        <a:rPr sz="1575" b="1">
                          <a:solidFill>
                            <a:srgbClr val="111111"/>
                          </a:solidFill>
                          <a:latin typeface="Calibri"/>
                          <a:ea typeface="Calibri"/>
                          <a:cs typeface="Calibri"/>
                        </a:rPr>
                        <a:t>76.1738</a:t>
                      </a:r>
                    </a:p>
                  </a:txBody>
                  <a:tcPr marL="114300" marR="95250" marT="9525" marB="9525" anchor="ctr">
                    <a:solidFill>
                      <a:srgbClr val="F3F3F3"/>
                    </a:solidFill>
                  </a:tcPr>
                </a:tc>
                <a:tc>
                  <a:txBody>
                    <a:bodyPr>
                      <a:noAutofit/>
                    </a:bodyPr>
                    <a:lstStyle/>
                    <a:p>
                      <a:r>
                        <a:rPr sz="1575" b="1">
                          <a:solidFill>
                            <a:srgbClr val="111111"/>
                          </a:solidFill>
                          <a:latin typeface="Calibri"/>
                          <a:ea typeface="Calibri"/>
                          <a:cs typeface="Calibri"/>
                        </a:rPr>
                        <a:t>84.6773</a:t>
                      </a:r>
                    </a:p>
                  </a:txBody>
                  <a:tcPr marL="114300" marR="95250" marT="9525" marB="9525" anchor="ctr">
                    <a:solidFill>
                      <a:srgbClr val="F3F3F3"/>
                    </a:solidFill>
                  </a:tcPr>
                </a:tc>
              </a:tr>
            </a:tbl>
          </a:graphicData>
        </a:graphic>
      </p:graphicFrame>
      <p:sp>
        <p:nvSpPr>
          <p:cNvPr id="5" name="">
            <a:extLst xmlns:a="http://schemas.openxmlformats.org/drawingml/2006/main">
              <a:ext uri="{FF2B5EF4-FFF2-40B4-BE49-F238E27FC236}">
                <a16:creationId xmlns:a16="http://schemas.microsoft.com/office/drawing/2014/main" id="{510C4BB6-5FFC-4D65-A849-11EF3D124D3A}"/>
              </a:ext>
            </a:extLst>
          </p:cNvPr>
          <p:cNvSpPr>
            <a:spLocks xmlns:a="http://schemas.openxmlformats.org/drawingml/2006/main" noGrp="1"/>
          </p:cNvSpPr>
          <p:nvPr/>
        </p:nvSpPr>
        <p:spPr>
          <a:xfrm xmlns:a="http://schemas.openxmlformats.org/drawingml/2006/main">
            <a:off x="638175" y="6076950"/>
            <a:ext cx="1091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606060"/>
                </a:solidFill>
                <a:latin typeface="Calibri"/>
                <a:ea typeface="Calibri"/>
                <a:cs typeface="Calibri"/>
              </a:defRPr>
            </a:pPr>
            <a:r>
              <a:rPr sz="1650" b="0">
                <a:solidFill>
                  <a:srgbClr val="606060"/>
                </a:solidFill>
                <a:latin typeface="Calibri"/>
                <a:ea typeface="Calibri"/>
                <a:cs typeface="Calibri"/>
              </a:rPr>
              <a:t>Each run selects Best by Val macro IoU. Every configuration uses all three seeds.</a:t>
            </a:r>
          </a:p>
        </p:txBody>
      </p:sp>
    </p:spTree>
    <p:extLst>
      <p:ext uri="{BB962C8B-B14F-4D97-AF65-F5344CB8AC3E}">
        <p14:creationId xmlns:p14="http://schemas.microsoft.com/office/powerpoint/2010/main" val="1897054774"/>
      </p:ext>
    </p:extLst>
  </p:cSld>
</p:sld>
</file>

<file path=ppt/slides/slide16.xml><?xml version="1.0" encoding="utf-8"?>
<p:sld xmlns:p="http://schemas.openxmlformats.org/presentationml/2006/main">
  <p:cSld>
    <p:bg>
      <p:bgPr>
        <a:solidFill xmlns:a="http://schemas.openxmlformats.org/drawingml/2006/main">
          <a:srgbClr val="19191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4A97ECB-5396-433E-B2C2-AA262457C196}"/>
              </a:ext>
            </a:extLst>
          </p:cNvPr>
          <p:cNvSpPr>
            <a:spLocks xmlns:a="http://schemas.openxmlformats.org/drawingml/2006/main" noGrp="1"/>
          </p:cNvSpPr>
          <p:nvPr/>
        </p:nvSpPr>
        <p:spPr>
          <a:xfrm xmlns:a="http://schemas.openxmlformats.org/drawingml/2006/main">
            <a:off x="638175" y="381000"/>
            <a:ext cx="109156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F4F4F4"/>
                </a:solidFill>
                <a:latin typeface="Cambria"/>
                <a:ea typeface="Cambria"/>
                <a:cs typeface="Cambria"/>
              </a:defRPr>
            </a:pPr>
            <a:r>
              <a:rPr sz="2925" b="1">
                <a:solidFill>
                  <a:srgbClr val="F4F4F4"/>
                </a:solidFill>
                <a:latin typeface="Cambria"/>
                <a:ea typeface="Cambria"/>
                <a:cs typeface="Cambria"/>
              </a:rPr>
              <a:t>FSDR: spatially adaptive frequency refinement</a:t>
            </a:r>
          </a:p>
        </p:txBody>
      </p:sp>
      <p:sp>
        <p:nvSpPr>
          <p:cNvPr id="2" name="">
            <a:extLst xmlns:a="http://schemas.openxmlformats.org/drawingml/2006/main">
              <a:ext uri="{FF2B5EF4-FFF2-40B4-BE49-F238E27FC236}">
                <a16:creationId xmlns:a16="http://schemas.microsoft.com/office/drawing/2014/main" id="{EA15E566-3EBD-48A1-A265-DF0C18A5FBDF}"/>
              </a:ext>
            </a:extLst>
          </p:cNvPr>
          <p:cNvSpPr>
            <a:spLocks xmlns:a="http://schemas.openxmlformats.org/drawingml/2006/main" noGrp="1"/>
          </p:cNvSpPr>
          <p:nvPr/>
        </p:nvSpPr>
        <p:spPr>
          <a:xfrm xmlns:a="http://schemas.openxmlformats.org/drawingml/2006/main">
            <a:off x="638175" y="64674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Adaptive branch at up4 and up3. At up2 and up1, D′ = D and R_adaptive = 0.</a:t>
            </a:r>
          </a:p>
        </p:txBody>
      </p:sp>
      <p:sp>
        <p:nvSpPr>
          <p:cNvPr id="3" name="">
            <a:extLst xmlns:a="http://schemas.openxmlformats.org/drawingml/2006/main">
              <a:ext uri="{FF2B5EF4-FFF2-40B4-BE49-F238E27FC236}">
                <a16:creationId xmlns:a16="http://schemas.microsoft.com/office/drawing/2014/main" id="{AE11BDEE-0CB7-4719-8A75-D544F7E2741D}"/>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16</a:t>
            </a:r>
          </a:p>
        </p:txBody>
      </p:sp>
      <p:sp>
        <p:nvSpPr>
          <p:cNvPr id="4" name="">
            <a:extLst xmlns:a="http://schemas.openxmlformats.org/drawingml/2006/main">
              <a:ext uri="{FF2B5EF4-FFF2-40B4-BE49-F238E27FC236}">
                <a16:creationId xmlns:a16="http://schemas.microsoft.com/office/drawing/2014/main" id="{1EB1A038-1BFF-48EA-8731-671430C1B209}"/>
              </a:ext>
            </a:extLst>
          </p:cNvPr>
          <p:cNvSpPr>
            <a:spLocks xmlns:a="http://schemas.openxmlformats.org/drawingml/2006/main" noGrp="1"/>
          </p:cNvSpPr>
          <p:nvPr/>
        </p:nvSpPr>
        <p:spPr>
          <a:xfrm xmlns:a="http://schemas.openxmlformats.org/drawingml/2006/main">
            <a:off x="638175" y="1504950"/>
            <a:ext cx="3095625" cy="666750"/>
          </a:xfrm>
          <a:prstGeom xmlns:a="http://schemas.openxmlformats.org/drawingml/2006/main" prst="roundRect">
            <a:avLst>
              <a:gd name="adj" fmla="val 18571"/>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C* low, V low, D low</a:t>
            </a:r>
          </a:p>
        </p:txBody>
      </p:sp>
      <p:sp>
        <p:nvSpPr>
          <p:cNvPr id="5" name="">
            <a:extLst xmlns:a="http://schemas.openxmlformats.org/drawingml/2006/main">
              <a:ext uri="{FF2B5EF4-FFF2-40B4-BE49-F238E27FC236}">
                <a16:creationId xmlns:a16="http://schemas.microsoft.com/office/drawing/2014/main" id="{013F8418-44BD-4420-B4D8-84F221F67EDE}"/>
              </a:ext>
            </a:extLst>
          </p:cNvPr>
          <p:cNvSpPr>
            <a:spLocks xmlns:a="http://schemas.openxmlformats.org/drawingml/2006/main" noGrp="1"/>
          </p:cNvSpPr>
          <p:nvPr/>
        </p:nvSpPr>
        <p:spPr>
          <a:xfrm xmlns:a="http://schemas.openxmlformats.org/drawingml/2006/main">
            <a:off x="4572000" y="1504950"/>
            <a:ext cx="3095625" cy="666750"/>
          </a:xfrm>
          <a:prstGeom xmlns:a="http://schemas.openxmlformats.org/drawingml/2006/main" prst="roundRect">
            <a:avLst>
              <a:gd name="adj" fmla="val 18571"/>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Shared spatial context</a:t>
            </a:r>
          </a:p>
        </p:txBody>
      </p:sp>
      <p:sp>
        <p:nvSpPr>
          <p:cNvPr id="6" name="">
            <a:extLst xmlns:a="http://schemas.openxmlformats.org/drawingml/2006/main">
              <a:ext uri="{FF2B5EF4-FFF2-40B4-BE49-F238E27FC236}">
                <a16:creationId xmlns:a16="http://schemas.microsoft.com/office/drawing/2014/main" id="{4EB2F2FA-C7E9-426F-91DC-602E6967F3A4}"/>
              </a:ext>
            </a:extLst>
          </p:cNvPr>
          <p:cNvSpPr>
            <a:spLocks xmlns:a="http://schemas.openxmlformats.org/drawingml/2006/main" noGrp="1"/>
          </p:cNvSpPr>
          <p:nvPr/>
        </p:nvSpPr>
        <p:spPr>
          <a:xfrm xmlns:a="http://schemas.openxmlformats.org/drawingml/2006/main">
            <a:off x="2381250" y="2762250"/>
            <a:ext cx="2238375" cy="800100"/>
          </a:xfrm>
          <a:prstGeom xmlns:a="http://schemas.openxmlformats.org/drawingml/2006/main" prst="roundRect">
            <a:avLst>
              <a:gd name="adj" fmla="val 15476"/>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Low-pass weights</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Spatial softmax</a:t>
            </a:r>
          </a:p>
        </p:txBody>
      </p:sp>
      <p:sp>
        <p:nvSpPr>
          <p:cNvPr id="7" name="">
            <a:extLst xmlns:a="http://schemas.openxmlformats.org/drawingml/2006/main">
              <a:ext uri="{FF2B5EF4-FFF2-40B4-BE49-F238E27FC236}">
                <a16:creationId xmlns:a16="http://schemas.microsoft.com/office/drawing/2014/main" id="{534F34F9-22B9-41DE-8BF9-A512C4F1FB10}"/>
              </a:ext>
            </a:extLst>
          </p:cNvPr>
          <p:cNvSpPr>
            <a:spLocks xmlns:a="http://schemas.openxmlformats.org/drawingml/2006/main" noGrp="1"/>
          </p:cNvSpPr>
          <p:nvPr/>
        </p:nvSpPr>
        <p:spPr>
          <a:xfrm xmlns:a="http://schemas.openxmlformats.org/drawingml/2006/main">
            <a:off x="8077200" y="2762250"/>
            <a:ext cx="2238375" cy="800100"/>
          </a:xfrm>
          <a:prstGeom xmlns:a="http://schemas.openxmlformats.org/drawingml/2006/main" prst="roundRect">
            <a:avLst>
              <a:gd name="adj" fmla="val 15476"/>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High-pass weights</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Spatial softmax</a:t>
            </a:r>
          </a:p>
        </p:txBody>
      </p:sp>
      <p:sp>
        <p:nvSpPr>
          <p:cNvPr id="8" name="">
            <a:extLst xmlns:a="http://schemas.openxmlformats.org/drawingml/2006/main">
              <a:ext uri="{FF2B5EF4-FFF2-40B4-BE49-F238E27FC236}">
                <a16:creationId xmlns:a16="http://schemas.microsoft.com/office/drawing/2014/main" id="{9E9AD0C0-E100-47BF-B0A0-AAFF721AB7A2}"/>
              </a:ext>
            </a:extLst>
          </p:cNvPr>
          <p:cNvSpPr>
            <a:spLocks xmlns:a="http://schemas.openxmlformats.org/drawingml/2006/main" noGrp="1"/>
          </p:cNvSpPr>
          <p:nvPr/>
        </p:nvSpPr>
        <p:spPr>
          <a:xfrm xmlns:a="http://schemas.openxmlformats.org/drawingml/2006/main">
            <a:off x="638175" y="4076700"/>
            <a:ext cx="1381125"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Decoder D</a:t>
            </a:r>
          </a:p>
        </p:txBody>
      </p:sp>
      <p:sp>
        <p:nvSpPr>
          <p:cNvPr id="9" name="">
            <a:extLst xmlns:a="http://schemas.openxmlformats.org/drawingml/2006/main">
              <a:ext uri="{FF2B5EF4-FFF2-40B4-BE49-F238E27FC236}">
                <a16:creationId xmlns:a16="http://schemas.microsoft.com/office/drawing/2014/main" id="{C7A2C642-89CA-47C0-B256-932B64FCFA2D}"/>
              </a:ext>
            </a:extLst>
          </p:cNvPr>
          <p:cNvSpPr>
            <a:spLocks xmlns:a="http://schemas.openxmlformats.org/drawingml/2006/main" noGrp="1"/>
          </p:cNvSpPr>
          <p:nvPr/>
        </p:nvSpPr>
        <p:spPr>
          <a:xfrm xmlns:a="http://schemas.openxmlformats.org/drawingml/2006/main">
            <a:off x="6267450" y="4076700"/>
            <a:ext cx="1381125" cy="609600"/>
          </a:xfrm>
          <a:prstGeom xmlns:a="http://schemas.openxmlformats.org/drawingml/2006/main" prst="roundRect">
            <a:avLst>
              <a:gd name="adj" fmla="val 20313"/>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Skip C*</a:t>
            </a:r>
          </a:p>
        </p:txBody>
      </p:sp>
      <p:sp>
        <p:nvSpPr>
          <p:cNvPr id="10" name="">
            <a:extLst xmlns:a="http://schemas.openxmlformats.org/drawingml/2006/main">
              <a:ext uri="{FF2B5EF4-FFF2-40B4-BE49-F238E27FC236}">
                <a16:creationId xmlns:a16="http://schemas.microsoft.com/office/drawing/2014/main" id="{9847C39A-F7FB-4686-85AB-4E5BAE81CF53}"/>
              </a:ext>
            </a:extLst>
          </p:cNvPr>
          <p:cNvSpPr>
            <a:spLocks xmlns:a="http://schemas.openxmlformats.org/drawingml/2006/main" noGrp="1"/>
          </p:cNvSpPr>
          <p:nvPr/>
        </p:nvSpPr>
        <p:spPr>
          <a:xfrm xmlns:a="http://schemas.openxmlformats.org/drawingml/2006/main">
            <a:off x="2381250" y="4000500"/>
            <a:ext cx="2238375" cy="781050"/>
          </a:xfrm>
          <a:prstGeom xmlns:a="http://schemas.openxmlformats.org/drawingml/2006/main" prst="roundRect">
            <a:avLst>
              <a:gd name="adj" fmla="val 15854"/>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LP_low(D)</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Weighted filter bank</a:t>
            </a:r>
          </a:p>
        </p:txBody>
      </p:sp>
      <p:sp>
        <p:nvSpPr>
          <p:cNvPr id="11" name="">
            <a:extLst xmlns:a="http://schemas.openxmlformats.org/drawingml/2006/main">
              <a:ext uri="{FF2B5EF4-FFF2-40B4-BE49-F238E27FC236}">
                <a16:creationId xmlns:a16="http://schemas.microsoft.com/office/drawing/2014/main" id="{C3DCA603-4F4D-4524-AC3B-2BE509EA0351}"/>
              </a:ext>
            </a:extLst>
          </p:cNvPr>
          <p:cNvSpPr>
            <a:spLocks xmlns:a="http://schemas.openxmlformats.org/drawingml/2006/main" noGrp="1"/>
          </p:cNvSpPr>
          <p:nvPr/>
        </p:nvSpPr>
        <p:spPr>
          <a:xfrm xmlns:a="http://schemas.openxmlformats.org/drawingml/2006/main">
            <a:off x="8077200" y="4000500"/>
            <a:ext cx="2238375" cy="781050"/>
          </a:xfrm>
          <a:prstGeom xmlns:a="http://schemas.openxmlformats.org/drawingml/2006/main" prst="roundRect">
            <a:avLst>
              <a:gd name="adj" fmla="val 15854"/>
            </a:avLst>
          </a:prstGeom>
          <a:solidFill xmlns:a="http://schemas.openxmlformats.org/drawingml/2006/main">
            <a:srgbClr val="333333"/>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LP_high(C*)</a:t>
            </a:r>
          </a:p>
          <a:p xmlns:a="http://schemas.openxmlformats.org/drawingml/2006/main">
            <a:pPr algn="ctr">
              <a:defRPr sz="1725" b="0">
                <a:solidFill>
                  <a:srgbClr val="F4F4F4"/>
                </a:solidFill>
                <a:latin typeface="Calibri"/>
                <a:ea typeface="Calibri"/>
                <a:cs typeface="Calibri"/>
              </a:defRPr>
            </a:pPr>
            <a:r>
              <a:rPr sz="1725" b="0">
                <a:solidFill>
                  <a:srgbClr val="F4F4F4"/>
                </a:solidFill>
                <a:latin typeface="Calibri"/>
                <a:ea typeface="Calibri"/>
                <a:cs typeface="Calibri"/>
              </a:rPr>
              <a:t>Weighted filter bank</a:t>
            </a:r>
          </a:p>
        </p:txBody>
      </p:sp>
      <p:sp>
        <p:nvSpPr>
          <p:cNvPr id="12" name="">
            <a:extLst xmlns:a="http://schemas.openxmlformats.org/drawingml/2006/main">
              <a:ext uri="{FF2B5EF4-FFF2-40B4-BE49-F238E27FC236}">
                <a16:creationId xmlns:a16="http://schemas.microsoft.com/office/drawing/2014/main" id="{7FB5DFD9-DF2A-4489-991E-DCB11A235043}"/>
              </a:ext>
            </a:extLst>
          </p:cNvPr>
          <p:cNvSpPr>
            <a:spLocks xmlns:a="http://schemas.openxmlformats.org/drawingml/2006/main" noGrp="1"/>
          </p:cNvSpPr>
          <p:nvPr/>
        </p:nvSpPr>
        <p:spPr>
          <a:xfrm xmlns:a="http://schemas.openxmlformats.org/drawingml/2006/main">
            <a:off x="1000125" y="5353050"/>
            <a:ext cx="4543425" cy="685800"/>
          </a:xfrm>
          <a:prstGeom xmlns:a="http://schemas.openxmlformats.org/drawingml/2006/main" prst="roundRect">
            <a:avLst>
              <a:gd name="adj" fmla="val 18056"/>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800" b="0">
                <a:solidFill>
                  <a:srgbClr val="F4F4F4"/>
                </a:solidFill>
                <a:latin typeface="Calibri"/>
                <a:ea typeface="Calibri"/>
                <a:cs typeface="Calibri"/>
              </a:defRPr>
            </a:pPr>
            <a:r>
              <a:rPr sz="1800" b="0">
                <a:solidFill>
                  <a:srgbClr val="F4F4F4"/>
                </a:solidFill>
                <a:latin typeface="Calibri"/>
                <a:ea typeface="Calibri"/>
                <a:cs typeface="Calibri"/>
              </a:rPr>
              <a:t>D′ = D + α [LP_low(D) − D]</a:t>
            </a:r>
          </a:p>
        </p:txBody>
      </p:sp>
      <p:sp>
        <p:nvSpPr>
          <p:cNvPr id="13" name="">
            <a:extLst xmlns:a="http://schemas.openxmlformats.org/drawingml/2006/main">
              <a:ext uri="{FF2B5EF4-FFF2-40B4-BE49-F238E27FC236}">
                <a16:creationId xmlns:a16="http://schemas.microsoft.com/office/drawing/2014/main" id="{D3CB37E6-365A-445D-BEB0-773DC750FBCE}"/>
              </a:ext>
            </a:extLst>
          </p:cNvPr>
          <p:cNvSpPr>
            <a:spLocks xmlns:a="http://schemas.openxmlformats.org/drawingml/2006/main" noGrp="1"/>
          </p:cNvSpPr>
          <p:nvPr/>
        </p:nvSpPr>
        <p:spPr>
          <a:xfrm xmlns:a="http://schemas.openxmlformats.org/drawingml/2006/main">
            <a:off x="6572250" y="5353050"/>
            <a:ext cx="4972050" cy="685800"/>
          </a:xfrm>
          <a:prstGeom xmlns:a="http://schemas.openxmlformats.org/drawingml/2006/main" prst="roundRect">
            <a:avLst>
              <a:gd name="adj" fmla="val 18056"/>
            </a:avLst>
          </a:prstGeom>
          <a:solidFill xmlns:a="http://schemas.openxmlformats.org/drawingml/2006/main">
            <a:srgbClr val="76554A"/>
          </a:solidFill>
          <a:ln xmlns:a="http://schemas.openxmlformats.org/drawingml/2006/main" w="9525">
            <a:solidFill>
              <a:srgbClr val="575757"/>
            </a:solidFill>
          </a:ln>
        </p:spPr>
        <p:txBody>
          <a:bodyPr xmlns:a="http://schemas.openxmlformats.org/drawingml/2006/main" lIns="95250" tIns="47625" rIns="95250" bIns="47625" anchor="ctr">
            <a:noAutofit/>
          </a:bodyPr>
          <a:lstStyle xmlns:a="http://schemas.openxmlformats.org/drawingml/2006/main"/>
          <a:p xmlns:a="http://schemas.openxmlformats.org/drawingml/2006/main">
            <a:pPr algn="ctr">
              <a:defRPr sz="1800" b="0">
                <a:solidFill>
                  <a:srgbClr val="F4F4F4"/>
                </a:solidFill>
                <a:latin typeface="Calibri"/>
                <a:ea typeface="Calibri"/>
                <a:cs typeface="Calibri"/>
              </a:defRPr>
            </a:pPr>
            <a:r>
              <a:rPr sz="1800" b="0">
                <a:solidFill>
                  <a:srgbClr val="F4F4F4"/>
                </a:solidFill>
                <a:latin typeface="Calibri"/>
                <a:ea typeface="Calibri"/>
                <a:cs typeface="Calibri"/>
              </a:rPr>
              <a:t>R_adaptive = β [C* − LP_high(C*)]</a:t>
            </a:r>
          </a:p>
        </p:txBody>
      </p:sp>
      <p:cxnSp>
        <p:nvCxnSpPr>
          <p:cNvPr id="37" name=""/>
          <p:cNvCxnSpPr>
            <a:stCxn xmlns:a="http://schemas.openxmlformats.org/drawingml/2006/main" id="4" idx="3"/>
            <a:endCxn xmlns:a="http://schemas.openxmlformats.org/drawingml/2006/main" id="5" idx="1"/>
          </p:cNvCxnSpPr>
          <p:nvPr/>
        </p:nvCxnSpPr>
        <p:spPr>
          <a:xfrm xmlns:a="http://schemas.openxmlformats.org/drawingml/2006/main">
            <a:off x="3733800" y="1838325"/>
            <a:ext cx="838200" cy="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38" name=""/>
          <p:cNvCxnSpPr>
            <a:stCxn xmlns:a="http://schemas.openxmlformats.org/drawingml/2006/main" id="5" idx="2"/>
            <a:endCxn xmlns:a="http://schemas.openxmlformats.org/drawingml/2006/main" id="6" idx="0"/>
          </p:cNvCxnSpPr>
          <p:nvPr/>
        </p:nvCxnSpPr>
        <p:spPr>
          <a:xfrm xmlns:a="http://schemas.openxmlformats.org/drawingml/2006/main" rot="5400000">
            <a:off x="4514850" y="1157288"/>
            <a:ext cx="590550" cy="261937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39" name=""/>
          <p:cNvCxnSpPr>
            <a:stCxn xmlns:a="http://schemas.openxmlformats.org/drawingml/2006/main" id="5" idx="3"/>
            <a:endCxn xmlns:a="http://schemas.openxmlformats.org/drawingml/2006/main" id="7" idx="0"/>
          </p:cNvCxnSpPr>
          <p:nvPr/>
        </p:nvCxnSpPr>
        <p:spPr>
          <a:xfrm xmlns:a="http://schemas.openxmlformats.org/drawingml/2006/main" rot="16200000" flipH="1">
            <a:off x="7970044" y="1535906"/>
            <a:ext cx="923925" cy="1528763"/>
          </a:xfrm>
          <a:prstGeom xmlns:a="http://schemas.openxmlformats.org/drawingml/2006/main" prst="curvedConnector3">
            <a:avLst>
              <a:gd name="adj1" fmla="val 80607"/>
            </a:avLst>
          </a:prstGeom>
          <a:ln xmlns:a="http://schemas.openxmlformats.org/drawingml/2006/main" w="17145">
            <a:solidFill>
              <a:srgbClr val="B8B8B8"/>
            </a:solidFill>
            <a:tailEnd type="triangle" w="sm" len="sm"/>
          </a:ln>
        </p:spPr>
      </p:cxnSp>
      <p:cxnSp>
        <p:nvCxnSpPr>
          <p:cNvPr id="40" name=""/>
          <p:cNvCxnSpPr>
            <a:stCxn xmlns:a="http://schemas.openxmlformats.org/drawingml/2006/main" id="6" idx="2"/>
            <a:endCxn xmlns:a="http://schemas.openxmlformats.org/drawingml/2006/main" id="10" idx="0"/>
          </p:cNvCxnSpPr>
          <p:nvPr/>
        </p:nvCxnSpPr>
        <p:spPr>
          <a:xfrm xmlns:a="http://schemas.openxmlformats.org/drawingml/2006/main">
            <a:off x="3500438" y="3562350"/>
            <a:ext cx="0" cy="43815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41" name=""/>
          <p:cNvCxnSpPr>
            <a:stCxn xmlns:a="http://schemas.openxmlformats.org/drawingml/2006/main" id="7" idx="2"/>
            <a:endCxn xmlns:a="http://schemas.openxmlformats.org/drawingml/2006/main" id="11" idx="0"/>
          </p:cNvCxnSpPr>
          <p:nvPr/>
        </p:nvCxnSpPr>
        <p:spPr>
          <a:xfrm xmlns:a="http://schemas.openxmlformats.org/drawingml/2006/main">
            <a:off x="9196388" y="3562350"/>
            <a:ext cx="0" cy="438150"/>
          </a:xfrm>
          <a:prstGeom xmlns:a="http://schemas.openxmlformats.org/drawingml/2006/main" prst="curvedConnector2">
            <a:avLst/>
          </a:prstGeom>
          <a:ln xmlns:a="http://schemas.openxmlformats.org/drawingml/2006/main" w="17145">
            <a:solidFill>
              <a:srgbClr val="B8B8B8"/>
            </a:solidFill>
            <a:tailEnd type="triangle" w="sm" len="sm"/>
          </a:ln>
        </p:spPr>
      </p:cxnSp>
      <p:cxnSp>
        <p:nvCxnSpPr>
          <p:cNvPr id="42" name=""/>
          <p:cNvCxnSpPr>
            <a:stCxn xmlns:a="http://schemas.openxmlformats.org/drawingml/2006/main" id="8" idx="3"/>
            <a:endCxn xmlns:a="http://schemas.openxmlformats.org/drawingml/2006/main" id="10" idx="1"/>
          </p:cNvCxnSpPr>
          <p:nvPr/>
        </p:nvCxnSpPr>
        <p:spPr>
          <a:xfrm xmlns:a="http://schemas.openxmlformats.org/drawingml/2006/main" rot="16200000" flipH="1">
            <a:off x="2195513" y="4205288"/>
            <a:ext cx="9525" cy="36195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3" name=""/>
          <p:cNvCxnSpPr>
            <a:stCxn xmlns:a="http://schemas.openxmlformats.org/drawingml/2006/main" id="9" idx="3"/>
            <a:endCxn xmlns:a="http://schemas.openxmlformats.org/drawingml/2006/main" id="11" idx="1"/>
          </p:cNvCxnSpPr>
          <p:nvPr/>
        </p:nvCxnSpPr>
        <p:spPr>
          <a:xfrm xmlns:a="http://schemas.openxmlformats.org/drawingml/2006/main" rot="16200000" flipH="1">
            <a:off x="7858125" y="4171950"/>
            <a:ext cx="9525" cy="428625"/>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4" name=""/>
          <p:cNvCxnSpPr>
            <a:stCxn xmlns:a="http://schemas.openxmlformats.org/drawingml/2006/main" id="10" idx="2"/>
            <a:endCxn xmlns:a="http://schemas.openxmlformats.org/drawingml/2006/main" id="12" idx="0"/>
          </p:cNvCxnSpPr>
          <p:nvPr/>
        </p:nvCxnSpPr>
        <p:spPr>
          <a:xfrm xmlns:a="http://schemas.openxmlformats.org/drawingml/2006/main" rot="5400000">
            <a:off x="3100388" y="4953000"/>
            <a:ext cx="571500" cy="228600"/>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cxnSp>
        <p:nvCxnSpPr>
          <p:cNvPr id="45" name=""/>
          <p:cNvCxnSpPr>
            <a:stCxn xmlns:a="http://schemas.openxmlformats.org/drawingml/2006/main" id="11" idx="2"/>
            <a:endCxn xmlns:a="http://schemas.openxmlformats.org/drawingml/2006/main" id="13" idx="0"/>
          </p:cNvCxnSpPr>
          <p:nvPr/>
        </p:nvCxnSpPr>
        <p:spPr>
          <a:xfrm xmlns:a="http://schemas.openxmlformats.org/drawingml/2006/main" rot="5400000">
            <a:off x="8841581" y="4998244"/>
            <a:ext cx="571500" cy="138113"/>
          </a:xfrm>
          <a:prstGeom xmlns:a="http://schemas.openxmlformats.org/drawingml/2006/main" prst="curvedConnector3">
            <a:avLst>
              <a:gd name="adj1" fmla="val 50000"/>
            </a:avLst>
          </a:prstGeom>
          <a:ln xmlns:a="http://schemas.openxmlformats.org/drawingml/2006/main" w="17145">
            <a:solidFill>
              <a:srgbClr val="B8B8B8"/>
            </a:solidFill>
            <a:tailEnd type="triangle" w="sm" len="sm"/>
          </a:ln>
        </p:spPr>
      </p:cxnSp>
      <p:sp>
        <p:nvSpPr>
          <p:cNvPr id="23" name="">
            <a:extLst xmlns:a="http://schemas.openxmlformats.org/drawingml/2006/main">
              <a:ext uri="{FF2B5EF4-FFF2-40B4-BE49-F238E27FC236}">
                <a16:creationId xmlns:a16="http://schemas.microsoft.com/office/drawing/2014/main" id="{6367A8A3-95E0-4D86-A069-EA9D8A47768C}"/>
              </a:ext>
            </a:extLst>
          </p:cNvPr>
          <p:cNvSpPr>
            <a:spLocks xmlns:a="http://schemas.openxmlformats.org/drawingml/2006/main" noGrp="1"/>
          </p:cNvSpPr>
          <p:nvPr/>
        </p:nvSpPr>
        <p:spPr>
          <a:xfrm xmlns:a="http://schemas.openxmlformats.org/drawingml/2006/main">
            <a:off x="638175" y="6105525"/>
            <a:ext cx="10915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BBBBBB"/>
                </a:solidFill>
                <a:latin typeface="Calibri"/>
                <a:ea typeface="Calibri"/>
                <a:cs typeface="Calibri"/>
              </a:defRPr>
            </a:pPr>
            <a:r>
              <a:rPr sz="1725" b="0">
                <a:solidFill>
                  <a:srgbClr val="BBBBBB"/>
                </a:solidFill>
                <a:latin typeface="Calibri"/>
                <a:ea typeface="Calibri"/>
                <a:cs typeface="Calibri"/>
              </a:rPr>
              <a:t>Each filter bank mixes identity, 3 × 3 blur and 5 × 5 blur.</a:t>
            </a:r>
          </a:p>
        </p:txBody>
      </p:sp>
    </p:spTree>
    <p:extLst>
      <p:ext uri="{BB962C8B-B14F-4D97-AF65-F5344CB8AC3E}">
        <p14:creationId xmlns:p14="http://schemas.microsoft.com/office/powerpoint/2010/main" val="16044659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F08B09-7A22-47D9-9201-62EFAEA8EF8D}"/>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11111"/>
                </a:solidFill>
                <a:latin typeface="Cambria"/>
                <a:ea typeface="Cambria"/>
                <a:cs typeface="Cambria"/>
              </a:defRPr>
            </a:pPr>
            <a:r>
              <a:rPr sz="3000" b="1">
                <a:solidFill>
                  <a:srgbClr val="111111"/>
                </a:solidFill>
                <a:latin typeface="Cambria"/>
                <a:ea typeface="Cambria"/>
                <a:cs typeface="Cambria"/>
              </a:rPr>
              <a:t>RACE: routing and auxiliary training</a:t>
            </a:r>
          </a:p>
        </p:txBody>
      </p:sp>
      <p:sp>
        <p:nvSpPr>
          <p:cNvPr id="2" name="">
            <a:extLst xmlns:a="http://schemas.openxmlformats.org/drawingml/2006/main">
              <a:ext uri="{FF2B5EF4-FFF2-40B4-BE49-F238E27FC236}">
                <a16:creationId xmlns:a16="http://schemas.microsoft.com/office/drawing/2014/main" id="{5443F980-202B-4D1A-B27F-C8328498CBE7}"/>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Backup: matched single-cycle comparison, seed 1219</a:t>
            </a:r>
          </a:p>
        </p:txBody>
      </p:sp>
      <p:sp>
        <p:nvSpPr>
          <p:cNvPr id="3" name="">
            <a:extLst xmlns:a="http://schemas.openxmlformats.org/drawingml/2006/main">
              <a:ext uri="{FF2B5EF4-FFF2-40B4-BE49-F238E27FC236}">
                <a16:creationId xmlns:a16="http://schemas.microsoft.com/office/drawing/2014/main" id="{806A354D-BE71-407F-A3CF-B71D0D0A685B}"/>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17</a:t>
            </a:r>
          </a:p>
        </p:txBody>
      </p:sp>
      <p:graphicFrame>
        <p:nvGraphicFramePr>
          <p:cNvPr id="10" name=""/>
          <p:cNvGraphicFramePr/>
          <p:nvPr/>
        </p:nvGraphicFramePr>
        <p:xfrm>
          <a:off xmlns:a="http://schemas.openxmlformats.org/drawingml/2006/main" x="638175" y="1724025"/>
          <a:ext xmlns:a="http://schemas.openxmlformats.org/drawingml/2006/main" cx="10915650" cy="3162300"/>
        </p:xfrm>
        <a:graphic xmlns:a="http://schemas.openxmlformats.org/drawingml/2006/main">
          <a:graphicData uri="http://schemas.openxmlformats.org/drawingml/2006/table">
            <a:tbl>
              <a:tblPr/>
              <a:tblGrid>
                <a:gridCol w="4810125"/>
                <a:gridCol w="2724150"/>
                <a:gridCol w="3381375"/>
              </a:tblGrid>
              <a:tr h="790575">
                <a:tc>
                  <a:txBody>
                    <a:bodyPr>
                      <a:noAutofit/>
                    </a:bodyPr>
                    <a:lstStyle/>
                    <a:p>
                      <a:r>
                        <a:rPr sz="1875" b="1">
                          <a:solidFill>
                            <a:srgbClr val="FFFFFF"/>
                          </a:solidFill>
                          <a:latin typeface="Calibri"/>
                          <a:ea typeface="Calibri"/>
                          <a:cs typeface="Calibri"/>
                        </a:rPr>
                        <a:t>Change from FSDR</a:t>
                      </a:r>
                    </a:p>
                  </a:txBody>
                  <a:tcPr marL="114300" marR="95250" marT="47625" marB="47625" anchor="ctr">
                    <a:solidFill>
                      <a:srgbClr val="111111"/>
                    </a:solidFill>
                  </a:tcPr>
                </a:tc>
                <a:tc>
                  <a:txBody>
                    <a:bodyPr>
                      <a:noAutofit/>
                    </a:bodyPr>
                    <a:lstStyle/>
                    <a:p>
                      <a:r>
                        <a:rPr sz="1875" b="1">
                          <a:solidFill>
                            <a:srgbClr val="FFFFFF"/>
                          </a:solidFill>
                          <a:latin typeface="Calibri"/>
                          <a:ea typeface="Calibri"/>
                          <a:cs typeface="Calibri"/>
                        </a:rPr>
                        <a:t>Δ Test IoU (pp)</a:t>
                      </a:r>
                    </a:p>
                  </a:txBody>
                  <a:tcPr marL="114300" marR="95250" marT="47625" marB="47625" anchor="ctr">
                    <a:solidFill>
                      <a:srgbClr val="111111"/>
                    </a:solidFill>
                  </a:tcPr>
                </a:tc>
                <a:tc>
                  <a:txBody>
                    <a:bodyPr>
                      <a:noAutofit/>
                    </a:bodyPr>
                    <a:lstStyle/>
                    <a:p>
                      <a:r>
                        <a:rPr sz="1875" b="1">
                          <a:solidFill>
                            <a:srgbClr val="FFFFFF"/>
                          </a:solidFill>
                          <a:latin typeface="Calibri"/>
                          <a:ea typeface="Calibri"/>
                          <a:cs typeface="Calibri"/>
                        </a:rPr>
                        <a:t>Image-paired 95% CI</a:t>
                      </a:r>
                    </a:p>
                  </a:txBody>
                  <a:tcPr marL="114300" marR="95250" marT="47625" marB="47625" anchor="ctr">
                    <a:solidFill>
                      <a:srgbClr val="111111"/>
                    </a:solidFill>
                  </a:tcPr>
                </a:tc>
              </a:tr>
              <a:tr h="790575">
                <a:tc>
                  <a:txBody>
                    <a:bodyPr>
                      <a:noAutofit/>
                    </a:bodyPr>
                    <a:lstStyle/>
                    <a:p>
                      <a:r>
                        <a:rPr sz="1875" b="0">
                          <a:solidFill>
                            <a:srgbClr val="111111"/>
                          </a:solidFill>
                          <a:latin typeface="Calibri"/>
                          <a:ea typeface="Calibri"/>
                          <a:cs typeface="Calibri"/>
                        </a:rPr>
                        <a:t>Auxiliary training only</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+0.1915</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[−0.0498, +0.4340]</a:t>
                      </a:r>
                    </a:p>
                  </a:txBody>
                  <a:tcPr marL="114300" marR="95250" marT="47625" marB="47625" anchor="ctr">
                    <a:solidFill>
                      <a:srgbClr val="FFFFFF"/>
                    </a:solidFill>
                  </a:tcPr>
                </a:tc>
              </a:tr>
              <a:tr h="790575">
                <a:tc>
                  <a:txBody>
                    <a:bodyPr>
                      <a:noAutofit/>
                    </a:bodyPr>
                    <a:lstStyle/>
                    <a:p>
                      <a:r>
                        <a:rPr sz="1875" b="0">
                          <a:solidFill>
                            <a:srgbClr val="111111"/>
                          </a:solidFill>
                          <a:latin typeface="Calibri"/>
                          <a:ea typeface="Calibri"/>
                          <a:cs typeface="Calibri"/>
                        </a:rPr>
                        <a:t>Routing with auxiliary fixed</a:t>
                      </a:r>
                    </a:p>
                  </a:txBody>
                  <a:tcPr marL="114300" marR="95250" marT="47625" marB="47625" anchor="ctr">
                    <a:solidFill>
                      <a:srgbClr val="F3F3F3"/>
                    </a:solidFill>
                  </a:tcPr>
                </a:tc>
                <a:tc>
                  <a:txBody>
                    <a:bodyPr>
                      <a:noAutofit/>
                    </a:bodyPr>
                    <a:lstStyle/>
                    <a:p>
                      <a:r>
                        <a:rPr sz="1875" b="0">
                          <a:solidFill>
                            <a:srgbClr val="111111"/>
                          </a:solidFill>
                          <a:latin typeface="Calibri"/>
                          <a:ea typeface="Calibri"/>
                          <a:cs typeface="Calibri"/>
                        </a:rPr>
                        <a:t>+0.2472</a:t>
                      </a:r>
                    </a:p>
                  </a:txBody>
                  <a:tcPr marL="114300" marR="95250" marT="47625" marB="47625" anchor="ctr">
                    <a:solidFill>
                      <a:srgbClr val="F3F3F3"/>
                    </a:solidFill>
                  </a:tcPr>
                </a:tc>
                <a:tc>
                  <a:txBody>
                    <a:bodyPr>
                      <a:noAutofit/>
                    </a:bodyPr>
                    <a:lstStyle/>
                    <a:p>
                      <a:r>
                        <a:rPr sz="1875" b="0">
                          <a:solidFill>
                            <a:srgbClr val="111111"/>
                          </a:solidFill>
                          <a:latin typeface="Calibri"/>
                          <a:ea typeface="Calibri"/>
                          <a:cs typeface="Calibri"/>
                        </a:rPr>
                        <a:t>[−0.0348, +0.5211]</a:t>
                      </a:r>
                    </a:p>
                  </a:txBody>
                  <a:tcPr marL="114300" marR="95250" marT="47625" marB="47625" anchor="ctr">
                    <a:solidFill>
                      <a:srgbClr val="F3F3F3"/>
                    </a:solidFill>
                  </a:tcPr>
                </a:tc>
              </a:tr>
              <a:tr h="790575">
                <a:tc>
                  <a:txBody>
                    <a:bodyPr>
                      <a:noAutofit/>
                    </a:bodyPr>
                    <a:lstStyle/>
                    <a:p>
                      <a:r>
                        <a:rPr sz="1875" b="0">
                          <a:solidFill>
                            <a:srgbClr val="111111"/>
                          </a:solidFill>
                          <a:latin typeface="Calibri"/>
                          <a:ea typeface="Calibri"/>
                          <a:cs typeface="Calibri"/>
                        </a:rPr>
                        <a:t>Complete RACE</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+0.4387</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[+0.1405, +0.7276]</a:t>
                      </a:r>
                    </a:p>
                  </a:txBody>
                  <a:tcPr marL="114300" marR="95250"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E7D5A47-E452-4315-9DE8-BD8AB780C7C9}"/>
              </a:ext>
            </a:extLst>
          </p:cNvPr>
          <p:cNvSpPr>
            <a:spLocks xmlns:a="http://schemas.openxmlformats.org/drawingml/2006/main" noGrp="1"/>
          </p:cNvSpPr>
          <p:nvPr/>
        </p:nvSpPr>
        <p:spPr>
          <a:xfrm xmlns:a="http://schemas.openxmlformats.org/drawingml/2006/main">
            <a:off x="638175" y="5248275"/>
            <a:ext cx="10915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111111"/>
                </a:solidFill>
                <a:latin typeface="Calibri"/>
                <a:ea typeface="Calibri"/>
                <a:cs typeface="Calibri"/>
              </a:defRPr>
            </a:pPr>
            <a:r>
              <a:rPr sz="1950" b="1">
                <a:solidFill>
                  <a:srgbClr val="111111"/>
                </a:solidFill>
                <a:latin typeface="Calibri"/>
                <a:ea typeface="Calibri"/>
                <a:cs typeface="Calibri"/>
              </a:rPr>
              <a:t>Routing has a positive point estimate, but its interval crosses zero.</a:t>
            </a:r>
          </a:p>
        </p:txBody>
      </p:sp>
      <p:sp>
        <p:nvSpPr>
          <p:cNvPr id="6" name="">
            <a:extLst xmlns:a="http://schemas.openxmlformats.org/drawingml/2006/main">
              <a:ext uri="{FF2B5EF4-FFF2-40B4-BE49-F238E27FC236}">
                <a16:creationId xmlns:a16="http://schemas.microsoft.com/office/drawing/2014/main" id="{17602991-EFA0-40CD-9C13-D8A67890C78B}"/>
              </a:ext>
            </a:extLst>
          </p:cNvPr>
          <p:cNvSpPr>
            <a:spLocks xmlns:a="http://schemas.openxmlformats.org/drawingml/2006/main" noGrp="1"/>
          </p:cNvSpPr>
          <p:nvPr/>
        </p:nvSpPr>
        <p:spPr>
          <a:xfrm xmlns:a="http://schemas.openxmlformats.org/drawingml/2006/main">
            <a:off x="638175" y="5762625"/>
            <a:ext cx="10915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606060"/>
                </a:solidFill>
                <a:latin typeface="Calibri"/>
                <a:ea typeface="Calibri"/>
                <a:cs typeface="Calibri"/>
              </a:defRPr>
            </a:pPr>
            <a:r>
              <a:rPr sz="1800" b="0">
                <a:solidFill>
                  <a:srgbClr val="606060"/>
                </a:solidFill>
                <a:latin typeface="Calibri"/>
                <a:ea typeface="Calibri"/>
                <a:cs typeface="Calibri"/>
              </a:rPr>
              <a:t>Single seed. These intervals describe image-level uncertainty.</a:t>
            </a:r>
          </a:p>
          <a:p xmlns:a="http://schemas.openxmlformats.org/drawingml/2006/main">
            <a:pPr algn="l">
              <a:defRPr sz="1800" b="0">
                <a:solidFill>
                  <a:srgbClr val="606060"/>
                </a:solidFill>
                <a:latin typeface="Calibri"/>
                <a:ea typeface="Calibri"/>
                <a:cs typeface="Calibri"/>
              </a:defRPr>
            </a:pPr>
            <a:r>
              <a:rPr sz="1800" b="0">
                <a:solidFill>
                  <a:srgbClr val="606060"/>
                </a:solidFill>
                <a:latin typeface="Calibri"/>
                <a:ea typeface="Calibri"/>
                <a:cs typeface="Calibri"/>
              </a:rPr>
              <a:t>The three-seed main study evaluates complete RACE as one module.</a:t>
            </a:r>
          </a:p>
        </p:txBody>
      </p:sp>
    </p:spTree>
    <p:extLst>
      <p:ext uri="{BB962C8B-B14F-4D97-AF65-F5344CB8AC3E}">
        <p14:creationId xmlns:p14="http://schemas.microsoft.com/office/powerpoint/2010/main" val="14926666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552AF6-ABBF-45FB-82E9-4E8AD8A715C9}"/>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11111"/>
                </a:solidFill>
                <a:latin typeface="Cambria"/>
                <a:ea typeface="Cambria"/>
                <a:cs typeface="Cambria"/>
              </a:defRPr>
            </a:pPr>
            <a:r>
              <a:rPr sz="3000" b="1">
                <a:solidFill>
                  <a:srgbClr val="111111"/>
                </a:solidFill>
                <a:latin typeface="Cambria"/>
                <a:ea typeface="Cambria"/>
                <a:cs typeface="Cambria"/>
              </a:rPr>
              <a:t>Validation and Test under the single-cycle recipe</a:t>
            </a:r>
          </a:p>
        </p:txBody>
      </p:sp>
      <p:sp>
        <p:nvSpPr>
          <p:cNvPr id="2" name="">
            <a:extLst xmlns:a="http://schemas.openxmlformats.org/drawingml/2006/main">
              <a:ext uri="{FF2B5EF4-FFF2-40B4-BE49-F238E27FC236}">
                <a16:creationId xmlns:a16="http://schemas.microsoft.com/office/drawing/2014/main" id="{F6C52E25-E7A7-437E-AFC2-219DDA89A8CF}"/>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Backup: three-seed means</a:t>
            </a:r>
          </a:p>
        </p:txBody>
      </p:sp>
      <p:sp>
        <p:nvSpPr>
          <p:cNvPr id="3" name="">
            <a:extLst xmlns:a="http://schemas.openxmlformats.org/drawingml/2006/main">
              <a:ext uri="{FF2B5EF4-FFF2-40B4-BE49-F238E27FC236}">
                <a16:creationId xmlns:a16="http://schemas.microsoft.com/office/drawing/2014/main" id="{8E865F65-F1C6-4D99-BE70-432BE19AFE15}"/>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18</a:t>
            </a:r>
          </a:p>
        </p:txBody>
      </p:sp>
      <p:graphicFrame>
        <p:nvGraphicFramePr>
          <p:cNvPr id="10" name=""/>
          <p:cNvGraphicFramePr/>
          <p:nvPr/>
        </p:nvGraphicFramePr>
        <p:xfrm>
          <a:off xmlns:a="http://schemas.openxmlformats.org/drawingml/2006/main" x="638175" y="1724025"/>
          <a:ext xmlns:a="http://schemas.openxmlformats.org/drawingml/2006/main" cx="10915650" cy="3143250"/>
        </p:xfrm>
        <a:graphic xmlns:a="http://schemas.openxmlformats.org/drawingml/2006/main">
          <a:graphicData uri="http://schemas.openxmlformats.org/drawingml/2006/table">
            <a:tbl>
              <a:tblPr/>
              <a:tblGrid>
                <a:gridCol w="5067300"/>
                <a:gridCol w="2924175"/>
                <a:gridCol w="2924175"/>
              </a:tblGrid>
              <a:tr h="628650">
                <a:tc>
                  <a:txBody>
                    <a:bodyPr>
                      <a:noAutofit/>
                    </a:bodyPr>
                    <a:lstStyle/>
                    <a:p>
                      <a:r>
                        <a:rPr sz="1875" b="1">
                          <a:solidFill>
                            <a:srgbClr val="FFFFFF"/>
                          </a:solidFill>
                          <a:latin typeface="Calibri"/>
                          <a:ea typeface="Calibri"/>
                          <a:cs typeface="Calibri"/>
                        </a:rPr>
                        <a:t>Configuration</a:t>
                      </a:r>
                    </a:p>
                  </a:txBody>
                  <a:tcPr marL="114300" marR="95250" marT="47625" marB="47625" anchor="ctr">
                    <a:solidFill>
                      <a:srgbClr val="111111"/>
                    </a:solidFill>
                  </a:tcPr>
                </a:tc>
                <a:tc>
                  <a:txBody>
                    <a:bodyPr>
                      <a:noAutofit/>
                    </a:bodyPr>
                    <a:lstStyle/>
                    <a:p>
                      <a:r>
                        <a:rPr sz="1875" b="1">
                          <a:solidFill>
                            <a:srgbClr val="FFFFFF"/>
                          </a:solidFill>
                          <a:latin typeface="Calibri"/>
                          <a:ea typeface="Calibri"/>
                          <a:cs typeface="Calibri"/>
                        </a:rPr>
                        <a:t>Val IoU (%)</a:t>
                      </a:r>
                    </a:p>
                  </a:txBody>
                  <a:tcPr marL="114300" marR="95250" marT="47625" marB="47625" anchor="ctr">
                    <a:solidFill>
                      <a:srgbClr val="111111"/>
                    </a:solidFill>
                  </a:tcPr>
                </a:tc>
                <a:tc>
                  <a:txBody>
                    <a:bodyPr>
                      <a:noAutofit/>
                    </a:bodyPr>
                    <a:lstStyle/>
                    <a:p>
                      <a:r>
                        <a:rPr sz="1875" b="1">
                          <a:solidFill>
                            <a:srgbClr val="FFFFFF"/>
                          </a:solidFill>
                          <a:latin typeface="Calibri"/>
                          <a:ea typeface="Calibri"/>
                          <a:cs typeface="Calibri"/>
                        </a:rPr>
                        <a:t>Test IoU (%)</a:t>
                      </a:r>
                    </a:p>
                  </a:txBody>
                  <a:tcPr marL="114300" marR="95250" marT="47625" marB="47625" anchor="ctr">
                    <a:solidFill>
                      <a:srgbClr val="111111"/>
                    </a:solidFill>
                  </a:tcPr>
                </a:tc>
              </a:tr>
              <a:tr h="628650">
                <a:tc>
                  <a:txBody>
                    <a:bodyPr>
                      <a:noAutofit/>
                    </a:bodyPr>
                    <a:lstStyle/>
                    <a:p>
                      <a:r>
                        <a:rPr sz="1875" b="0">
                          <a:solidFill>
                            <a:srgbClr val="111111"/>
                          </a:solidFill>
                          <a:latin typeface="Calibri"/>
                          <a:ea typeface="Calibri"/>
                          <a:cs typeface="Calibri"/>
                        </a:rPr>
                        <a:t>LViT-PLAM</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72.3228 ± 0.0550</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75.4775 ± 0.0851</a:t>
                      </a:r>
                    </a:p>
                  </a:txBody>
                  <a:tcPr marL="114300" marR="95250" marT="47625" marB="47625" anchor="ctr">
                    <a:solidFill>
                      <a:srgbClr val="FFFFFF"/>
                    </a:solidFill>
                  </a:tcPr>
                </a:tc>
              </a:tr>
              <a:tr h="628650">
                <a:tc>
                  <a:txBody>
                    <a:bodyPr>
                      <a:noAutofit/>
                    </a:bodyPr>
                    <a:lstStyle/>
                    <a:p>
                      <a:r>
                        <a:rPr sz="1875" b="0">
                          <a:solidFill>
                            <a:srgbClr val="111111"/>
                          </a:solidFill>
                          <a:latin typeface="Calibri"/>
                          <a:ea typeface="Calibri"/>
                          <a:cs typeface="Calibri"/>
                        </a:rPr>
                        <a:t>FSDR only</a:t>
                      </a:r>
                    </a:p>
                  </a:txBody>
                  <a:tcPr marL="114300" marR="95250" marT="47625" marB="47625" anchor="ctr">
                    <a:solidFill>
                      <a:srgbClr val="F3F3F3"/>
                    </a:solidFill>
                  </a:tcPr>
                </a:tc>
                <a:tc>
                  <a:txBody>
                    <a:bodyPr>
                      <a:noAutofit/>
                    </a:bodyPr>
                    <a:lstStyle/>
                    <a:p>
                      <a:r>
                        <a:rPr sz="1875" b="0">
                          <a:solidFill>
                            <a:srgbClr val="111111"/>
                          </a:solidFill>
                          <a:latin typeface="Calibri"/>
                          <a:ea typeface="Calibri"/>
                          <a:cs typeface="Calibri"/>
                        </a:rPr>
                        <a:t>72.7873 ± 0.2260</a:t>
                      </a:r>
                    </a:p>
                  </a:txBody>
                  <a:tcPr marL="114300" marR="95250" marT="47625" marB="47625" anchor="ctr">
                    <a:solidFill>
                      <a:srgbClr val="F3F3F3"/>
                    </a:solidFill>
                  </a:tcPr>
                </a:tc>
                <a:tc>
                  <a:txBody>
                    <a:bodyPr>
                      <a:noAutofit/>
                    </a:bodyPr>
                    <a:lstStyle/>
                    <a:p>
                      <a:r>
                        <a:rPr sz="1875" b="0">
                          <a:solidFill>
                            <a:srgbClr val="111111"/>
                          </a:solidFill>
                          <a:latin typeface="Calibri"/>
                          <a:ea typeface="Calibri"/>
                          <a:cs typeface="Calibri"/>
                        </a:rPr>
                        <a:t>75.9833 ± 0.1511</a:t>
                      </a:r>
                    </a:p>
                  </a:txBody>
                  <a:tcPr marL="114300" marR="95250" marT="47625" marB="47625" anchor="ctr">
                    <a:solidFill>
                      <a:srgbClr val="F3F3F3"/>
                    </a:solidFill>
                  </a:tcPr>
                </a:tc>
              </a:tr>
              <a:tr h="628650">
                <a:tc>
                  <a:txBody>
                    <a:bodyPr>
                      <a:noAutofit/>
                    </a:bodyPr>
                    <a:lstStyle/>
                    <a:p>
                      <a:r>
                        <a:rPr sz="1875" b="0">
                          <a:solidFill>
                            <a:srgbClr val="111111"/>
                          </a:solidFill>
                          <a:latin typeface="Calibri"/>
                          <a:ea typeface="Calibri"/>
                          <a:cs typeface="Calibri"/>
                        </a:rPr>
                        <a:t>PLAM + complete RACE</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72.5443 ± 0.0694</a:t>
                      </a:r>
                    </a:p>
                  </a:txBody>
                  <a:tcPr marL="114300" marR="95250" marT="47625" marB="47625" anchor="ctr">
                    <a:solidFill>
                      <a:srgbClr val="FFFFFF"/>
                    </a:solidFill>
                  </a:tcPr>
                </a:tc>
                <a:tc>
                  <a:txBody>
                    <a:bodyPr>
                      <a:noAutofit/>
                    </a:bodyPr>
                    <a:lstStyle/>
                    <a:p>
                      <a:r>
                        <a:rPr sz="1875" b="0">
                          <a:solidFill>
                            <a:srgbClr val="111111"/>
                          </a:solidFill>
                          <a:latin typeface="Calibri"/>
                          <a:ea typeface="Calibri"/>
                          <a:cs typeface="Calibri"/>
                        </a:rPr>
                        <a:t>75.6962 ± 0.1068</a:t>
                      </a:r>
                    </a:p>
                  </a:txBody>
                  <a:tcPr marL="114300" marR="95250" marT="47625" marB="47625" anchor="ctr">
                    <a:solidFill>
                      <a:srgbClr val="FFFFFF"/>
                    </a:solidFill>
                  </a:tcPr>
                </a:tc>
              </a:tr>
              <a:tr h="628650">
                <a:tc>
                  <a:txBody>
                    <a:bodyPr>
                      <a:noAutofit/>
                    </a:bodyPr>
                    <a:lstStyle/>
                    <a:p>
                      <a:r>
                        <a:rPr sz="1875" b="1">
                          <a:solidFill>
                            <a:srgbClr val="111111"/>
                          </a:solidFill>
                          <a:latin typeface="Calibri"/>
                          <a:ea typeface="Calibri"/>
                          <a:cs typeface="Calibri"/>
                        </a:rPr>
                        <a:t>FSDR + complete RACE</a:t>
                      </a:r>
                    </a:p>
                  </a:txBody>
                  <a:tcPr marL="114300" marR="95250" marT="47625" marB="47625" anchor="ctr">
                    <a:solidFill>
                      <a:srgbClr val="F3F3F3"/>
                    </a:solidFill>
                  </a:tcPr>
                </a:tc>
                <a:tc>
                  <a:txBody>
                    <a:bodyPr>
                      <a:noAutofit/>
                    </a:bodyPr>
                    <a:lstStyle/>
                    <a:p>
                      <a:r>
                        <a:rPr sz="1875" b="1">
                          <a:solidFill>
                            <a:srgbClr val="111111"/>
                          </a:solidFill>
                          <a:latin typeface="Calibri"/>
                          <a:ea typeface="Calibri"/>
                          <a:cs typeface="Calibri"/>
                        </a:rPr>
                        <a:t>72.9832 ± 0.2229</a:t>
                      </a:r>
                    </a:p>
                  </a:txBody>
                  <a:tcPr marL="114300" marR="95250" marT="47625" marB="47625" anchor="ctr">
                    <a:solidFill>
                      <a:srgbClr val="F3F3F3"/>
                    </a:solidFill>
                  </a:tcPr>
                </a:tc>
                <a:tc>
                  <a:txBody>
                    <a:bodyPr>
                      <a:noAutofit/>
                    </a:bodyPr>
                    <a:lstStyle/>
                    <a:p>
                      <a:r>
                        <a:rPr sz="1875" b="1">
                          <a:solidFill>
                            <a:srgbClr val="111111"/>
                          </a:solidFill>
                          <a:latin typeface="Calibri"/>
                          <a:ea typeface="Calibri"/>
                          <a:cs typeface="Calibri"/>
                        </a:rPr>
                        <a:t>76.2262 ± 0.0456</a:t>
                      </a:r>
                    </a:p>
                  </a:txBody>
                  <a:tcPr marL="114300" marR="95250" marT="47625" marB="47625" anchor="ctr">
                    <a:solidFill>
                      <a:srgbClr val="F3F3F3"/>
                    </a:solidFill>
                  </a:tcPr>
                </a:tc>
              </a:tr>
            </a:tbl>
          </a:graphicData>
        </a:graphic>
      </p:graphicFrame>
      <p:sp>
        <p:nvSpPr>
          <p:cNvPr id="5" name="">
            <a:extLst xmlns:a="http://schemas.openxmlformats.org/drawingml/2006/main">
              <a:ext uri="{FF2B5EF4-FFF2-40B4-BE49-F238E27FC236}">
                <a16:creationId xmlns:a16="http://schemas.microsoft.com/office/drawing/2014/main" id="{2B77B0B9-5866-4A14-A17F-BF15DEF16DFE}"/>
              </a:ext>
            </a:extLst>
          </p:cNvPr>
          <p:cNvSpPr>
            <a:spLocks xmlns:a="http://schemas.openxmlformats.org/drawingml/2006/main" noGrp="1"/>
          </p:cNvSpPr>
          <p:nvPr/>
        </p:nvSpPr>
        <p:spPr>
          <a:xfrm xmlns:a="http://schemas.openxmlformats.org/drawingml/2006/main">
            <a:off x="638175" y="5257800"/>
            <a:ext cx="1091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111111"/>
                </a:solidFill>
                <a:latin typeface="Calibri"/>
                <a:ea typeface="Calibri"/>
                <a:cs typeface="Calibri"/>
              </a:defRPr>
            </a:pPr>
            <a:r>
              <a:rPr sz="1950" b="1">
                <a:solidFill>
                  <a:srgbClr val="111111"/>
                </a:solidFill>
                <a:latin typeface="Calibri"/>
                <a:ea typeface="Calibri"/>
                <a:cs typeface="Calibri"/>
              </a:rPr>
              <a:t>Validation chooses the checkpoint. Test supplies the final reported result.</a:t>
            </a:r>
          </a:p>
        </p:txBody>
      </p:sp>
      <p:sp>
        <p:nvSpPr>
          <p:cNvPr id="6" name="">
            <a:extLst xmlns:a="http://schemas.openxmlformats.org/drawingml/2006/main">
              <a:ext uri="{FF2B5EF4-FFF2-40B4-BE49-F238E27FC236}">
                <a16:creationId xmlns:a16="http://schemas.microsoft.com/office/drawing/2014/main" id="{3AFC53DF-4183-4EC5-A1ED-BAA6E01EC061}"/>
              </a:ext>
            </a:extLst>
          </p:cNvPr>
          <p:cNvSpPr>
            <a:spLocks xmlns:a="http://schemas.openxmlformats.org/drawingml/2006/main" noGrp="1"/>
          </p:cNvSpPr>
          <p:nvPr/>
        </p:nvSpPr>
        <p:spPr>
          <a:xfrm xmlns:a="http://schemas.openxmlformats.org/drawingml/2006/main">
            <a:off x="638175" y="5791200"/>
            <a:ext cx="10915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606060"/>
                </a:solidFill>
                <a:latin typeface="Calibri"/>
                <a:ea typeface="Calibri"/>
                <a:cs typeface="Calibri"/>
              </a:defRPr>
            </a:pPr>
            <a:r>
              <a:rPr sz="1800" b="0">
                <a:solidFill>
                  <a:srgbClr val="606060"/>
                </a:solidFill>
                <a:latin typeface="Calibri"/>
                <a:ea typeface="Calibri"/>
                <a:cs typeface="Calibri"/>
              </a:rPr>
              <a:t>Mean ± sample SD across the same three seeds.</a:t>
            </a:r>
          </a:p>
          <a:p xmlns:a="http://schemas.openxmlformats.org/drawingml/2006/main">
            <a:pPr algn="l">
              <a:defRPr sz="1800" b="0">
                <a:solidFill>
                  <a:srgbClr val="606060"/>
                </a:solidFill>
                <a:latin typeface="Calibri"/>
                <a:ea typeface="Calibri"/>
                <a:cs typeface="Calibri"/>
              </a:defRPr>
            </a:pPr>
            <a:r>
              <a:rPr sz="1800" b="0">
                <a:solidFill>
                  <a:srgbClr val="606060"/>
                </a:solidFill>
                <a:latin typeface="Calibri"/>
                <a:ea typeface="Calibri"/>
                <a:cs typeface="Calibri"/>
              </a:rPr>
              <a:t>The result applies to the current split and shared training recipe.</a:t>
            </a:r>
          </a:p>
        </p:txBody>
      </p:sp>
    </p:spTree>
    <p:extLst>
      <p:ext uri="{BB962C8B-B14F-4D97-AF65-F5344CB8AC3E}">
        <p14:creationId xmlns:p14="http://schemas.microsoft.com/office/powerpoint/2010/main" val="9262882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282A81-28B7-41C3-8AEB-48E4FB38D647}"/>
              </a:ext>
            </a:extLst>
          </p:cNvPr>
          <p:cNvSpPr>
            <a:spLocks xmlns:a="http://schemas.openxmlformats.org/drawingml/2006/main" noGrp="1"/>
          </p:cNvSpPr>
          <p:nvPr/>
        </p:nvSpPr>
        <p:spPr>
          <a:xfrm xmlns:a="http://schemas.openxmlformats.org/drawingml/2006/main">
            <a:off x="640080" y="361950"/>
            <a:ext cx="1038225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Evaluation protocol</a:t>
            </a:r>
            <a:endParaRPr sz="2800"/>
          </a:p>
        </p:txBody>
      </p:sp>
      <p:graphicFrame>
        <p:nvGraphicFramePr>
          <p:cNvPr id="15" name="表格 14"/>
          <p:cNvGraphicFramePr/>
          <p:nvPr/>
        </p:nvGraphicFramePr>
        <p:xfrm>
          <a:off xmlns:a="http://schemas.openxmlformats.org/drawingml/2006/main" x="638175" y="1657350"/>
          <a:ext xmlns:a="http://schemas.openxmlformats.org/drawingml/2006/main" cx="10915650" cy="2590800"/>
        </p:xfrm>
        <a:graphic xmlns:a="http://schemas.openxmlformats.org/drawingml/2006/main">
          <a:graphicData uri="http://schemas.openxmlformats.org/drawingml/2006/table">
            <a:tbl>
              <a:tblPr/>
              <a:tblGrid>
                <a:gridCol w="2524125"/>
                <a:gridCol w="2047875"/>
                <a:gridCol w="6343650"/>
              </a:tblGrid>
              <a:tr h="647700">
                <a:tc>
                  <a:txBody>
                    <a:bodyPr/>
                    <a:lstStyle/>
                    <a:p>
                      <a:r>
                        <a:rPr sz="1875" b="1">
                          <a:solidFill>
                            <a:srgbClr val="FFFFFF"/>
                          </a:solidFill>
                          <a:latin typeface="Calibri"/>
                          <a:ea typeface="Calibri"/>
                          <a:cs typeface="Calibri"/>
                        </a:rPr>
                        <a:t>Split</a:t>
                      </a:r>
                    </a:p>
                  </a:txBody>
                  <a:tcPr marL="114300" marR="95250" marT="66675" marB="47625" anchor="ctr">
                    <a:solidFill>
                      <a:srgbClr val="111111"/>
                    </a:solidFill>
                  </a:tcPr>
                </a:tc>
                <a:tc>
                  <a:txBody>
                    <a:bodyPr/>
                    <a:lstStyle/>
                    <a:p>
                      <a:r>
                        <a:rPr sz="1875" b="1">
                          <a:solidFill>
                            <a:srgbClr val="FFFFFF"/>
                          </a:solidFill>
                          <a:latin typeface="Calibri"/>
                          <a:ea typeface="Calibri"/>
                          <a:cs typeface="Calibri"/>
                        </a:rPr>
                        <a:t>Images</a:t>
                      </a:r>
                    </a:p>
                  </a:txBody>
                  <a:tcPr marL="114300" marR="95250" marT="66675" marB="47625" anchor="ctr">
                    <a:solidFill>
                      <a:srgbClr val="111111"/>
                    </a:solidFill>
                  </a:tcPr>
                </a:tc>
                <a:tc>
                  <a:txBody>
                    <a:bodyPr/>
                    <a:lstStyle/>
                    <a:p>
                      <a:r>
                        <a:rPr sz="1875" b="1">
                          <a:solidFill>
                            <a:srgbClr val="FFFFFF"/>
                          </a:solidFill>
                          <a:latin typeface="Calibri"/>
                          <a:ea typeface="Calibri"/>
                          <a:cs typeface="Calibri"/>
                        </a:rPr>
                        <a:t>Role</a:t>
                      </a:r>
                    </a:p>
                  </a:txBody>
                  <a:tcPr marL="114300" marR="95250" marT="66675" marB="47625" anchor="ctr">
                    <a:solidFill>
                      <a:srgbClr val="111111"/>
                    </a:solidFill>
                  </a:tcPr>
                </a:tc>
              </a:tr>
              <a:tr h="647700">
                <a:tc>
                  <a:txBody>
                    <a:bodyPr/>
                    <a:lstStyle/>
                    <a:p>
                      <a:r>
                        <a:rPr sz="1875" b="0">
                          <a:solidFill>
                            <a:srgbClr val="111111"/>
                          </a:solidFill>
                          <a:latin typeface="Calibri"/>
                          <a:ea typeface="Calibri"/>
                          <a:cs typeface="Calibri"/>
                        </a:rPr>
                        <a:t>Train</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5,716</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Parameter updates</a:t>
                      </a:r>
                    </a:p>
                  </a:txBody>
                  <a:tcPr marL="114300" marR="95250" marT="66675" marB="47625" anchor="ctr">
                    <a:solidFill>
                      <a:srgbClr val="FFFFFF"/>
                    </a:solidFill>
                  </a:tcPr>
                </a:tc>
              </a:tr>
              <a:tr h="647700">
                <a:tc>
                  <a:txBody>
                    <a:bodyPr/>
                    <a:lstStyle/>
                    <a:p>
                      <a:r>
                        <a:rPr sz="1875" b="0">
                          <a:solidFill>
                            <a:srgbClr val="111111"/>
                          </a:solidFill>
                          <a:latin typeface="Calibri"/>
                          <a:ea typeface="Calibri"/>
                          <a:cs typeface="Calibri"/>
                        </a:rPr>
                        <a:t>Validation</a:t>
                      </a:r>
                    </a:p>
                  </a:txBody>
                  <a:tcPr marL="114300" marR="95250" marT="66675" marB="47625" anchor="ctr">
                    <a:solidFill>
                      <a:srgbClr val="F3F3F3"/>
                    </a:solidFill>
                  </a:tcPr>
                </a:tc>
                <a:tc>
                  <a:txBody>
                    <a:bodyPr/>
                    <a:lstStyle/>
                    <a:p>
                      <a:r>
                        <a:rPr sz="1875" b="0">
                          <a:solidFill>
                            <a:srgbClr val="111111"/>
                          </a:solidFill>
                          <a:latin typeface="Calibri"/>
                          <a:ea typeface="Calibri"/>
                          <a:cs typeface="Calibri"/>
                        </a:rPr>
                        <a:t>1,429</a:t>
                      </a:r>
                    </a:p>
                  </a:txBody>
                  <a:tcPr marL="114300" marR="95250" marT="66675" marB="47625" anchor="ctr">
                    <a:solidFill>
                      <a:srgbClr val="F3F3F3"/>
                    </a:solidFill>
                  </a:tcPr>
                </a:tc>
                <a:tc>
                  <a:txBody>
                    <a:bodyPr/>
                    <a:lstStyle/>
                    <a:p>
                      <a:r>
                        <a:rPr sz="1875" b="0">
                          <a:solidFill>
                            <a:srgbClr val="111111"/>
                          </a:solidFill>
                          <a:latin typeface="Calibri"/>
                          <a:ea typeface="Calibri"/>
                          <a:cs typeface="Calibri"/>
                        </a:rPr>
                        <a:t>Checkpoint selection and diagnosis</a:t>
                      </a:r>
                    </a:p>
                  </a:txBody>
                  <a:tcPr marL="114300" marR="95250" marT="66675" marB="47625" anchor="ctr">
                    <a:solidFill>
                      <a:srgbClr val="F3F3F3"/>
                    </a:solidFill>
                  </a:tcPr>
                </a:tc>
              </a:tr>
              <a:tr h="647700">
                <a:tc>
                  <a:txBody>
                    <a:bodyPr/>
                    <a:lstStyle/>
                    <a:p>
                      <a:r>
                        <a:rPr sz="1875" b="0">
                          <a:solidFill>
                            <a:srgbClr val="111111"/>
                          </a:solidFill>
                          <a:latin typeface="Calibri"/>
                          <a:ea typeface="Calibri"/>
                          <a:cs typeface="Calibri"/>
                        </a:rPr>
                        <a:t>Test</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2,113</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Evaluation of selected checkpoints</a:t>
                      </a:r>
                    </a:p>
                  </a:txBody>
                  <a:tcPr marL="114300" marR="95250" marT="66675" marB="47625" anchor="ctr">
                    <a:solidFill>
                      <a:srgbClr val="FFFFFF"/>
                    </a:solidFill>
                  </a:tcPr>
                </a:tc>
              </a:tr>
            </a:tbl>
          </a:graphicData>
        </a:graphic>
      </p:graphicFrame>
      <p:sp>
        <p:nvSpPr>
          <p:cNvPr id="8" name="Inputs: 224 × 224. IoU and Dice are averaged per image.&#10;All ">
            <a:extLst xmlns:a="http://schemas.openxmlformats.org/drawingml/2006/main">
              <a:ext uri="{FF2B5EF4-FFF2-40B4-BE49-F238E27FC236}">
                <a16:creationId xmlns:a16="http://schemas.microsoft.com/office/drawing/2014/main" id="{A88D7FB4-ED95-4D7D-BED2-771DFF8828E8}"/>
              </a:ext>
            </a:extLst>
          </p:cNvPr>
          <p:cNvSpPr>
            <a:spLocks xmlns:a="http://schemas.openxmlformats.org/drawingml/2006/main" noGrp="1"/>
          </p:cNvSpPr>
          <p:nvPr/>
        </p:nvSpPr>
        <p:spPr>
          <a:xfrm xmlns:a="http://schemas.openxmlformats.org/drawingml/2006/main">
            <a:off x="638175" y="4552950"/>
            <a:ext cx="109156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224 × 224 inputs. Per-image macro IoU and Dice. Fixed probability &gt; 0.5.</a:t>
            </a:r>
          </a:p>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Val macro IoU selects Best. Test has prior research access.</a:t>
            </a:r>
          </a:p>
        </p:txBody>
      </p:sp>
      <p:sp>
        <p:nvSpPr>
          <p:cNvPr id="9" name="Current 80-epoch studies select the best checkpoint by valid">
            <a:extLst xmlns:a="http://schemas.openxmlformats.org/drawingml/2006/main">
              <a:ext uri="{FF2B5EF4-FFF2-40B4-BE49-F238E27FC236}">
                <a16:creationId xmlns:a16="http://schemas.microsoft.com/office/drawing/2014/main" id="{5B37CFF2-9FCF-4707-841C-8227C740B98D}"/>
              </a:ext>
            </a:extLst>
          </p:cNvPr>
          <p:cNvSpPr>
            <a:spLocks xmlns:a="http://schemas.openxmlformats.org/drawingml/2006/main" noGrp="1"/>
          </p:cNvSpPr>
          <p:nvPr/>
        </p:nvSpPr>
        <p:spPr>
          <a:xfrm xmlns:a="http://schemas.openxmlformats.org/drawingml/2006/main">
            <a:off x="638175" y="5534025"/>
            <a:ext cx="109156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Train/Val share 434 recoverable patient IDs. No recoverable Test overlap was found.</a:t>
            </a:r>
          </a:p>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Anonymous cases prevent a claim of fully patient-independent splits.</a:t>
            </a:r>
          </a:p>
        </p:txBody>
      </p:sp>
      <p:sp>
        <p:nvSpPr>
          <p:cNvPr id="11" name="Backup: evaluation protocol">
            <a:extLst xmlns:a="http://schemas.openxmlformats.org/drawingml/2006/main">
              <a:ext uri="{FF2B5EF4-FFF2-40B4-BE49-F238E27FC236}">
                <a16:creationId xmlns:a16="http://schemas.microsoft.com/office/drawing/2014/main" id="{2E00FCE5-B248-48B7-9C9A-6A79F7914177}"/>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evaluation protocol</a:t>
            </a:r>
          </a:p>
        </p:txBody>
      </p:sp>
      <p:sp>
        <p:nvSpPr>
          <p:cNvPr id="12" name="18">
            <a:extLst xmlns:a="http://schemas.openxmlformats.org/drawingml/2006/main">
              <a:ext uri="{FF2B5EF4-FFF2-40B4-BE49-F238E27FC236}">
                <a16:creationId xmlns:a16="http://schemas.microsoft.com/office/drawing/2014/main" id="{563A123F-692E-4844-95A6-B70631C7CBAA}"/>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19</a:t>
            </a:r>
          </a:p>
        </p:txBody>
      </p:sp>
    </p:spTree>
    <p:extLst>
      <p:ext uri="{BB962C8B-B14F-4D97-AF65-F5344CB8AC3E}">
        <p14:creationId xmlns:p14="http://schemas.microsoft.com/office/powerpoint/2010/main" val="165487190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670848-EDF9-4962-83E3-D284658277C8}"/>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11111"/>
                </a:solidFill>
                <a:latin typeface="Cambria"/>
                <a:ea typeface="Cambria"/>
                <a:cs typeface="Cambria"/>
              </a:defRPr>
            </a:pPr>
            <a:r>
              <a:rPr sz="3000" b="1">
                <a:solidFill>
                  <a:srgbClr val="111111"/>
                </a:solidFill>
                <a:latin typeface="Cambria"/>
                <a:ea typeface="Cambria"/>
                <a:cs typeface="Cambria"/>
              </a:rPr>
              <a:t>Reproducibility of completed comparisons</a:t>
            </a:r>
          </a:p>
        </p:txBody>
      </p:sp>
      <p:sp>
        <p:nvSpPr>
          <p:cNvPr id="2" name="">
            <a:extLst xmlns:a="http://schemas.openxmlformats.org/drawingml/2006/main">
              <a:ext uri="{FF2B5EF4-FFF2-40B4-BE49-F238E27FC236}">
                <a16:creationId xmlns:a16="http://schemas.microsoft.com/office/drawing/2014/main" id="{8925D9B7-5DED-40C2-9BB9-4B5C3ADC026B}"/>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a:solidFill>
                  <a:srgbClr val="999999"/>
                </a:solidFill>
                <a:latin typeface="Calibri"/>
                <a:ea typeface="Calibri"/>
                <a:cs typeface="Calibri"/>
              </a:defRPr>
            </a:pPr>
            <a:r>
              <a:rPr sz="900" b="0">
                <a:solidFill>
                  <a:srgbClr val="999999"/>
                </a:solidFill>
                <a:latin typeface="Calibri"/>
                <a:ea typeface="Calibri"/>
                <a:cs typeface="Calibri"/>
              </a:rPr>
              <a:t>Backup: implementation and result provenance</a:t>
            </a:r>
          </a:p>
        </p:txBody>
      </p:sp>
      <p:sp>
        <p:nvSpPr>
          <p:cNvPr id="3" name="">
            <a:extLst xmlns:a="http://schemas.openxmlformats.org/drawingml/2006/main">
              <a:ext uri="{FF2B5EF4-FFF2-40B4-BE49-F238E27FC236}">
                <a16:creationId xmlns:a16="http://schemas.microsoft.com/office/drawing/2014/main" id="{4E33CE02-043D-4D0D-BEB9-50A1B36F42CE}"/>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a:solidFill>
                  <a:srgbClr val="999999"/>
                </a:solidFill>
                <a:latin typeface="Calibri"/>
                <a:ea typeface="Calibri"/>
                <a:cs typeface="Calibri"/>
              </a:defRPr>
            </a:pPr>
            <a:r>
              <a:rPr sz="900" b="0">
                <a:solidFill>
                  <a:srgbClr val="999999"/>
                </a:solidFill>
                <a:latin typeface="Calibri"/>
                <a:ea typeface="Calibri"/>
                <a:cs typeface="Calibri"/>
              </a:rPr>
              <a:t>20</a:t>
            </a:r>
          </a:p>
        </p:txBody>
      </p:sp>
      <p:graphicFrame>
        <p:nvGraphicFramePr>
          <p:cNvPr id="9" name=""/>
          <p:cNvGraphicFramePr/>
          <p:nvPr/>
        </p:nvGraphicFramePr>
        <p:xfrm>
          <a:off xmlns:a="http://schemas.openxmlformats.org/drawingml/2006/main" x="638175" y="1685925"/>
          <a:ext xmlns:a="http://schemas.openxmlformats.org/drawingml/2006/main" cx="10915650" cy="3971925"/>
        </p:xfrm>
        <a:graphic xmlns:a="http://schemas.openxmlformats.org/drawingml/2006/main">
          <a:graphicData uri="http://schemas.openxmlformats.org/drawingml/2006/table">
            <a:tbl>
              <a:tblPr/>
              <a:tblGrid>
                <a:gridCol w="3619500"/>
                <a:gridCol w="7296150"/>
              </a:tblGrid>
              <a:tr h="661988">
                <a:tc>
                  <a:txBody>
                    <a:bodyPr>
                      <a:noAutofit/>
                    </a:bodyPr>
                    <a:lstStyle/>
                    <a:p>
                      <a:r>
                        <a:rPr sz="1800" b="1">
                          <a:solidFill>
                            <a:srgbClr val="FFFFFF"/>
                          </a:solidFill>
                          <a:latin typeface="Calibri"/>
                          <a:ea typeface="Calibri"/>
                          <a:cs typeface="Calibri"/>
                        </a:rPr>
                        <a:t>Evidence</a:t>
                      </a:r>
                    </a:p>
                  </a:txBody>
                  <a:tcPr marL="114300" marR="95250" marT="47625" marB="47625" anchor="ctr">
                    <a:solidFill>
                      <a:srgbClr val="111111"/>
                    </a:solidFill>
                  </a:tcPr>
                </a:tc>
                <a:tc>
                  <a:txBody>
                    <a:bodyPr>
                      <a:noAutofit/>
                    </a:bodyPr>
                    <a:lstStyle/>
                    <a:p>
                      <a:r>
                        <a:rPr sz="1800" b="1">
                          <a:solidFill>
                            <a:srgbClr val="FFFFFF"/>
                          </a:solidFill>
                          <a:latin typeface="Calibri"/>
                          <a:ea typeface="Calibri"/>
                          <a:cs typeface="Calibri"/>
                        </a:rPr>
                        <a:t>Completed record</a:t>
                      </a:r>
                    </a:p>
                  </a:txBody>
                  <a:tcPr marL="114300" marR="95250" marT="47625" marB="47625" anchor="ctr">
                    <a:solidFill>
                      <a:srgbClr val="111111"/>
                    </a:solidFill>
                  </a:tcPr>
                </a:tc>
              </a:tr>
              <a:tr h="661988">
                <a:tc>
                  <a:txBody>
                    <a:bodyPr>
                      <a:noAutofit/>
                    </a:bodyPr>
                    <a:lstStyle/>
                    <a:p>
                      <a:r>
                        <a:rPr sz="1800" b="0">
                          <a:solidFill>
                            <a:srgbClr val="111111"/>
                          </a:solidFill>
                          <a:latin typeface="Calibri"/>
                          <a:ea typeface="Calibri"/>
                          <a:cs typeface="Calibri"/>
                        </a:rPr>
                        <a:t>Primary module ablation</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4 configurations × 3 seeds, all Val and Test results</a:t>
                      </a:r>
                    </a:p>
                  </a:txBody>
                  <a:tcPr marL="114300" marR="95250" marT="47625" marB="47625" anchor="ctr">
                    <a:solidFill>
                      <a:srgbClr val="FFFFFF"/>
                    </a:solidFill>
                  </a:tcPr>
                </a:tc>
              </a:tr>
              <a:tr h="661988">
                <a:tc>
                  <a:txBody>
                    <a:bodyPr>
                      <a:noAutofit/>
                    </a:bodyPr>
                    <a:lstStyle/>
                    <a:p>
                      <a:r>
                        <a:rPr sz="1800" b="0">
                          <a:solidFill>
                            <a:srgbClr val="111111"/>
                          </a:solidFill>
                          <a:latin typeface="Calibri"/>
                          <a:ea typeface="Calibri"/>
                          <a:cs typeface="Calibri"/>
                        </a:rPr>
                        <a:t>Matched training protocol</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Single-cycle cosine, frozen text, no LoRA, 80 epochs</a:t>
                      </a:r>
                    </a:p>
                  </a:txBody>
                  <a:tcPr marL="114300" marR="95250" marT="47625" marB="47625" anchor="ctr">
                    <a:solidFill>
                      <a:srgbClr val="F3F3F3"/>
                    </a:solidFill>
                  </a:tcPr>
                </a:tc>
              </a:tr>
              <a:tr h="661988">
                <a:tc>
                  <a:txBody>
                    <a:bodyPr>
                      <a:noAutofit/>
                    </a:bodyPr>
                    <a:lstStyle/>
                    <a:p>
                      <a:r>
                        <a:rPr sz="1800" b="0">
                          <a:solidFill>
                            <a:srgbClr val="111111"/>
                          </a:solidFill>
                          <a:latin typeface="Calibri"/>
                          <a:ea typeface="Calibri"/>
                          <a:cs typeface="Calibri"/>
                        </a:rPr>
                        <a:t>External methods</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MMI-UNet, GuideDecoder and DD-CMD full Test outputs</a:t>
                      </a:r>
                    </a:p>
                  </a:txBody>
                  <a:tcPr marL="114300" marR="95250" marT="47625" marB="47625" anchor="ctr">
                    <a:solidFill>
                      <a:srgbClr val="FFFFFF"/>
                    </a:solidFill>
                  </a:tcPr>
                </a:tc>
              </a:tr>
              <a:tr h="661988">
                <a:tc>
                  <a:txBody>
                    <a:bodyPr>
                      <a:noAutofit/>
                    </a:bodyPr>
                    <a:lstStyle/>
                    <a:p>
                      <a:r>
                        <a:rPr sz="1800" b="0">
                          <a:solidFill>
                            <a:srgbClr val="111111"/>
                          </a:solidFill>
                          <a:latin typeface="Calibri"/>
                          <a:ea typeface="Calibri"/>
                          <a:cs typeface="Calibri"/>
                        </a:rPr>
                        <a:t>Runtime provenance</a:t>
                      </a:r>
                    </a:p>
                  </a:txBody>
                  <a:tcPr marL="114300" marR="95250" marT="47625" marB="47625" anchor="ctr">
                    <a:solidFill>
                      <a:srgbClr val="F3F3F3"/>
                    </a:solidFill>
                  </a:tcPr>
                </a:tc>
                <a:tc>
                  <a:txBody>
                    <a:bodyPr>
                      <a:noAutofit/>
                    </a:bodyPr>
                    <a:lstStyle/>
                    <a:p>
                      <a:r>
                        <a:rPr sz="1800" b="0">
                          <a:solidFill>
                            <a:srgbClr val="111111"/>
                          </a:solidFill>
                          <a:latin typeface="Calibri"/>
                          <a:ea typeface="Calibri"/>
                          <a:cs typeface="Calibri"/>
                        </a:rPr>
                        <a:t>Per-run source SHA, experiment tag and checkpoint hash</a:t>
                      </a:r>
                    </a:p>
                  </a:txBody>
                  <a:tcPr marL="114300" marR="95250" marT="47625" marB="47625" anchor="ctr">
                    <a:solidFill>
                      <a:srgbClr val="F3F3F3"/>
                    </a:solidFill>
                  </a:tcPr>
                </a:tc>
              </a:tr>
              <a:tr h="661988">
                <a:tc>
                  <a:txBody>
                    <a:bodyPr>
                      <a:noAutofit/>
                    </a:bodyPr>
                    <a:lstStyle/>
                    <a:p>
                      <a:r>
                        <a:rPr sz="1800" b="0">
                          <a:solidFill>
                            <a:srgbClr val="111111"/>
                          </a:solidFill>
                          <a:latin typeface="Calibri"/>
                          <a:ea typeface="Calibri"/>
                          <a:cs typeface="Calibri"/>
                        </a:rPr>
                        <a:t>Integrated paper snapshot</a:t>
                      </a:r>
                    </a:p>
                  </a:txBody>
                  <a:tcPr marL="114300" marR="95250" marT="47625" marB="47625" anchor="ctr">
                    <a:solidFill>
                      <a:srgbClr val="FFFFFF"/>
                    </a:solidFill>
                  </a:tcPr>
                </a:tc>
                <a:tc>
                  <a:txBody>
                    <a:bodyPr>
                      <a:noAutofit/>
                    </a:bodyPr>
                    <a:lstStyle/>
                    <a:p>
                      <a:r>
                        <a:rPr sz="1800" b="0">
                          <a:solidFill>
                            <a:srgbClr val="111111"/>
                          </a:solidFill>
                          <a:latin typeface="Calibri"/>
                          <a:ea typeface="Calibri"/>
                          <a:cs typeface="Calibri"/>
                        </a:rPr>
                        <a:t>FSDR + complete RACE source and archived result JSON</a:t>
                      </a:r>
                    </a:p>
                  </a:txBody>
                  <a:tcPr marL="114300" marR="95250"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3D75D5-DD24-4797-B963-FBD6FA26E676}"/>
              </a:ext>
            </a:extLst>
          </p:cNvPr>
          <p:cNvSpPr>
            <a:spLocks xmlns:a="http://schemas.openxmlformats.org/drawingml/2006/main" noGrp="1"/>
          </p:cNvSpPr>
          <p:nvPr/>
        </p:nvSpPr>
        <p:spPr>
          <a:xfrm xmlns:a="http://schemas.openxmlformats.org/drawingml/2006/main">
            <a:off x="638175" y="5915025"/>
            <a:ext cx="1091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606060"/>
                </a:solidFill>
                <a:latin typeface="Calibri"/>
                <a:ea typeface="Calibri"/>
                <a:cs typeface="Calibri"/>
              </a:defRPr>
            </a:pPr>
            <a:r>
              <a:rPr sz="1725" b="0">
                <a:solidFill>
                  <a:srgbClr val="606060"/>
                </a:solidFill>
                <a:latin typeface="Calibri"/>
                <a:ea typeface="Calibri"/>
                <a:cs typeface="Calibri"/>
              </a:rPr>
              <a:t>Archived runtime commits identify the experiments. Integration preserves their original provenance.</a:t>
            </a:r>
          </a:p>
        </p:txBody>
      </p:sp>
    </p:spTree>
    <p:extLst>
      <p:ext uri="{BB962C8B-B14F-4D97-AF65-F5344CB8AC3E}">
        <p14:creationId xmlns:p14="http://schemas.microsoft.com/office/powerpoint/2010/main" val="19642900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3FD9A6-3036-490C-908C-7AD6F44BFACB}"/>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925" b="1">
                <a:solidFill>
                  <a:srgbClr val="111111"/>
                </a:solidFill>
                <a:latin typeface="Cambria"/>
                <a:ea typeface="Cambria"/>
                <a:cs typeface="Cambria"/>
              </a:defRPr>
            </a:pPr>
            <a:r>
              <a:rPr sz="2925" b="1">
                <a:solidFill>
                  <a:srgbClr val="111111"/>
                </a:solidFill>
                <a:latin typeface="Cambria"/>
                <a:ea typeface="Cambria"/>
                <a:cs typeface="Cambria"/>
              </a:rPr>
              <a:t>Earlier RACE: report-target binding comparison</a:t>
            </a:r>
            <a:endParaRPr sz="2800"/>
          </a:p>
        </p:txBody>
      </p:sp>
      <p:graphicFrame>
        <p:nvGraphicFramePr>
          <p:cNvPr id="10" name="表格 9"/>
          <p:cNvGraphicFramePr/>
          <p:nvPr/>
        </p:nvGraphicFramePr>
        <p:xfrm>
          <a:off xmlns:a="http://schemas.openxmlformats.org/drawingml/2006/main" x="638175" y="1714500"/>
          <a:ext xmlns:a="http://schemas.openxmlformats.org/drawingml/2006/main" cx="10915650" cy="3048000"/>
        </p:xfrm>
        <a:graphic xmlns:a="http://schemas.openxmlformats.org/drawingml/2006/main">
          <a:graphicData uri="http://schemas.openxmlformats.org/drawingml/2006/table">
            <a:tbl>
              <a:tblPr/>
              <a:tblGrid>
                <a:gridCol w="5581650"/>
                <a:gridCol w="2667000"/>
                <a:gridCol w="2667000"/>
              </a:tblGrid>
              <a:tr h="762000">
                <a:tc>
                  <a:txBody>
                    <a:bodyPr/>
                    <a:lstStyle/>
                    <a:p>
                      <a:r>
                        <a:rPr sz="2025" b="1">
                          <a:solidFill>
                            <a:srgbClr val="FFFFFF"/>
                          </a:solidFill>
                          <a:latin typeface="Calibri"/>
                          <a:ea typeface="Calibri"/>
                          <a:cs typeface="Calibri"/>
                        </a:rPr>
                        <a:t>Configuration</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Test IoU</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Test Dice</a:t>
                      </a:r>
                    </a:p>
                  </a:txBody>
                  <a:tcPr marL="114300" marR="95250" marT="66675" marB="47625" anchor="ctr">
                    <a:solidFill>
                      <a:srgbClr val="111111"/>
                    </a:solidFill>
                  </a:tcPr>
                </a:tc>
              </a:tr>
              <a:tr h="762000">
                <a:tc>
                  <a:txBody>
                    <a:bodyPr/>
                    <a:lstStyle/>
                    <a:p>
                      <a:r>
                        <a:rPr sz="2025" b="0">
                          <a:solidFill>
                            <a:srgbClr val="111111"/>
                          </a:solidFill>
                          <a:latin typeface="Calibri"/>
                          <a:ea typeface="Calibri"/>
                          <a:cs typeface="Calibri"/>
                        </a:rPr>
                        <a:t>FSDR control</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75.8098%</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84.4236%</a:t>
                      </a:r>
                    </a:p>
                  </a:txBody>
                  <a:tcPr marL="114300" marR="95250" marT="66675" marB="47625" anchor="ctr">
                    <a:solidFill>
                      <a:srgbClr val="FFFFFF"/>
                    </a:solidFill>
                  </a:tcPr>
                </a:tc>
              </a:tr>
              <a:tr h="762000">
                <a:tc>
                  <a:txBody>
                    <a:bodyPr/>
                    <a:lstStyle/>
                    <a:p>
                      <a:r>
                        <a:rPr sz="2025" b="0">
                          <a:solidFill>
                            <a:srgbClr val="111111"/>
                          </a:solidFill>
                          <a:latin typeface="Calibri"/>
                          <a:ea typeface="Calibri"/>
                          <a:cs typeface="Calibri"/>
                        </a:rPr>
                        <a:t>RACE · original target binding</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75.9505%</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84.5237%</a:t>
                      </a:r>
                    </a:p>
                  </a:txBody>
                  <a:tcPr marL="114300" marR="95250" marT="66675" marB="47625" anchor="ctr">
                    <a:solidFill>
                      <a:srgbClr val="F3F3F3"/>
                    </a:solidFill>
                  </a:tcPr>
                </a:tc>
              </a:tr>
              <a:tr h="762000">
                <a:tc>
                  <a:txBody>
                    <a:bodyPr/>
                    <a:lstStyle/>
                    <a:p>
                      <a:r>
                        <a:rPr sz="2025" b="0">
                          <a:solidFill>
                            <a:srgbClr val="111111"/>
                          </a:solidFill>
                          <a:latin typeface="Calibri"/>
                          <a:ea typeface="Calibri"/>
                          <a:cs typeface="Calibri"/>
                        </a:rPr>
                        <a:t>RACE · corrected target binding</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76.2485%</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84.7097%</a:t>
                      </a:r>
                    </a:p>
                  </a:txBody>
                  <a:tcPr marL="114300" marR="95250" marT="66675" marB="47625" anchor="ctr">
                    <a:solidFill>
                      <a:srgbClr val="FFFFFF"/>
                    </a:solidFill>
                  </a:tcPr>
                </a:tc>
              </a:tr>
            </a:tbl>
          </a:graphicData>
        </a:graphic>
      </p:graphicFrame>
      <p:sp>
        <p:nvSpPr>
          <p:cNvPr id="4" name="Corrected vs original binding: Test IoU +0.2981 pp">
            <a:extLst xmlns:a="http://schemas.openxmlformats.org/drawingml/2006/main">
              <a:ext uri="{FF2B5EF4-FFF2-40B4-BE49-F238E27FC236}">
                <a16:creationId xmlns:a16="http://schemas.microsoft.com/office/drawing/2014/main" id="{4A7807E6-5C57-4BBF-B80F-7C8C1571F95E}"/>
              </a:ext>
            </a:extLst>
          </p:cNvPr>
          <p:cNvSpPr>
            <a:spLocks xmlns:a="http://schemas.openxmlformats.org/drawingml/2006/main" noGrp="1"/>
          </p:cNvSpPr>
          <p:nvPr/>
        </p:nvSpPr>
        <p:spPr>
          <a:xfrm xmlns:a="http://schemas.openxmlformats.org/drawingml/2006/main">
            <a:off x="638175" y="5048250"/>
            <a:ext cx="109156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Calibri"/>
                <a:ea typeface="Calibri"/>
                <a:cs typeface="Calibri"/>
              </a:defRPr>
            </a:pPr>
            <a:r>
              <a:rPr sz="1875" b="1">
                <a:solidFill>
                  <a:srgbClr val="111111"/>
                </a:solidFill>
                <a:latin typeface="Calibri"/>
                <a:ea typeface="Calibri"/>
                <a:cs typeface="Calibri"/>
              </a:rPr>
              <a:t>Corrected vs original binding: Test IoU +0.2981 pp; image 95% CI [+0.0538, +0.5404].</a:t>
            </a:r>
          </a:p>
        </p:txBody>
      </p:sp>
      <p:sp>
        <p:nvSpPr>
          <p:cNvPr id="5" name="Validation difference: −0.1107 pp (interval crosse">
            <a:extLst xmlns:a="http://schemas.openxmlformats.org/drawingml/2006/main">
              <a:ext uri="{FF2B5EF4-FFF2-40B4-BE49-F238E27FC236}">
                <a16:creationId xmlns:a16="http://schemas.microsoft.com/office/drawing/2014/main" id="{EFFBCCF0-9DD9-441F-BA22-FCB7BD8AF9EE}"/>
              </a:ext>
            </a:extLst>
          </p:cNvPr>
          <p:cNvSpPr>
            <a:spLocks xmlns:a="http://schemas.openxmlformats.org/drawingml/2006/main" noGrp="1"/>
          </p:cNvSpPr>
          <p:nvPr/>
        </p:nvSpPr>
        <p:spPr>
          <a:xfrm xmlns:a="http://schemas.openxmlformats.org/drawingml/2006/main">
            <a:off x="638175" y="5667375"/>
            <a:ext cx="10915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Validation difference: −0.1107 pp (interval crosses zero).</a:t>
            </a:r>
          </a:p>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Binding repair improves target assignment; it is not the architectural contribution.</a:t>
            </a:r>
          </a:p>
        </p:txBody>
      </p:sp>
      <p:sp>
        <p:nvSpPr>
          <p:cNvPr id="6" name="Backup: binding comparison">
            <a:extLst xmlns:a="http://schemas.openxmlformats.org/drawingml/2006/main">
              <a:ext uri="{FF2B5EF4-FFF2-40B4-BE49-F238E27FC236}">
                <a16:creationId xmlns:a16="http://schemas.microsoft.com/office/drawing/2014/main" id="{9EE7FE15-B3F9-412F-828C-4CE89DC5B2CA}"/>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binding comparison, seed 1219</a:t>
            </a:r>
          </a:p>
        </p:txBody>
      </p:sp>
      <p:sp>
        <p:nvSpPr>
          <p:cNvPr id="7" name="20">
            <a:extLst xmlns:a="http://schemas.openxmlformats.org/drawingml/2006/main">
              <a:ext uri="{FF2B5EF4-FFF2-40B4-BE49-F238E27FC236}">
                <a16:creationId xmlns:a16="http://schemas.microsoft.com/office/drawing/2014/main" id="{FB950C35-0FC9-4A89-9DAC-2762C51838ED}"/>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21</a:t>
            </a:r>
          </a:p>
        </p:txBody>
      </p:sp>
    </p:spTree>
    <p:extLst>
      <p:ext uri="{BB962C8B-B14F-4D97-AF65-F5344CB8AC3E}">
        <p14:creationId xmlns:p14="http://schemas.microsoft.com/office/powerpoint/2010/main" val="67028552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2026-09-21T17:19:21.0840000Z</dcterms:created>
  <dcterms:modified xsi:type="dcterms:W3CDTF">2026-09-21T17:19:21.0840000Z</dcterms:modified>
</coreProperties>
</file>